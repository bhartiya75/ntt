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12191695" cy="137160"/>
          </a:xfrm>
          <a:prstGeom prst="rect">
            <a:avLst/>
          </a:prstGeom>
          <a:solidFill>
            <a:srgbClr val="EB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0" y="2286000"/>
            <a:ext cx="2286000" cy="38100"/>
          </a:xfrm>
          <a:prstGeom prst="rect">
            <a:avLst/>
          </a:prstGeom>
          <a:solidFill>
            <a:srgbClr val="F0A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560320"/>
            <a:ext cx="10058400" cy="1371600"/>
          </a:xfrm>
          <a:prstGeom prst="rect">
            <a:avLst/>
          </a:prstGeom>
          <a:noFill/>
        </p:spPr>
        <p:txBody>
          <a:bodyPr wrap="square">
            <a:spAutoFit/>
          </a:bodyPr>
          <a:lstStyle/>
          <a:p>
            <a:pPr algn="l">
              <a:defRPr sz="4000" b="1">
                <a:solidFill>
                  <a:srgbClr val="FFFFFF"/>
                </a:solidFill>
                <a:latin typeface="Calibri"/>
              </a:defRPr>
            </a:pPr>
            <a:r>
              <a:t>AI-Powered Supply Chain Transformation</a:t>
            </a:r>
          </a:p>
        </p:txBody>
      </p:sp>
      <p:sp>
        <p:nvSpPr>
          <p:cNvPr id="5" name="TextBox 4"/>
          <p:cNvSpPr txBox="1"/>
          <p:nvPr/>
        </p:nvSpPr>
        <p:spPr>
          <a:xfrm>
            <a:off x="914400" y="3840480"/>
            <a:ext cx="10058400" cy="731520"/>
          </a:xfrm>
          <a:prstGeom prst="rect">
            <a:avLst/>
          </a:prstGeom>
          <a:noFill/>
        </p:spPr>
        <p:txBody>
          <a:bodyPr wrap="square">
            <a:spAutoFit/>
          </a:bodyPr>
          <a:lstStyle/>
          <a:p>
            <a:pPr algn="l">
              <a:defRPr sz="2200" b="0">
                <a:solidFill>
                  <a:srgbClr val="F0AB00"/>
                </a:solidFill>
                <a:latin typeface="Calibri"/>
              </a:defRPr>
            </a:pPr>
            <a:r>
              <a:t>Toyota Motors Australia  |  S/4 HANA Integration</a:t>
            </a:r>
          </a:p>
        </p:txBody>
      </p:sp>
      <p:sp>
        <p:nvSpPr>
          <p:cNvPr id="6" name="TextBox 5"/>
          <p:cNvSpPr txBox="1"/>
          <p:nvPr/>
        </p:nvSpPr>
        <p:spPr>
          <a:xfrm>
            <a:off x="914400" y="4754880"/>
            <a:ext cx="10058400" cy="457200"/>
          </a:xfrm>
          <a:prstGeom prst="rect">
            <a:avLst/>
          </a:prstGeom>
          <a:noFill/>
        </p:spPr>
        <p:txBody>
          <a:bodyPr wrap="square">
            <a:spAutoFit/>
          </a:bodyPr>
          <a:lstStyle/>
          <a:p>
            <a:pPr algn="l">
              <a:defRPr sz="1400" b="0">
                <a:solidFill>
                  <a:srgbClr val="FFFFFF"/>
                </a:solidFill>
                <a:latin typeface="Calibri"/>
              </a:defRPr>
            </a:pPr>
            <a:r>
              <a:t>Demand Forecasting  •  Inventory Optimization  •  Supply Planning  •  Logistics Optimization</a:t>
            </a:r>
          </a:p>
        </p:txBody>
      </p:sp>
      <p:sp>
        <p:nvSpPr>
          <p:cNvPr id="7" name="TextBox 6"/>
          <p:cNvSpPr txBox="1"/>
          <p:nvPr/>
        </p:nvSpPr>
        <p:spPr>
          <a:xfrm>
            <a:off x="914400" y="5669280"/>
            <a:ext cx="10058400" cy="365760"/>
          </a:xfrm>
          <a:prstGeom prst="rect">
            <a:avLst/>
          </a:prstGeom>
          <a:noFill/>
        </p:spPr>
        <p:txBody>
          <a:bodyPr wrap="square">
            <a:spAutoFit/>
          </a:bodyPr>
          <a:lstStyle/>
          <a:p>
            <a:pPr algn="l">
              <a:defRPr sz="1200" b="0">
                <a:solidFill>
                  <a:srgbClr val="888888"/>
                </a:solidFill>
                <a:latin typeface="Calibri"/>
              </a:defRPr>
            </a:pPr>
            <a:r>
              <a:t>Prepared: March 2026</a:t>
            </a:r>
          </a:p>
        </p:txBody>
      </p:sp>
      <p:sp>
        <p:nvSpPr>
          <p:cNvPr id="8" name="TextBox 7"/>
          <p:cNvSpPr txBox="1"/>
          <p:nvPr/>
        </p:nvSpPr>
        <p:spPr>
          <a:xfrm>
            <a:off x="685800" y="6400800"/>
            <a:ext cx="10515600" cy="274320"/>
          </a:xfrm>
          <a:prstGeom prst="rect">
            <a:avLst/>
          </a:prstGeom>
          <a:noFill/>
        </p:spPr>
        <p:txBody>
          <a:bodyPr wrap="square">
            <a:spAutoFit/>
          </a:bodyPr>
          <a:lstStyle/>
          <a:p>
            <a:pPr algn="r">
              <a:defRPr sz="900" b="0">
                <a:solidFill>
                  <a:srgbClr val="FFFFFF"/>
                </a:solidFill>
                <a:latin typeface="Calibri"/>
              </a:defRPr>
            </a:pPr>
            <a:r>
              <a:t>Toyota Motors Australia  |  AI-Powered S/4 HANA Transformation  |  Confidential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164592"/>
            <a:ext cx="10515600" cy="640080"/>
          </a:xfrm>
          <a:prstGeom prst="rect">
            <a:avLst/>
          </a:prstGeom>
          <a:noFill/>
        </p:spPr>
        <p:txBody>
          <a:bodyPr wrap="square">
            <a:spAutoFit/>
          </a:bodyPr>
          <a:lstStyle/>
          <a:p>
            <a:pPr algn="l">
              <a:defRPr sz="2800" b="1">
                <a:solidFill>
                  <a:srgbClr val="FFFFFF"/>
                </a:solidFill>
                <a:latin typeface="Calibri"/>
              </a:defRPr>
            </a:pPr>
            <a:r>
              <a:t>Agenda</a:t>
            </a:r>
          </a:p>
        </p:txBody>
      </p:sp>
      <p:sp>
        <p:nvSpPr>
          <p:cNvPr id="4" name="Rounded Rectangle 3"/>
          <p:cNvSpPr/>
          <p:nvPr/>
        </p:nvSpPr>
        <p:spPr>
          <a:xfrm>
            <a:off x="685800" y="1371600"/>
            <a:ext cx="731520" cy="502920"/>
          </a:xfrm>
          <a:prstGeom prst="roundRect">
            <a:avLst/>
          </a:prstGeom>
          <a:solidFill>
            <a:srgbClr val="EB002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defRPr sz="1400" b="1">
                <a:solidFill>
                  <a:srgbClr val="FFFFFF"/>
                </a:solidFill>
                <a:latin typeface="Calibri"/>
              </a:defRPr>
            </a:pPr>
            <a:r>
              <a:t>01</a:t>
            </a:r>
          </a:p>
        </p:txBody>
      </p:sp>
      <p:sp>
        <p:nvSpPr>
          <p:cNvPr id="5" name="TextBox 4"/>
          <p:cNvSpPr txBox="1"/>
          <p:nvPr/>
        </p:nvSpPr>
        <p:spPr>
          <a:xfrm>
            <a:off x="1645920" y="1389888"/>
            <a:ext cx="3657600" cy="274320"/>
          </a:xfrm>
          <a:prstGeom prst="rect">
            <a:avLst/>
          </a:prstGeom>
          <a:noFill/>
        </p:spPr>
        <p:txBody>
          <a:bodyPr wrap="square">
            <a:spAutoFit/>
          </a:bodyPr>
          <a:lstStyle/>
          <a:p>
            <a:pPr algn="l">
              <a:defRPr sz="1500" b="1">
                <a:solidFill>
                  <a:srgbClr val="1A1A2E"/>
                </a:solidFill>
                <a:latin typeface="Calibri"/>
              </a:defRPr>
            </a:pPr>
            <a:r>
              <a:t>Executive Summary</a:t>
            </a:r>
          </a:p>
        </p:txBody>
      </p:sp>
      <p:sp>
        <p:nvSpPr>
          <p:cNvPr id="6" name="TextBox 5"/>
          <p:cNvSpPr txBox="1"/>
          <p:nvPr/>
        </p:nvSpPr>
        <p:spPr>
          <a:xfrm>
            <a:off x="1645920" y="1627632"/>
            <a:ext cx="9144000" cy="274320"/>
          </a:xfrm>
          <a:prstGeom prst="rect">
            <a:avLst/>
          </a:prstGeom>
          <a:noFill/>
        </p:spPr>
        <p:txBody>
          <a:bodyPr wrap="square">
            <a:spAutoFit/>
          </a:bodyPr>
          <a:lstStyle/>
          <a:p>
            <a:pPr algn="l">
              <a:defRPr sz="1100" b="0">
                <a:solidFill>
                  <a:srgbClr val="888888"/>
                </a:solidFill>
                <a:latin typeface="Calibri"/>
              </a:defRPr>
            </a:pPr>
            <a:r>
              <a:t>Business context and strategic objectives</a:t>
            </a:r>
          </a:p>
        </p:txBody>
      </p:sp>
      <p:sp>
        <p:nvSpPr>
          <p:cNvPr id="7" name="Rounded Rectangle 6"/>
          <p:cNvSpPr/>
          <p:nvPr/>
        </p:nvSpPr>
        <p:spPr>
          <a:xfrm>
            <a:off x="685800" y="2011680"/>
            <a:ext cx="731520" cy="502920"/>
          </a:xfrm>
          <a:prstGeom prst="roundRect">
            <a:avLst/>
          </a:prstGeom>
          <a:solidFill>
            <a:srgbClr val="EB002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defRPr sz="1400" b="1">
                <a:solidFill>
                  <a:srgbClr val="FFFFFF"/>
                </a:solidFill>
                <a:latin typeface="Calibri"/>
              </a:defRPr>
            </a:pPr>
            <a:r>
              <a:t>02</a:t>
            </a:r>
          </a:p>
        </p:txBody>
      </p:sp>
      <p:sp>
        <p:nvSpPr>
          <p:cNvPr id="8" name="TextBox 7"/>
          <p:cNvSpPr txBox="1"/>
          <p:nvPr/>
        </p:nvSpPr>
        <p:spPr>
          <a:xfrm>
            <a:off x="1645920" y="2029968"/>
            <a:ext cx="3657600" cy="274320"/>
          </a:xfrm>
          <a:prstGeom prst="rect">
            <a:avLst/>
          </a:prstGeom>
          <a:noFill/>
        </p:spPr>
        <p:txBody>
          <a:bodyPr wrap="square">
            <a:spAutoFit/>
          </a:bodyPr>
          <a:lstStyle/>
          <a:p>
            <a:pPr algn="l">
              <a:defRPr sz="1500" b="1">
                <a:solidFill>
                  <a:srgbClr val="1A1A2E"/>
                </a:solidFill>
                <a:latin typeface="Calibri"/>
              </a:defRPr>
            </a:pPr>
            <a:r>
              <a:t>Current State — S/4 HANA Landscape</a:t>
            </a:r>
          </a:p>
        </p:txBody>
      </p:sp>
      <p:sp>
        <p:nvSpPr>
          <p:cNvPr id="9" name="TextBox 8"/>
          <p:cNvSpPr txBox="1"/>
          <p:nvPr/>
        </p:nvSpPr>
        <p:spPr>
          <a:xfrm>
            <a:off x="1645920" y="2267712"/>
            <a:ext cx="9144000" cy="274320"/>
          </a:xfrm>
          <a:prstGeom prst="rect">
            <a:avLst/>
          </a:prstGeom>
          <a:noFill/>
        </p:spPr>
        <p:txBody>
          <a:bodyPr wrap="square">
            <a:spAutoFit/>
          </a:bodyPr>
          <a:lstStyle/>
          <a:p>
            <a:pPr algn="l">
              <a:defRPr sz="1100" b="0">
                <a:solidFill>
                  <a:srgbClr val="888888"/>
                </a:solidFill>
                <a:latin typeface="Calibri"/>
              </a:defRPr>
            </a:pPr>
            <a:r>
              <a:t>Existing SAP modules and operational footprint</a:t>
            </a:r>
          </a:p>
        </p:txBody>
      </p:sp>
      <p:sp>
        <p:nvSpPr>
          <p:cNvPr id="10" name="Rounded Rectangle 9"/>
          <p:cNvSpPr/>
          <p:nvPr/>
        </p:nvSpPr>
        <p:spPr>
          <a:xfrm>
            <a:off x="685800" y="2651760"/>
            <a:ext cx="731520" cy="502920"/>
          </a:xfrm>
          <a:prstGeom prst="roundRect">
            <a:avLst/>
          </a:prstGeom>
          <a:solidFill>
            <a:srgbClr val="EB002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defRPr sz="1400" b="1">
                <a:solidFill>
                  <a:srgbClr val="FFFFFF"/>
                </a:solidFill>
                <a:latin typeface="Calibri"/>
              </a:defRPr>
            </a:pPr>
            <a:r>
              <a:t>03</a:t>
            </a:r>
          </a:p>
        </p:txBody>
      </p:sp>
      <p:sp>
        <p:nvSpPr>
          <p:cNvPr id="11" name="TextBox 10"/>
          <p:cNvSpPr txBox="1"/>
          <p:nvPr/>
        </p:nvSpPr>
        <p:spPr>
          <a:xfrm>
            <a:off x="1645920" y="2670048"/>
            <a:ext cx="3657600" cy="274320"/>
          </a:xfrm>
          <a:prstGeom prst="rect">
            <a:avLst/>
          </a:prstGeom>
          <a:noFill/>
        </p:spPr>
        <p:txBody>
          <a:bodyPr wrap="square">
            <a:spAutoFit/>
          </a:bodyPr>
          <a:lstStyle/>
          <a:p>
            <a:pPr algn="l">
              <a:defRPr sz="1500" b="1">
                <a:solidFill>
                  <a:srgbClr val="1A1A2E"/>
                </a:solidFill>
                <a:latin typeface="Calibri"/>
              </a:defRPr>
            </a:pPr>
            <a:r>
              <a:t>AI Use Cases Overview</a:t>
            </a:r>
          </a:p>
        </p:txBody>
      </p:sp>
      <p:sp>
        <p:nvSpPr>
          <p:cNvPr id="12" name="TextBox 11"/>
          <p:cNvSpPr txBox="1"/>
          <p:nvPr/>
        </p:nvSpPr>
        <p:spPr>
          <a:xfrm>
            <a:off x="1645920" y="2907792"/>
            <a:ext cx="9144000" cy="274320"/>
          </a:xfrm>
          <a:prstGeom prst="rect">
            <a:avLst/>
          </a:prstGeom>
          <a:noFill/>
        </p:spPr>
        <p:txBody>
          <a:bodyPr wrap="square">
            <a:spAutoFit/>
          </a:bodyPr>
          <a:lstStyle/>
          <a:p>
            <a:pPr algn="l">
              <a:defRPr sz="1100" b="0">
                <a:solidFill>
                  <a:srgbClr val="888888"/>
                </a:solidFill>
                <a:latin typeface="Calibri"/>
              </a:defRPr>
            </a:pPr>
            <a:r>
              <a:t>Four AI capabilities across the value chain</a:t>
            </a:r>
          </a:p>
        </p:txBody>
      </p:sp>
      <p:sp>
        <p:nvSpPr>
          <p:cNvPr id="13" name="Rounded Rectangle 12"/>
          <p:cNvSpPr/>
          <p:nvPr/>
        </p:nvSpPr>
        <p:spPr>
          <a:xfrm>
            <a:off x="685800" y="3291840"/>
            <a:ext cx="731520" cy="502920"/>
          </a:xfrm>
          <a:prstGeom prst="roundRect">
            <a:avLst/>
          </a:prstGeom>
          <a:solidFill>
            <a:srgbClr val="EB002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defRPr sz="1400" b="1">
                <a:solidFill>
                  <a:srgbClr val="FFFFFF"/>
                </a:solidFill>
                <a:latin typeface="Calibri"/>
              </a:defRPr>
            </a:pPr>
            <a:r>
              <a:t>04</a:t>
            </a:r>
          </a:p>
        </p:txBody>
      </p:sp>
      <p:sp>
        <p:nvSpPr>
          <p:cNvPr id="14" name="TextBox 13"/>
          <p:cNvSpPr txBox="1"/>
          <p:nvPr/>
        </p:nvSpPr>
        <p:spPr>
          <a:xfrm>
            <a:off x="1645920" y="3310128"/>
            <a:ext cx="3657600" cy="274320"/>
          </a:xfrm>
          <a:prstGeom prst="rect">
            <a:avLst/>
          </a:prstGeom>
          <a:noFill/>
        </p:spPr>
        <p:txBody>
          <a:bodyPr wrap="square">
            <a:spAutoFit/>
          </a:bodyPr>
          <a:lstStyle/>
          <a:p>
            <a:pPr algn="l">
              <a:defRPr sz="1500" b="1">
                <a:solidFill>
                  <a:srgbClr val="1A1A2E"/>
                </a:solidFill>
                <a:latin typeface="Calibri"/>
              </a:defRPr>
            </a:pPr>
            <a:r>
              <a:t>End-to-End Process Flow</a:t>
            </a:r>
          </a:p>
        </p:txBody>
      </p:sp>
      <p:sp>
        <p:nvSpPr>
          <p:cNvPr id="15" name="TextBox 14"/>
          <p:cNvSpPr txBox="1"/>
          <p:nvPr/>
        </p:nvSpPr>
        <p:spPr>
          <a:xfrm>
            <a:off x="1645920" y="3547872"/>
            <a:ext cx="9144000" cy="274320"/>
          </a:xfrm>
          <a:prstGeom prst="rect">
            <a:avLst/>
          </a:prstGeom>
          <a:noFill/>
        </p:spPr>
        <p:txBody>
          <a:bodyPr wrap="square">
            <a:spAutoFit/>
          </a:bodyPr>
          <a:lstStyle/>
          <a:p>
            <a:pPr algn="l">
              <a:defRPr sz="1100" b="0">
                <a:solidFill>
                  <a:srgbClr val="888888"/>
                </a:solidFill>
                <a:latin typeface="Calibri"/>
              </a:defRPr>
            </a:pPr>
            <a:r>
              <a:t>How AI integrates with S/4 HANA modules</a:t>
            </a:r>
          </a:p>
        </p:txBody>
      </p:sp>
      <p:sp>
        <p:nvSpPr>
          <p:cNvPr id="16" name="Rounded Rectangle 15"/>
          <p:cNvSpPr/>
          <p:nvPr/>
        </p:nvSpPr>
        <p:spPr>
          <a:xfrm>
            <a:off x="685800" y="3931920"/>
            <a:ext cx="731520" cy="502920"/>
          </a:xfrm>
          <a:prstGeom prst="roundRect">
            <a:avLst/>
          </a:prstGeom>
          <a:solidFill>
            <a:srgbClr val="EB002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defRPr sz="1400" b="1">
                <a:solidFill>
                  <a:srgbClr val="FFFFFF"/>
                </a:solidFill>
                <a:latin typeface="Calibri"/>
              </a:defRPr>
            </a:pPr>
            <a:r>
              <a:t>05</a:t>
            </a:r>
          </a:p>
        </p:txBody>
      </p:sp>
      <p:sp>
        <p:nvSpPr>
          <p:cNvPr id="17" name="TextBox 16"/>
          <p:cNvSpPr txBox="1"/>
          <p:nvPr/>
        </p:nvSpPr>
        <p:spPr>
          <a:xfrm>
            <a:off x="1645920" y="3950208"/>
            <a:ext cx="3657600" cy="274320"/>
          </a:xfrm>
          <a:prstGeom prst="rect">
            <a:avLst/>
          </a:prstGeom>
          <a:noFill/>
        </p:spPr>
        <p:txBody>
          <a:bodyPr wrap="square">
            <a:spAutoFit/>
          </a:bodyPr>
          <a:lstStyle/>
          <a:p>
            <a:pPr algn="l">
              <a:defRPr sz="1500" b="1">
                <a:solidFill>
                  <a:srgbClr val="1A1A2E"/>
                </a:solidFill>
                <a:latin typeface="Calibri"/>
              </a:defRPr>
            </a:pPr>
            <a:r>
              <a:t>Use Case Deep Dives</a:t>
            </a:r>
          </a:p>
        </p:txBody>
      </p:sp>
      <p:sp>
        <p:nvSpPr>
          <p:cNvPr id="18" name="TextBox 17"/>
          <p:cNvSpPr txBox="1"/>
          <p:nvPr/>
        </p:nvSpPr>
        <p:spPr>
          <a:xfrm>
            <a:off x="1645920" y="4187952"/>
            <a:ext cx="9144000" cy="274320"/>
          </a:xfrm>
          <a:prstGeom prst="rect">
            <a:avLst/>
          </a:prstGeom>
          <a:noFill/>
        </p:spPr>
        <p:txBody>
          <a:bodyPr wrap="square">
            <a:spAutoFit/>
          </a:bodyPr>
          <a:lstStyle/>
          <a:p>
            <a:pPr algn="l">
              <a:defRPr sz="1100" b="0">
                <a:solidFill>
                  <a:srgbClr val="888888"/>
                </a:solidFill>
                <a:latin typeface="Calibri"/>
              </a:defRPr>
            </a:pPr>
            <a:r>
              <a:t>Demand Forecasting, Inventory, Supply Planning, Logistics</a:t>
            </a:r>
          </a:p>
        </p:txBody>
      </p:sp>
      <p:sp>
        <p:nvSpPr>
          <p:cNvPr id="19" name="Rounded Rectangle 18"/>
          <p:cNvSpPr/>
          <p:nvPr/>
        </p:nvSpPr>
        <p:spPr>
          <a:xfrm>
            <a:off x="685800" y="4572000"/>
            <a:ext cx="731520" cy="502920"/>
          </a:xfrm>
          <a:prstGeom prst="roundRect">
            <a:avLst/>
          </a:prstGeom>
          <a:solidFill>
            <a:srgbClr val="EB002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defRPr sz="1400" b="1">
                <a:solidFill>
                  <a:srgbClr val="FFFFFF"/>
                </a:solidFill>
                <a:latin typeface="Calibri"/>
              </a:defRPr>
            </a:pPr>
            <a:r>
              <a:t>06</a:t>
            </a:r>
          </a:p>
        </p:txBody>
      </p:sp>
      <p:sp>
        <p:nvSpPr>
          <p:cNvPr id="20" name="TextBox 19"/>
          <p:cNvSpPr txBox="1"/>
          <p:nvPr/>
        </p:nvSpPr>
        <p:spPr>
          <a:xfrm>
            <a:off x="1645920" y="4590288"/>
            <a:ext cx="3657600" cy="274320"/>
          </a:xfrm>
          <a:prstGeom prst="rect">
            <a:avLst/>
          </a:prstGeom>
          <a:noFill/>
        </p:spPr>
        <p:txBody>
          <a:bodyPr wrap="square">
            <a:spAutoFit/>
          </a:bodyPr>
          <a:lstStyle/>
          <a:p>
            <a:pPr algn="l">
              <a:defRPr sz="1500" b="1">
                <a:solidFill>
                  <a:srgbClr val="1A1A2E"/>
                </a:solidFill>
                <a:latin typeface="Calibri"/>
              </a:defRPr>
            </a:pPr>
            <a:r>
              <a:t>Benefits &amp; ROI</a:t>
            </a:r>
          </a:p>
        </p:txBody>
      </p:sp>
      <p:sp>
        <p:nvSpPr>
          <p:cNvPr id="21" name="TextBox 20"/>
          <p:cNvSpPr txBox="1"/>
          <p:nvPr/>
        </p:nvSpPr>
        <p:spPr>
          <a:xfrm>
            <a:off x="1645920" y="4828032"/>
            <a:ext cx="9144000" cy="274320"/>
          </a:xfrm>
          <a:prstGeom prst="rect">
            <a:avLst/>
          </a:prstGeom>
          <a:noFill/>
        </p:spPr>
        <p:txBody>
          <a:bodyPr wrap="square">
            <a:spAutoFit/>
          </a:bodyPr>
          <a:lstStyle/>
          <a:p>
            <a:pPr algn="l">
              <a:defRPr sz="1100" b="0">
                <a:solidFill>
                  <a:srgbClr val="888888"/>
                </a:solidFill>
                <a:latin typeface="Calibri"/>
              </a:defRPr>
            </a:pPr>
            <a:r>
              <a:t>Quantified business outcomes and KPIs</a:t>
            </a:r>
          </a:p>
        </p:txBody>
      </p:sp>
      <p:sp>
        <p:nvSpPr>
          <p:cNvPr id="22" name="Rounded Rectangle 21"/>
          <p:cNvSpPr/>
          <p:nvPr/>
        </p:nvSpPr>
        <p:spPr>
          <a:xfrm>
            <a:off x="685800" y="5212080"/>
            <a:ext cx="731520" cy="502920"/>
          </a:xfrm>
          <a:prstGeom prst="roundRect">
            <a:avLst/>
          </a:prstGeom>
          <a:solidFill>
            <a:srgbClr val="EB002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defRPr sz="1400" b="1">
                <a:solidFill>
                  <a:srgbClr val="FFFFFF"/>
                </a:solidFill>
                <a:latin typeface="Calibri"/>
              </a:defRPr>
            </a:pPr>
            <a:r>
              <a:t>07</a:t>
            </a:r>
          </a:p>
        </p:txBody>
      </p:sp>
      <p:sp>
        <p:nvSpPr>
          <p:cNvPr id="23" name="TextBox 22"/>
          <p:cNvSpPr txBox="1"/>
          <p:nvPr/>
        </p:nvSpPr>
        <p:spPr>
          <a:xfrm>
            <a:off x="1645920" y="5230368"/>
            <a:ext cx="3657600" cy="274320"/>
          </a:xfrm>
          <a:prstGeom prst="rect">
            <a:avLst/>
          </a:prstGeom>
          <a:noFill/>
        </p:spPr>
        <p:txBody>
          <a:bodyPr wrap="square">
            <a:spAutoFit/>
          </a:bodyPr>
          <a:lstStyle/>
          <a:p>
            <a:pPr algn="l">
              <a:defRPr sz="1500" b="1">
                <a:solidFill>
                  <a:srgbClr val="1A1A2E"/>
                </a:solidFill>
                <a:latin typeface="Calibri"/>
              </a:defRPr>
            </a:pPr>
            <a:r>
              <a:t>Challenges &amp; Mitigations</a:t>
            </a:r>
          </a:p>
        </p:txBody>
      </p:sp>
      <p:sp>
        <p:nvSpPr>
          <p:cNvPr id="24" name="TextBox 23"/>
          <p:cNvSpPr txBox="1"/>
          <p:nvPr/>
        </p:nvSpPr>
        <p:spPr>
          <a:xfrm>
            <a:off x="1645920" y="5468112"/>
            <a:ext cx="9144000" cy="274320"/>
          </a:xfrm>
          <a:prstGeom prst="rect">
            <a:avLst/>
          </a:prstGeom>
          <a:noFill/>
        </p:spPr>
        <p:txBody>
          <a:bodyPr wrap="square">
            <a:spAutoFit/>
          </a:bodyPr>
          <a:lstStyle/>
          <a:p>
            <a:pPr algn="l">
              <a:defRPr sz="1100" b="0">
                <a:solidFill>
                  <a:srgbClr val="888888"/>
                </a:solidFill>
                <a:latin typeface="Calibri"/>
              </a:defRPr>
            </a:pPr>
            <a:r>
              <a:t>Implementation risks and mitigation strategies</a:t>
            </a:r>
          </a:p>
        </p:txBody>
      </p:sp>
      <p:sp>
        <p:nvSpPr>
          <p:cNvPr id="25" name="Rounded Rectangle 24"/>
          <p:cNvSpPr/>
          <p:nvPr/>
        </p:nvSpPr>
        <p:spPr>
          <a:xfrm>
            <a:off x="685800" y="5852160"/>
            <a:ext cx="731520" cy="502920"/>
          </a:xfrm>
          <a:prstGeom prst="roundRect">
            <a:avLst/>
          </a:prstGeom>
          <a:solidFill>
            <a:srgbClr val="EB002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defRPr sz="1400" b="1">
                <a:solidFill>
                  <a:srgbClr val="FFFFFF"/>
                </a:solidFill>
                <a:latin typeface="Calibri"/>
              </a:defRPr>
            </a:pPr>
            <a:r>
              <a:t>08</a:t>
            </a:r>
          </a:p>
        </p:txBody>
      </p:sp>
      <p:sp>
        <p:nvSpPr>
          <p:cNvPr id="26" name="TextBox 25"/>
          <p:cNvSpPr txBox="1"/>
          <p:nvPr/>
        </p:nvSpPr>
        <p:spPr>
          <a:xfrm>
            <a:off x="1645920" y="5870448"/>
            <a:ext cx="3657600" cy="274320"/>
          </a:xfrm>
          <a:prstGeom prst="rect">
            <a:avLst/>
          </a:prstGeom>
          <a:noFill/>
        </p:spPr>
        <p:txBody>
          <a:bodyPr wrap="square">
            <a:spAutoFit/>
          </a:bodyPr>
          <a:lstStyle/>
          <a:p>
            <a:pPr algn="l">
              <a:defRPr sz="1500" b="1">
                <a:solidFill>
                  <a:srgbClr val="1A1A2E"/>
                </a:solidFill>
                <a:latin typeface="Calibri"/>
              </a:defRPr>
            </a:pPr>
            <a:r>
              <a:t>Roadmap &amp; Next Steps</a:t>
            </a:r>
          </a:p>
        </p:txBody>
      </p:sp>
      <p:sp>
        <p:nvSpPr>
          <p:cNvPr id="27" name="TextBox 26"/>
          <p:cNvSpPr txBox="1"/>
          <p:nvPr/>
        </p:nvSpPr>
        <p:spPr>
          <a:xfrm>
            <a:off x="1645920" y="6108192"/>
            <a:ext cx="9144000" cy="274320"/>
          </a:xfrm>
          <a:prstGeom prst="rect">
            <a:avLst/>
          </a:prstGeom>
          <a:noFill/>
        </p:spPr>
        <p:txBody>
          <a:bodyPr wrap="square">
            <a:spAutoFit/>
          </a:bodyPr>
          <a:lstStyle/>
          <a:p>
            <a:pPr algn="l">
              <a:defRPr sz="1100" b="0">
                <a:solidFill>
                  <a:srgbClr val="888888"/>
                </a:solidFill>
                <a:latin typeface="Calibri"/>
              </a:defRPr>
            </a:pPr>
            <a:r>
              <a:t>Phased implementation approach</a:t>
            </a:r>
          </a:p>
        </p:txBody>
      </p:sp>
      <p:sp>
        <p:nvSpPr>
          <p:cNvPr id="28" name="TextBox 27"/>
          <p:cNvSpPr txBox="1"/>
          <p:nvPr/>
        </p:nvSpPr>
        <p:spPr>
          <a:xfrm>
            <a:off x="685800" y="6400800"/>
            <a:ext cx="10515600" cy="274320"/>
          </a:xfrm>
          <a:prstGeom prst="rect">
            <a:avLst/>
          </a:prstGeom>
          <a:noFill/>
        </p:spPr>
        <p:txBody>
          <a:bodyPr wrap="square">
            <a:spAutoFit/>
          </a:bodyPr>
          <a:lstStyle/>
          <a:p>
            <a:pPr algn="r">
              <a:defRPr sz="900" b="0">
                <a:solidFill>
                  <a:srgbClr val="888888"/>
                </a:solidFill>
                <a:latin typeface="Calibri"/>
              </a:defRPr>
            </a:pPr>
            <a:r>
              <a:t>Toyota Motors Australia  |  AI-Powered S/4 HANA Transformation  |  Confidential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6213E"/>
        </a:solidFill>
        <a:effectLst/>
      </p:bgPr>
    </p:bg>
    <p:spTree>
      <p:nvGrpSpPr>
        <p:cNvPr id="1" name=""/>
        <p:cNvGrpSpPr/>
        <p:nvPr/>
      </p:nvGrpSpPr>
      <p:grpSpPr/>
      <p:sp>
        <p:nvSpPr>
          <p:cNvPr id="2" name="TextBox 1"/>
          <p:cNvSpPr txBox="1"/>
          <p:nvPr/>
        </p:nvSpPr>
        <p:spPr>
          <a:xfrm>
            <a:off x="914400" y="2011680"/>
            <a:ext cx="10058400" cy="731520"/>
          </a:xfrm>
          <a:prstGeom prst="rect">
            <a:avLst/>
          </a:prstGeom>
          <a:noFill/>
        </p:spPr>
        <p:txBody>
          <a:bodyPr wrap="square">
            <a:spAutoFit/>
          </a:bodyPr>
          <a:lstStyle/>
          <a:p>
            <a:pPr algn="l">
              <a:defRPr sz="1600" b="1">
                <a:solidFill>
                  <a:srgbClr val="F0AB00"/>
                </a:solidFill>
                <a:latin typeface="Calibri"/>
              </a:defRPr>
            </a:pPr>
            <a:r>
              <a:t>SECTION 1</a:t>
            </a:r>
          </a:p>
        </p:txBody>
      </p:sp>
      <p:sp>
        <p:nvSpPr>
          <p:cNvPr id="3" name="Rectangle 2"/>
          <p:cNvSpPr/>
          <p:nvPr/>
        </p:nvSpPr>
        <p:spPr>
          <a:xfrm>
            <a:off x="914400" y="2743200"/>
            <a:ext cx="1828800" cy="38100"/>
          </a:xfrm>
          <a:prstGeom prst="rect">
            <a:avLst/>
          </a:prstGeom>
          <a:solidFill>
            <a:srgbClr val="EB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3017520"/>
            <a:ext cx="10058400" cy="1097280"/>
          </a:xfrm>
          <a:prstGeom prst="rect">
            <a:avLst/>
          </a:prstGeom>
          <a:noFill/>
        </p:spPr>
        <p:txBody>
          <a:bodyPr wrap="square">
            <a:spAutoFit/>
          </a:bodyPr>
          <a:lstStyle/>
          <a:p>
            <a:pPr algn="l">
              <a:defRPr sz="3600" b="1">
                <a:solidFill>
                  <a:srgbClr val="FFFFFF"/>
                </a:solidFill>
                <a:latin typeface="Calibri"/>
              </a:defRPr>
            </a:pPr>
            <a:r>
              <a:t>Executive Summary</a:t>
            </a:r>
          </a:p>
        </p:txBody>
      </p:sp>
      <p:sp>
        <p:nvSpPr>
          <p:cNvPr id="5" name="TextBox 4"/>
          <p:cNvSpPr txBox="1"/>
          <p:nvPr/>
        </p:nvSpPr>
        <p:spPr>
          <a:xfrm>
            <a:off x="914400" y="4114800"/>
            <a:ext cx="10058400" cy="731520"/>
          </a:xfrm>
          <a:prstGeom prst="rect">
            <a:avLst/>
          </a:prstGeom>
          <a:noFill/>
        </p:spPr>
        <p:txBody>
          <a:bodyPr wrap="square">
            <a:spAutoFit/>
          </a:bodyPr>
          <a:lstStyle/>
          <a:p>
            <a:pPr algn="l">
              <a:defRPr sz="1800" b="0">
                <a:solidFill>
                  <a:srgbClr val="F0AB00"/>
                </a:solidFill>
                <a:latin typeface="Calibri"/>
              </a:defRPr>
            </a:pPr>
            <a:r>
              <a:t>Business Context &amp; Strategic Objectives</a:t>
            </a:r>
          </a:p>
        </p:txBody>
      </p:sp>
      <p:sp>
        <p:nvSpPr>
          <p:cNvPr id="6" name="TextBox 5"/>
          <p:cNvSpPr txBox="1"/>
          <p:nvPr/>
        </p:nvSpPr>
        <p:spPr>
          <a:xfrm>
            <a:off x="685800" y="6400800"/>
            <a:ext cx="10515600" cy="274320"/>
          </a:xfrm>
          <a:prstGeom prst="rect">
            <a:avLst/>
          </a:prstGeom>
          <a:noFill/>
        </p:spPr>
        <p:txBody>
          <a:bodyPr wrap="square">
            <a:spAutoFit/>
          </a:bodyPr>
          <a:lstStyle/>
          <a:p>
            <a:pPr algn="r">
              <a:defRPr sz="900" b="0">
                <a:solidFill>
                  <a:srgbClr val="FFFFFF"/>
                </a:solidFill>
                <a:latin typeface="Calibri"/>
              </a:defRPr>
            </a:pPr>
            <a:r>
              <a:t>Toyota Motors Australia  |  AI-Powered S/4 HANA Transformation  |  Confidential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164592"/>
            <a:ext cx="10515600" cy="640080"/>
          </a:xfrm>
          <a:prstGeom prst="rect">
            <a:avLst/>
          </a:prstGeom>
          <a:noFill/>
        </p:spPr>
        <p:txBody>
          <a:bodyPr wrap="square">
            <a:spAutoFit/>
          </a:bodyPr>
          <a:lstStyle/>
          <a:p>
            <a:pPr algn="l">
              <a:defRPr sz="2800" b="1">
                <a:solidFill>
                  <a:srgbClr val="FFFFFF"/>
                </a:solidFill>
                <a:latin typeface="Calibri"/>
              </a:defRPr>
            </a:pPr>
            <a:r>
              <a:t>Executive Summary</a:t>
            </a:r>
          </a:p>
        </p:txBody>
      </p:sp>
      <p:sp>
        <p:nvSpPr>
          <p:cNvPr id="4" name="TextBox 3"/>
          <p:cNvSpPr txBox="1"/>
          <p:nvPr/>
        </p:nvSpPr>
        <p:spPr>
          <a:xfrm>
            <a:off x="685800" y="1280160"/>
            <a:ext cx="10515600" cy="731520"/>
          </a:xfrm>
          <a:prstGeom prst="rect">
            <a:avLst/>
          </a:prstGeom>
          <a:noFill/>
        </p:spPr>
        <p:txBody>
          <a:bodyPr wrap="square">
            <a:spAutoFit/>
          </a:bodyPr>
          <a:lstStyle/>
          <a:p>
            <a:pPr algn="l">
              <a:defRPr sz="1400" b="0">
                <a:solidFill>
                  <a:srgbClr val="333333"/>
                </a:solidFill>
                <a:latin typeface="Calibri"/>
              </a:defRPr>
            </a:pPr>
            <a:r>
              <a:t>Toyota Motors Australia operates one of the most complex automotive supply chains in the Asia-Pacific region, serving 280+ dealerships across the country. With S/4 HANA already underpinning procurement, inventory, warehouse management, and distribution, Toyota is uniquely positioned to layer AI capabilities that drive predictive, autonomous decision-making across the entire value chain.</a:t>
            </a:r>
          </a:p>
        </p:txBody>
      </p:sp>
      <p:sp>
        <p:nvSpPr>
          <p:cNvPr id="5" name="Rounded Rectangle 4"/>
          <p:cNvSpPr/>
          <p:nvPr/>
        </p:nvSpPr>
        <p:spPr>
          <a:xfrm>
            <a:off x="685800" y="2377440"/>
            <a:ext cx="2560320" cy="548640"/>
          </a:xfrm>
          <a:prstGeom prst="roundRect">
            <a:avLst/>
          </a:prstGeom>
          <a:solidFill>
            <a:srgbClr val="0070F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defRPr sz="1400" b="1">
                <a:solidFill>
                  <a:srgbClr val="FFFFFF"/>
                </a:solidFill>
                <a:latin typeface="Calibri"/>
              </a:defRPr>
            </a:pPr>
            <a:r>
              <a:t>Demand</a:t>
            </a:r>
            <a:br/>
            <a:r>
              <a:t>Forecasting</a:t>
            </a:r>
          </a:p>
        </p:txBody>
      </p:sp>
      <p:sp>
        <p:nvSpPr>
          <p:cNvPr id="6" name="TextBox 5"/>
          <p:cNvSpPr txBox="1"/>
          <p:nvPr/>
        </p:nvSpPr>
        <p:spPr>
          <a:xfrm>
            <a:off x="822960" y="3063240"/>
            <a:ext cx="2286000" cy="822960"/>
          </a:xfrm>
          <a:prstGeom prst="rect">
            <a:avLst/>
          </a:prstGeom>
          <a:noFill/>
        </p:spPr>
        <p:txBody>
          <a:bodyPr wrap="square">
            <a:spAutoFit/>
          </a:bodyPr>
          <a:lstStyle/>
          <a:p>
            <a:pPr algn="l">
              <a:defRPr sz="1100" b="0">
                <a:solidFill>
                  <a:srgbClr val="333333"/>
                </a:solidFill>
                <a:latin typeface="Calibri"/>
              </a:defRPr>
            </a:pPr>
            <a:r>
              <a:t>Predict dealership</a:t>
            </a:r>
            <a:br/>
            <a:r>
              <a:t>demand for vehicles</a:t>
            </a:r>
            <a:br/>
            <a:r>
              <a:t>and parts</a:t>
            </a:r>
          </a:p>
        </p:txBody>
      </p:sp>
      <p:sp>
        <p:nvSpPr>
          <p:cNvPr id="7" name="Rounded Rectangle 6"/>
          <p:cNvSpPr/>
          <p:nvPr/>
        </p:nvSpPr>
        <p:spPr>
          <a:xfrm>
            <a:off x="3474720" y="2377440"/>
            <a:ext cx="2560320" cy="548640"/>
          </a:xfrm>
          <a:prstGeom prst="roundRect">
            <a:avLst/>
          </a:prstGeom>
          <a:solidFill>
            <a:srgbClr val="00964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defRPr sz="1400" b="1">
                <a:solidFill>
                  <a:srgbClr val="FFFFFF"/>
                </a:solidFill>
                <a:latin typeface="Calibri"/>
              </a:defRPr>
            </a:pPr>
            <a:r>
              <a:t>Inventory</a:t>
            </a:r>
            <a:br/>
            <a:r>
              <a:t>Optimization</a:t>
            </a:r>
          </a:p>
        </p:txBody>
      </p:sp>
      <p:sp>
        <p:nvSpPr>
          <p:cNvPr id="8" name="TextBox 7"/>
          <p:cNvSpPr txBox="1"/>
          <p:nvPr/>
        </p:nvSpPr>
        <p:spPr>
          <a:xfrm>
            <a:off x="3611880" y="3063240"/>
            <a:ext cx="2286000" cy="822960"/>
          </a:xfrm>
          <a:prstGeom prst="rect">
            <a:avLst/>
          </a:prstGeom>
          <a:noFill/>
        </p:spPr>
        <p:txBody>
          <a:bodyPr wrap="square">
            <a:spAutoFit/>
          </a:bodyPr>
          <a:lstStyle/>
          <a:p>
            <a:pPr algn="l">
              <a:defRPr sz="1100" b="0">
                <a:solidFill>
                  <a:srgbClr val="333333"/>
                </a:solidFill>
                <a:latin typeface="Calibri"/>
              </a:defRPr>
            </a:pPr>
            <a:r>
              <a:t>Optimal stock levels</a:t>
            </a:r>
            <a:br/>
            <a:r>
              <a:t>across warehouses</a:t>
            </a:r>
            <a:br/>
            <a:r>
              <a:t>and dealers</a:t>
            </a:r>
          </a:p>
        </p:txBody>
      </p:sp>
      <p:sp>
        <p:nvSpPr>
          <p:cNvPr id="9" name="Rounded Rectangle 8"/>
          <p:cNvSpPr/>
          <p:nvPr/>
        </p:nvSpPr>
        <p:spPr>
          <a:xfrm>
            <a:off x="6263640" y="2377440"/>
            <a:ext cx="2560320" cy="548640"/>
          </a:xfrm>
          <a:prstGeom prst="round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defRPr sz="1400" b="1">
                <a:solidFill>
                  <a:srgbClr val="FFFFFF"/>
                </a:solidFill>
                <a:latin typeface="Calibri"/>
              </a:defRPr>
            </a:pPr>
            <a:r>
              <a:t>Supply</a:t>
            </a:r>
            <a:br/>
            <a:r>
              <a:t>Planning</a:t>
            </a:r>
          </a:p>
        </p:txBody>
      </p:sp>
      <p:sp>
        <p:nvSpPr>
          <p:cNvPr id="10" name="TextBox 9"/>
          <p:cNvSpPr txBox="1"/>
          <p:nvPr/>
        </p:nvSpPr>
        <p:spPr>
          <a:xfrm>
            <a:off x="6400800" y="3063240"/>
            <a:ext cx="2286000" cy="822960"/>
          </a:xfrm>
          <a:prstGeom prst="rect">
            <a:avLst/>
          </a:prstGeom>
          <a:noFill/>
        </p:spPr>
        <p:txBody>
          <a:bodyPr wrap="square">
            <a:spAutoFit/>
          </a:bodyPr>
          <a:lstStyle/>
          <a:p>
            <a:pPr algn="l">
              <a:defRPr sz="1100" b="0">
                <a:solidFill>
                  <a:srgbClr val="333333"/>
                </a:solidFill>
                <a:latin typeface="Calibri"/>
              </a:defRPr>
            </a:pPr>
            <a:r>
              <a:t>Adjust procurement</a:t>
            </a:r>
            <a:br/>
            <a:r>
              <a:t>and logistics based</a:t>
            </a:r>
            <a:br/>
            <a:r>
              <a:t>on predictions</a:t>
            </a:r>
          </a:p>
        </p:txBody>
      </p:sp>
      <p:sp>
        <p:nvSpPr>
          <p:cNvPr id="11" name="Rounded Rectangle 10"/>
          <p:cNvSpPr/>
          <p:nvPr/>
        </p:nvSpPr>
        <p:spPr>
          <a:xfrm>
            <a:off x="9052560" y="2377440"/>
            <a:ext cx="2560320" cy="548640"/>
          </a:xfrm>
          <a:prstGeom prst="roundRect">
            <a:avLst/>
          </a:prstGeom>
          <a:solidFill>
            <a:srgbClr val="00899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defRPr sz="1400" b="1">
                <a:solidFill>
                  <a:srgbClr val="FFFFFF"/>
                </a:solidFill>
                <a:latin typeface="Calibri"/>
              </a:defRPr>
            </a:pPr>
            <a:r>
              <a:t>Logistics</a:t>
            </a:r>
            <a:br/>
            <a:r>
              <a:t>Optimization</a:t>
            </a:r>
          </a:p>
        </p:txBody>
      </p:sp>
      <p:sp>
        <p:nvSpPr>
          <p:cNvPr id="12" name="TextBox 11"/>
          <p:cNvSpPr txBox="1"/>
          <p:nvPr/>
        </p:nvSpPr>
        <p:spPr>
          <a:xfrm>
            <a:off x="9189720" y="3063240"/>
            <a:ext cx="2286000" cy="822960"/>
          </a:xfrm>
          <a:prstGeom prst="rect">
            <a:avLst/>
          </a:prstGeom>
          <a:noFill/>
        </p:spPr>
        <p:txBody>
          <a:bodyPr wrap="square">
            <a:spAutoFit/>
          </a:bodyPr>
          <a:lstStyle/>
          <a:p>
            <a:pPr algn="l">
              <a:defRPr sz="1100" b="0">
                <a:solidFill>
                  <a:srgbClr val="333333"/>
                </a:solidFill>
                <a:latin typeface="Calibri"/>
              </a:defRPr>
            </a:pPr>
            <a:r>
              <a:t>Move vehicles and</a:t>
            </a:r>
            <a:br/>
            <a:r>
              <a:t>parts efficiently</a:t>
            </a:r>
            <a:br/>
            <a:r>
              <a:t>across network</a:t>
            </a:r>
          </a:p>
        </p:txBody>
      </p:sp>
      <p:sp>
        <p:nvSpPr>
          <p:cNvPr id="13" name="TextBox 12"/>
          <p:cNvSpPr txBox="1"/>
          <p:nvPr/>
        </p:nvSpPr>
        <p:spPr>
          <a:xfrm>
            <a:off x="685800" y="4114800"/>
            <a:ext cx="10058400" cy="365760"/>
          </a:xfrm>
          <a:prstGeom prst="rect">
            <a:avLst/>
          </a:prstGeom>
          <a:noFill/>
        </p:spPr>
        <p:txBody>
          <a:bodyPr wrap="square">
            <a:spAutoFit/>
          </a:bodyPr>
          <a:lstStyle/>
          <a:p>
            <a:pPr algn="l">
              <a:defRPr sz="1600" b="1">
                <a:solidFill>
                  <a:srgbClr val="1A1A2E"/>
                </a:solidFill>
                <a:latin typeface="Calibri"/>
              </a:defRPr>
            </a:pPr>
            <a:r>
              <a:t>Expected Business Impact</a:t>
            </a:r>
          </a:p>
        </p:txBody>
      </p:sp>
      <p:sp>
        <p:nvSpPr>
          <p:cNvPr id="14" name="TextBox 13"/>
          <p:cNvSpPr txBox="1"/>
          <p:nvPr/>
        </p:nvSpPr>
        <p:spPr>
          <a:xfrm>
            <a:off x="685800" y="4572000"/>
            <a:ext cx="2286000" cy="457200"/>
          </a:xfrm>
          <a:prstGeom prst="rect">
            <a:avLst/>
          </a:prstGeom>
          <a:noFill/>
        </p:spPr>
        <p:txBody>
          <a:bodyPr wrap="square">
            <a:spAutoFit/>
          </a:bodyPr>
          <a:lstStyle/>
          <a:p>
            <a:pPr algn="l">
              <a:defRPr sz="3200" b="1">
                <a:solidFill>
                  <a:srgbClr val="EB0023"/>
                </a:solidFill>
                <a:latin typeface="Calibri"/>
              </a:defRPr>
            </a:pPr>
            <a:r>
              <a:t>15-25%</a:t>
            </a:r>
          </a:p>
        </p:txBody>
      </p:sp>
      <p:sp>
        <p:nvSpPr>
          <p:cNvPr id="15" name="TextBox 14"/>
          <p:cNvSpPr txBox="1"/>
          <p:nvPr/>
        </p:nvSpPr>
        <p:spPr>
          <a:xfrm>
            <a:off x="685800" y="5212080"/>
            <a:ext cx="2286000" cy="548640"/>
          </a:xfrm>
          <a:prstGeom prst="rect">
            <a:avLst/>
          </a:prstGeom>
          <a:noFill/>
        </p:spPr>
        <p:txBody>
          <a:bodyPr wrap="square">
            <a:spAutoFit/>
          </a:bodyPr>
          <a:lstStyle/>
          <a:p>
            <a:pPr algn="l">
              <a:defRPr sz="1200" b="0">
                <a:solidFill>
                  <a:srgbClr val="888888"/>
                </a:solidFill>
                <a:latin typeface="Calibri"/>
              </a:defRPr>
            </a:pPr>
            <a:r>
              <a:t>Reduction in</a:t>
            </a:r>
            <a:br/>
            <a:r>
              <a:t>excess inventory</a:t>
            </a:r>
          </a:p>
        </p:txBody>
      </p:sp>
      <p:sp>
        <p:nvSpPr>
          <p:cNvPr id="16" name="TextBox 15"/>
          <p:cNvSpPr txBox="1"/>
          <p:nvPr/>
        </p:nvSpPr>
        <p:spPr>
          <a:xfrm>
            <a:off x="3474720" y="4572000"/>
            <a:ext cx="2286000" cy="457200"/>
          </a:xfrm>
          <a:prstGeom prst="rect">
            <a:avLst/>
          </a:prstGeom>
          <a:noFill/>
        </p:spPr>
        <p:txBody>
          <a:bodyPr wrap="square">
            <a:spAutoFit/>
          </a:bodyPr>
          <a:lstStyle/>
          <a:p>
            <a:pPr algn="l">
              <a:defRPr sz="3200" b="1">
                <a:solidFill>
                  <a:srgbClr val="EB0023"/>
                </a:solidFill>
                <a:latin typeface="Calibri"/>
              </a:defRPr>
            </a:pPr>
            <a:r>
              <a:t>20-30%</a:t>
            </a:r>
          </a:p>
        </p:txBody>
      </p:sp>
      <p:sp>
        <p:nvSpPr>
          <p:cNvPr id="17" name="TextBox 16"/>
          <p:cNvSpPr txBox="1"/>
          <p:nvPr/>
        </p:nvSpPr>
        <p:spPr>
          <a:xfrm>
            <a:off x="3474720" y="5212080"/>
            <a:ext cx="2286000" cy="548640"/>
          </a:xfrm>
          <a:prstGeom prst="rect">
            <a:avLst/>
          </a:prstGeom>
          <a:noFill/>
        </p:spPr>
        <p:txBody>
          <a:bodyPr wrap="square">
            <a:spAutoFit/>
          </a:bodyPr>
          <a:lstStyle/>
          <a:p>
            <a:pPr algn="l">
              <a:defRPr sz="1200" b="0">
                <a:solidFill>
                  <a:srgbClr val="888888"/>
                </a:solidFill>
                <a:latin typeface="Calibri"/>
              </a:defRPr>
            </a:pPr>
            <a:r>
              <a:t>Improvement in</a:t>
            </a:r>
            <a:br/>
            <a:r>
              <a:t>forecast accuracy</a:t>
            </a:r>
          </a:p>
        </p:txBody>
      </p:sp>
      <p:sp>
        <p:nvSpPr>
          <p:cNvPr id="18" name="TextBox 17"/>
          <p:cNvSpPr txBox="1"/>
          <p:nvPr/>
        </p:nvSpPr>
        <p:spPr>
          <a:xfrm>
            <a:off x="6263640" y="4572000"/>
            <a:ext cx="2286000" cy="457200"/>
          </a:xfrm>
          <a:prstGeom prst="rect">
            <a:avLst/>
          </a:prstGeom>
          <a:noFill/>
        </p:spPr>
        <p:txBody>
          <a:bodyPr wrap="square">
            <a:spAutoFit/>
          </a:bodyPr>
          <a:lstStyle/>
          <a:p>
            <a:pPr algn="l">
              <a:defRPr sz="3200" b="1">
                <a:solidFill>
                  <a:srgbClr val="EB0023"/>
                </a:solidFill>
                <a:latin typeface="Calibri"/>
              </a:defRPr>
            </a:pPr>
            <a:r>
              <a:t>10-15%</a:t>
            </a:r>
          </a:p>
        </p:txBody>
      </p:sp>
      <p:sp>
        <p:nvSpPr>
          <p:cNvPr id="19" name="TextBox 18"/>
          <p:cNvSpPr txBox="1"/>
          <p:nvPr/>
        </p:nvSpPr>
        <p:spPr>
          <a:xfrm>
            <a:off x="6263640" y="5212080"/>
            <a:ext cx="2286000" cy="548640"/>
          </a:xfrm>
          <a:prstGeom prst="rect">
            <a:avLst/>
          </a:prstGeom>
          <a:noFill/>
        </p:spPr>
        <p:txBody>
          <a:bodyPr wrap="square">
            <a:spAutoFit/>
          </a:bodyPr>
          <a:lstStyle/>
          <a:p>
            <a:pPr algn="l">
              <a:defRPr sz="1200" b="0">
                <a:solidFill>
                  <a:srgbClr val="888888"/>
                </a:solidFill>
                <a:latin typeface="Calibri"/>
              </a:defRPr>
            </a:pPr>
            <a:r>
              <a:t>Reduction in</a:t>
            </a:r>
            <a:br/>
            <a:r>
              <a:t>logistics costs</a:t>
            </a:r>
          </a:p>
        </p:txBody>
      </p:sp>
      <p:sp>
        <p:nvSpPr>
          <p:cNvPr id="20" name="TextBox 19"/>
          <p:cNvSpPr txBox="1"/>
          <p:nvPr/>
        </p:nvSpPr>
        <p:spPr>
          <a:xfrm>
            <a:off x="9052560" y="4572000"/>
            <a:ext cx="2286000" cy="457200"/>
          </a:xfrm>
          <a:prstGeom prst="rect">
            <a:avLst/>
          </a:prstGeom>
          <a:noFill/>
        </p:spPr>
        <p:txBody>
          <a:bodyPr wrap="square">
            <a:spAutoFit/>
          </a:bodyPr>
          <a:lstStyle/>
          <a:p>
            <a:pPr algn="l">
              <a:defRPr sz="3200" b="1">
                <a:solidFill>
                  <a:srgbClr val="EB0023"/>
                </a:solidFill>
                <a:latin typeface="Calibri"/>
              </a:defRPr>
            </a:pPr>
            <a:r>
              <a:t>8-12%</a:t>
            </a:r>
          </a:p>
        </p:txBody>
      </p:sp>
      <p:sp>
        <p:nvSpPr>
          <p:cNvPr id="21" name="TextBox 20"/>
          <p:cNvSpPr txBox="1"/>
          <p:nvPr/>
        </p:nvSpPr>
        <p:spPr>
          <a:xfrm>
            <a:off x="9052560" y="5212080"/>
            <a:ext cx="2286000" cy="548640"/>
          </a:xfrm>
          <a:prstGeom prst="rect">
            <a:avLst/>
          </a:prstGeom>
          <a:noFill/>
        </p:spPr>
        <p:txBody>
          <a:bodyPr wrap="square">
            <a:spAutoFit/>
          </a:bodyPr>
          <a:lstStyle/>
          <a:p>
            <a:pPr algn="l">
              <a:defRPr sz="1200" b="0">
                <a:solidFill>
                  <a:srgbClr val="888888"/>
                </a:solidFill>
                <a:latin typeface="Calibri"/>
              </a:defRPr>
            </a:pPr>
            <a:r>
              <a:t>Improvement in</a:t>
            </a:r>
            <a:br/>
            <a:r>
              <a:t>service levels</a:t>
            </a:r>
          </a:p>
        </p:txBody>
      </p:sp>
      <p:sp>
        <p:nvSpPr>
          <p:cNvPr id="22" name="TextBox 21"/>
          <p:cNvSpPr txBox="1"/>
          <p:nvPr/>
        </p:nvSpPr>
        <p:spPr>
          <a:xfrm>
            <a:off x="685800" y="6400800"/>
            <a:ext cx="10515600" cy="274320"/>
          </a:xfrm>
          <a:prstGeom prst="rect">
            <a:avLst/>
          </a:prstGeom>
          <a:noFill/>
        </p:spPr>
        <p:txBody>
          <a:bodyPr wrap="square">
            <a:spAutoFit/>
          </a:bodyPr>
          <a:lstStyle/>
          <a:p>
            <a:pPr algn="r">
              <a:defRPr sz="900" b="0">
                <a:solidFill>
                  <a:srgbClr val="888888"/>
                </a:solidFill>
                <a:latin typeface="Calibri"/>
              </a:defRPr>
            </a:pPr>
            <a:r>
              <a:t>Toyota Motors Australia  |  AI-Powered S/4 HANA Transformation  |  Confidential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6213E"/>
        </a:solidFill>
        <a:effectLst/>
      </p:bgPr>
    </p:bg>
    <p:spTree>
      <p:nvGrpSpPr>
        <p:cNvPr id="1" name=""/>
        <p:cNvGrpSpPr/>
        <p:nvPr/>
      </p:nvGrpSpPr>
      <p:grpSpPr/>
      <p:sp>
        <p:nvSpPr>
          <p:cNvPr id="2" name="TextBox 1"/>
          <p:cNvSpPr txBox="1"/>
          <p:nvPr/>
        </p:nvSpPr>
        <p:spPr>
          <a:xfrm>
            <a:off x="914400" y="2011680"/>
            <a:ext cx="10058400" cy="731520"/>
          </a:xfrm>
          <a:prstGeom prst="rect">
            <a:avLst/>
          </a:prstGeom>
          <a:noFill/>
        </p:spPr>
        <p:txBody>
          <a:bodyPr wrap="square">
            <a:spAutoFit/>
          </a:bodyPr>
          <a:lstStyle/>
          <a:p>
            <a:pPr algn="l">
              <a:defRPr sz="1600" b="1">
                <a:solidFill>
                  <a:srgbClr val="F0AB00"/>
                </a:solidFill>
                <a:latin typeface="Calibri"/>
              </a:defRPr>
            </a:pPr>
            <a:r>
              <a:t>SECTION 2</a:t>
            </a:r>
          </a:p>
        </p:txBody>
      </p:sp>
      <p:sp>
        <p:nvSpPr>
          <p:cNvPr id="3" name="Rectangle 2"/>
          <p:cNvSpPr/>
          <p:nvPr/>
        </p:nvSpPr>
        <p:spPr>
          <a:xfrm>
            <a:off x="914400" y="2743200"/>
            <a:ext cx="1828800" cy="38100"/>
          </a:xfrm>
          <a:prstGeom prst="rect">
            <a:avLst/>
          </a:prstGeom>
          <a:solidFill>
            <a:srgbClr val="EB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3017520"/>
            <a:ext cx="10058400" cy="1097280"/>
          </a:xfrm>
          <a:prstGeom prst="rect">
            <a:avLst/>
          </a:prstGeom>
          <a:noFill/>
        </p:spPr>
        <p:txBody>
          <a:bodyPr wrap="square">
            <a:spAutoFit/>
          </a:bodyPr>
          <a:lstStyle/>
          <a:p>
            <a:pPr algn="l">
              <a:defRPr sz="3600" b="1">
                <a:solidFill>
                  <a:srgbClr val="FFFFFF"/>
                </a:solidFill>
                <a:latin typeface="Calibri"/>
              </a:defRPr>
            </a:pPr>
            <a:r>
              <a:t>Current State</a:t>
            </a:r>
          </a:p>
        </p:txBody>
      </p:sp>
      <p:sp>
        <p:nvSpPr>
          <p:cNvPr id="5" name="TextBox 4"/>
          <p:cNvSpPr txBox="1"/>
          <p:nvPr/>
        </p:nvSpPr>
        <p:spPr>
          <a:xfrm>
            <a:off x="914400" y="4114800"/>
            <a:ext cx="10058400" cy="731520"/>
          </a:xfrm>
          <a:prstGeom prst="rect">
            <a:avLst/>
          </a:prstGeom>
          <a:noFill/>
        </p:spPr>
        <p:txBody>
          <a:bodyPr wrap="square">
            <a:spAutoFit/>
          </a:bodyPr>
          <a:lstStyle/>
          <a:p>
            <a:pPr algn="l">
              <a:defRPr sz="1800" b="0">
                <a:solidFill>
                  <a:srgbClr val="F0AB00"/>
                </a:solidFill>
                <a:latin typeface="Calibri"/>
              </a:defRPr>
            </a:pPr>
            <a:r>
              <a:t>S/4 HANA Modules &amp; Operational Footprint</a:t>
            </a:r>
          </a:p>
        </p:txBody>
      </p:sp>
      <p:sp>
        <p:nvSpPr>
          <p:cNvPr id="6" name="TextBox 5"/>
          <p:cNvSpPr txBox="1"/>
          <p:nvPr/>
        </p:nvSpPr>
        <p:spPr>
          <a:xfrm>
            <a:off x="685800" y="6400800"/>
            <a:ext cx="10515600" cy="274320"/>
          </a:xfrm>
          <a:prstGeom prst="rect">
            <a:avLst/>
          </a:prstGeom>
          <a:noFill/>
        </p:spPr>
        <p:txBody>
          <a:bodyPr wrap="square">
            <a:spAutoFit/>
          </a:bodyPr>
          <a:lstStyle/>
          <a:p>
            <a:pPr algn="r">
              <a:defRPr sz="900" b="0">
                <a:solidFill>
                  <a:srgbClr val="FFFFFF"/>
                </a:solidFill>
                <a:latin typeface="Calibri"/>
              </a:defRPr>
            </a:pPr>
            <a:r>
              <a:t>Toyota Motors Australia  |  AI-Powered S/4 HANA Transformation  |  Confidential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164592"/>
            <a:ext cx="10515600" cy="640080"/>
          </a:xfrm>
          <a:prstGeom prst="rect">
            <a:avLst/>
          </a:prstGeom>
          <a:noFill/>
        </p:spPr>
        <p:txBody>
          <a:bodyPr wrap="square">
            <a:spAutoFit/>
          </a:bodyPr>
          <a:lstStyle/>
          <a:p>
            <a:pPr algn="l">
              <a:defRPr sz="2800" b="1">
                <a:solidFill>
                  <a:srgbClr val="FFFFFF"/>
                </a:solidFill>
                <a:latin typeface="Calibri"/>
              </a:defRPr>
            </a:pPr>
            <a:r>
              <a:t>Current State — S/4 HANA Landscape at Toyota Australia</a:t>
            </a:r>
          </a:p>
        </p:txBody>
      </p:sp>
      <p:sp>
        <p:nvSpPr>
          <p:cNvPr id="4" name="Rounded Rectangle 3"/>
          <p:cNvSpPr/>
          <p:nvPr/>
        </p:nvSpPr>
        <p:spPr>
          <a:xfrm>
            <a:off x="685800" y="1280160"/>
            <a:ext cx="2743200" cy="457200"/>
          </a:xfrm>
          <a:prstGeom prst="roundRect">
            <a:avLst/>
          </a:prstGeom>
          <a:solidFill>
            <a:srgbClr val="0070F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defRPr sz="1200" b="1">
                <a:solidFill>
                  <a:srgbClr val="FFFFFF"/>
                </a:solidFill>
                <a:latin typeface="Calibri"/>
              </a:defRPr>
            </a:pPr>
            <a:r>
              <a:t>S/4 HANA Procurement — Direct Procurement</a:t>
            </a:r>
          </a:p>
        </p:txBody>
      </p:sp>
      <p:sp>
        <p:nvSpPr>
          <p:cNvPr id="5" name="TextBox 4"/>
          <p:cNvSpPr txBox="1"/>
          <p:nvPr/>
        </p:nvSpPr>
        <p:spPr>
          <a:xfrm>
            <a:off x="3657600" y="1325880"/>
            <a:ext cx="7772400" cy="256032"/>
          </a:xfrm>
          <a:prstGeom prst="rect">
            <a:avLst/>
          </a:prstGeom>
          <a:noFill/>
        </p:spPr>
        <p:txBody>
          <a:bodyPr wrap="square">
            <a:spAutoFit/>
          </a:bodyPr>
          <a:lstStyle/>
          <a:p>
            <a:pPr algn="l">
              <a:defRPr sz="1100" b="0">
                <a:solidFill>
                  <a:srgbClr val="333333"/>
                </a:solidFill>
                <a:latin typeface="Calibri"/>
              </a:defRPr>
            </a:pPr>
            <a:r>
              <a:t>•  Vehicle component sourcing from OEM suppliers</a:t>
            </a:r>
          </a:p>
        </p:txBody>
      </p:sp>
      <p:sp>
        <p:nvSpPr>
          <p:cNvPr id="6" name="TextBox 5"/>
          <p:cNvSpPr txBox="1"/>
          <p:nvPr/>
        </p:nvSpPr>
        <p:spPr>
          <a:xfrm>
            <a:off x="3657600" y="1581912"/>
            <a:ext cx="7772400" cy="256032"/>
          </a:xfrm>
          <a:prstGeom prst="rect">
            <a:avLst/>
          </a:prstGeom>
          <a:noFill/>
        </p:spPr>
        <p:txBody>
          <a:bodyPr wrap="square">
            <a:spAutoFit/>
          </a:bodyPr>
          <a:lstStyle/>
          <a:p>
            <a:pPr algn="l">
              <a:defRPr sz="1100" b="0">
                <a:solidFill>
                  <a:srgbClr val="333333"/>
                </a:solidFill>
                <a:latin typeface="Calibri"/>
              </a:defRPr>
            </a:pPr>
            <a:r>
              <a:t>•  Parts &amp; accessories procurement from tier-1/2 suppliers</a:t>
            </a:r>
          </a:p>
        </p:txBody>
      </p:sp>
      <p:sp>
        <p:nvSpPr>
          <p:cNvPr id="7" name="TextBox 6"/>
          <p:cNvSpPr txBox="1"/>
          <p:nvPr/>
        </p:nvSpPr>
        <p:spPr>
          <a:xfrm>
            <a:off x="3657600" y="1837944"/>
            <a:ext cx="7772400" cy="256032"/>
          </a:xfrm>
          <a:prstGeom prst="rect">
            <a:avLst/>
          </a:prstGeom>
          <a:noFill/>
        </p:spPr>
        <p:txBody>
          <a:bodyPr wrap="square">
            <a:spAutoFit/>
          </a:bodyPr>
          <a:lstStyle/>
          <a:p>
            <a:pPr algn="l">
              <a:defRPr sz="1100" b="0">
                <a:solidFill>
                  <a:srgbClr val="333333"/>
                </a:solidFill>
                <a:latin typeface="Calibri"/>
              </a:defRPr>
            </a:pPr>
            <a:r>
              <a:t>•  Purchase order management and vendor evaluation</a:t>
            </a:r>
          </a:p>
        </p:txBody>
      </p:sp>
      <p:sp>
        <p:nvSpPr>
          <p:cNvPr id="8" name="TextBox 7"/>
          <p:cNvSpPr txBox="1"/>
          <p:nvPr/>
        </p:nvSpPr>
        <p:spPr>
          <a:xfrm>
            <a:off x="3657600" y="2093976"/>
            <a:ext cx="7772400" cy="256032"/>
          </a:xfrm>
          <a:prstGeom prst="rect">
            <a:avLst/>
          </a:prstGeom>
          <a:noFill/>
        </p:spPr>
        <p:txBody>
          <a:bodyPr wrap="square">
            <a:spAutoFit/>
          </a:bodyPr>
          <a:lstStyle/>
          <a:p>
            <a:pPr algn="l">
              <a:defRPr sz="1100" b="0">
                <a:solidFill>
                  <a:srgbClr val="333333"/>
                </a:solidFill>
                <a:latin typeface="Calibri"/>
              </a:defRPr>
            </a:pPr>
            <a:r>
              <a:t>•  Contract management and pricing agreements</a:t>
            </a:r>
          </a:p>
        </p:txBody>
      </p:sp>
      <p:sp>
        <p:nvSpPr>
          <p:cNvPr id="9" name="Rounded Rectangle 8"/>
          <p:cNvSpPr/>
          <p:nvPr/>
        </p:nvSpPr>
        <p:spPr>
          <a:xfrm>
            <a:off x="685800" y="2514600"/>
            <a:ext cx="2743200" cy="457200"/>
          </a:xfrm>
          <a:prstGeom prst="roundRect">
            <a:avLst/>
          </a:prstGeom>
          <a:solidFill>
            <a:srgbClr val="00964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defRPr sz="1200" b="1">
                <a:solidFill>
                  <a:srgbClr val="FFFFFF"/>
                </a:solidFill>
                <a:latin typeface="Calibri"/>
              </a:defRPr>
            </a:pPr>
            <a:r>
              <a:t>S/4 HANA Inventory — Vehicles &amp; Parts</a:t>
            </a:r>
          </a:p>
        </p:txBody>
      </p:sp>
      <p:sp>
        <p:nvSpPr>
          <p:cNvPr id="10" name="TextBox 9"/>
          <p:cNvSpPr txBox="1"/>
          <p:nvPr/>
        </p:nvSpPr>
        <p:spPr>
          <a:xfrm>
            <a:off x="3657600" y="2560320"/>
            <a:ext cx="7772400" cy="256032"/>
          </a:xfrm>
          <a:prstGeom prst="rect">
            <a:avLst/>
          </a:prstGeom>
          <a:noFill/>
        </p:spPr>
        <p:txBody>
          <a:bodyPr wrap="square">
            <a:spAutoFit/>
          </a:bodyPr>
          <a:lstStyle/>
          <a:p>
            <a:pPr algn="l">
              <a:defRPr sz="1100" b="0">
                <a:solidFill>
                  <a:srgbClr val="333333"/>
                </a:solidFill>
                <a:latin typeface="Calibri"/>
              </a:defRPr>
            </a:pPr>
            <a:r>
              <a:t>•  Real-time inventory tracking across 280+ dealers</a:t>
            </a:r>
          </a:p>
        </p:txBody>
      </p:sp>
      <p:sp>
        <p:nvSpPr>
          <p:cNvPr id="11" name="TextBox 10"/>
          <p:cNvSpPr txBox="1"/>
          <p:nvPr/>
        </p:nvSpPr>
        <p:spPr>
          <a:xfrm>
            <a:off x="3657600" y="2816352"/>
            <a:ext cx="7772400" cy="256032"/>
          </a:xfrm>
          <a:prstGeom prst="rect">
            <a:avLst/>
          </a:prstGeom>
          <a:noFill/>
        </p:spPr>
        <p:txBody>
          <a:bodyPr wrap="square">
            <a:spAutoFit/>
          </a:bodyPr>
          <a:lstStyle/>
          <a:p>
            <a:pPr algn="l">
              <a:defRPr sz="1100" b="0">
                <a:solidFill>
                  <a:srgbClr val="333333"/>
                </a:solidFill>
                <a:latin typeface="Calibri"/>
              </a:defRPr>
            </a:pPr>
            <a:r>
              <a:t>•  Vehicle stock management (new, demo, pre-delivery)</a:t>
            </a:r>
          </a:p>
        </p:txBody>
      </p:sp>
      <p:sp>
        <p:nvSpPr>
          <p:cNvPr id="12" name="TextBox 11"/>
          <p:cNvSpPr txBox="1"/>
          <p:nvPr/>
        </p:nvSpPr>
        <p:spPr>
          <a:xfrm>
            <a:off x="3657600" y="3072384"/>
            <a:ext cx="7772400" cy="256032"/>
          </a:xfrm>
          <a:prstGeom prst="rect">
            <a:avLst/>
          </a:prstGeom>
          <a:noFill/>
        </p:spPr>
        <p:txBody>
          <a:bodyPr wrap="square">
            <a:spAutoFit/>
          </a:bodyPr>
          <a:lstStyle/>
          <a:p>
            <a:pPr algn="l">
              <a:defRPr sz="1100" b="0">
                <a:solidFill>
                  <a:srgbClr val="333333"/>
                </a:solidFill>
                <a:latin typeface="Calibri"/>
              </a:defRPr>
            </a:pPr>
            <a:r>
              <a:t>•  Parts inventory with min/max thresholds</a:t>
            </a:r>
          </a:p>
        </p:txBody>
      </p:sp>
      <p:sp>
        <p:nvSpPr>
          <p:cNvPr id="13" name="TextBox 12"/>
          <p:cNvSpPr txBox="1"/>
          <p:nvPr/>
        </p:nvSpPr>
        <p:spPr>
          <a:xfrm>
            <a:off x="3657600" y="3328416"/>
            <a:ext cx="7772400" cy="256032"/>
          </a:xfrm>
          <a:prstGeom prst="rect">
            <a:avLst/>
          </a:prstGeom>
          <a:noFill/>
        </p:spPr>
        <p:txBody>
          <a:bodyPr wrap="square">
            <a:spAutoFit/>
          </a:bodyPr>
          <a:lstStyle/>
          <a:p>
            <a:pPr algn="l">
              <a:defRPr sz="1100" b="0">
                <a:solidFill>
                  <a:srgbClr val="333333"/>
                </a:solidFill>
                <a:latin typeface="Calibri"/>
              </a:defRPr>
            </a:pPr>
            <a:r>
              <a:t>•  Batch and serial number tracking</a:t>
            </a:r>
          </a:p>
        </p:txBody>
      </p:sp>
      <p:sp>
        <p:nvSpPr>
          <p:cNvPr id="14" name="Rounded Rectangle 13"/>
          <p:cNvSpPr/>
          <p:nvPr/>
        </p:nvSpPr>
        <p:spPr>
          <a:xfrm>
            <a:off x="685800" y="3749040"/>
            <a:ext cx="2743200" cy="457200"/>
          </a:xfrm>
          <a:prstGeom prst="round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defRPr sz="1200" b="1">
                <a:solidFill>
                  <a:srgbClr val="FFFFFF"/>
                </a:solidFill>
                <a:latin typeface="Calibri"/>
              </a:defRPr>
            </a:pPr>
            <a:r>
              <a:t>Extended Warehouse Mgmt — Parts &amp; Accessories</a:t>
            </a:r>
          </a:p>
        </p:txBody>
      </p:sp>
      <p:sp>
        <p:nvSpPr>
          <p:cNvPr id="15" name="TextBox 14"/>
          <p:cNvSpPr txBox="1"/>
          <p:nvPr/>
        </p:nvSpPr>
        <p:spPr>
          <a:xfrm>
            <a:off x="3657600" y="3794760"/>
            <a:ext cx="7772400" cy="256032"/>
          </a:xfrm>
          <a:prstGeom prst="rect">
            <a:avLst/>
          </a:prstGeom>
          <a:noFill/>
        </p:spPr>
        <p:txBody>
          <a:bodyPr wrap="square">
            <a:spAutoFit/>
          </a:bodyPr>
          <a:lstStyle/>
          <a:p>
            <a:pPr algn="l">
              <a:defRPr sz="1100" b="0">
                <a:solidFill>
                  <a:srgbClr val="333333"/>
                </a:solidFill>
                <a:latin typeface="Calibri"/>
              </a:defRPr>
            </a:pPr>
            <a:r>
              <a:t>•  Multi-warehouse operations (national + regional DCs)</a:t>
            </a:r>
          </a:p>
        </p:txBody>
      </p:sp>
      <p:sp>
        <p:nvSpPr>
          <p:cNvPr id="16" name="TextBox 15"/>
          <p:cNvSpPr txBox="1"/>
          <p:nvPr/>
        </p:nvSpPr>
        <p:spPr>
          <a:xfrm>
            <a:off x="3657600" y="4050792"/>
            <a:ext cx="7772400" cy="256032"/>
          </a:xfrm>
          <a:prstGeom prst="rect">
            <a:avLst/>
          </a:prstGeom>
          <a:noFill/>
        </p:spPr>
        <p:txBody>
          <a:bodyPr wrap="square">
            <a:spAutoFit/>
          </a:bodyPr>
          <a:lstStyle/>
          <a:p>
            <a:pPr algn="l">
              <a:defRPr sz="1100" b="0">
                <a:solidFill>
                  <a:srgbClr val="333333"/>
                </a:solidFill>
                <a:latin typeface="Calibri"/>
              </a:defRPr>
            </a:pPr>
            <a:r>
              <a:t>•  Pick/pack/ship for dealer orders</a:t>
            </a:r>
          </a:p>
        </p:txBody>
      </p:sp>
      <p:sp>
        <p:nvSpPr>
          <p:cNvPr id="17" name="TextBox 16"/>
          <p:cNvSpPr txBox="1"/>
          <p:nvPr/>
        </p:nvSpPr>
        <p:spPr>
          <a:xfrm>
            <a:off x="3657600" y="4306824"/>
            <a:ext cx="7772400" cy="256032"/>
          </a:xfrm>
          <a:prstGeom prst="rect">
            <a:avLst/>
          </a:prstGeom>
          <a:noFill/>
        </p:spPr>
        <p:txBody>
          <a:bodyPr wrap="square">
            <a:spAutoFit/>
          </a:bodyPr>
          <a:lstStyle/>
          <a:p>
            <a:pPr algn="l">
              <a:defRPr sz="1100" b="0">
                <a:solidFill>
                  <a:srgbClr val="333333"/>
                </a:solidFill>
                <a:latin typeface="Calibri"/>
              </a:defRPr>
            </a:pPr>
            <a:r>
              <a:t>•  Returns and quality inspection workflows</a:t>
            </a:r>
          </a:p>
        </p:txBody>
      </p:sp>
      <p:sp>
        <p:nvSpPr>
          <p:cNvPr id="18" name="TextBox 17"/>
          <p:cNvSpPr txBox="1"/>
          <p:nvPr/>
        </p:nvSpPr>
        <p:spPr>
          <a:xfrm>
            <a:off x="3657600" y="4562856"/>
            <a:ext cx="7772400" cy="256032"/>
          </a:xfrm>
          <a:prstGeom prst="rect">
            <a:avLst/>
          </a:prstGeom>
          <a:noFill/>
        </p:spPr>
        <p:txBody>
          <a:bodyPr wrap="square">
            <a:spAutoFit/>
          </a:bodyPr>
          <a:lstStyle/>
          <a:p>
            <a:pPr algn="l">
              <a:defRPr sz="1100" b="0">
                <a:solidFill>
                  <a:srgbClr val="333333"/>
                </a:solidFill>
                <a:latin typeface="Calibri"/>
              </a:defRPr>
            </a:pPr>
            <a:r>
              <a:t>•  Yard management for vehicle storage</a:t>
            </a:r>
          </a:p>
        </p:txBody>
      </p:sp>
      <p:sp>
        <p:nvSpPr>
          <p:cNvPr id="19" name="Rounded Rectangle 18"/>
          <p:cNvSpPr/>
          <p:nvPr/>
        </p:nvSpPr>
        <p:spPr>
          <a:xfrm>
            <a:off x="685800" y="4983480"/>
            <a:ext cx="2743200" cy="457200"/>
          </a:xfrm>
          <a:prstGeom prst="roundRect">
            <a:avLst/>
          </a:prstGeom>
          <a:solidFill>
            <a:srgbClr val="00899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defRPr sz="1200" b="1">
                <a:solidFill>
                  <a:srgbClr val="FFFFFF"/>
                </a:solidFill>
                <a:latin typeface="Calibri"/>
              </a:defRPr>
            </a:pPr>
            <a:r>
              <a:t>S/4 HANA Sales &amp; Dist. — Dealership Demand</a:t>
            </a:r>
          </a:p>
        </p:txBody>
      </p:sp>
      <p:sp>
        <p:nvSpPr>
          <p:cNvPr id="20" name="TextBox 19"/>
          <p:cNvSpPr txBox="1"/>
          <p:nvPr/>
        </p:nvSpPr>
        <p:spPr>
          <a:xfrm>
            <a:off x="3657600" y="5029200"/>
            <a:ext cx="7772400" cy="256032"/>
          </a:xfrm>
          <a:prstGeom prst="rect">
            <a:avLst/>
          </a:prstGeom>
          <a:noFill/>
        </p:spPr>
        <p:txBody>
          <a:bodyPr wrap="square">
            <a:spAutoFit/>
          </a:bodyPr>
          <a:lstStyle/>
          <a:p>
            <a:pPr algn="l">
              <a:defRPr sz="1100" b="0">
                <a:solidFill>
                  <a:srgbClr val="333333"/>
                </a:solidFill>
                <a:latin typeface="Calibri"/>
              </a:defRPr>
            </a:pPr>
            <a:r>
              <a:t>•  Dealer order processing and allocation</a:t>
            </a:r>
          </a:p>
        </p:txBody>
      </p:sp>
      <p:sp>
        <p:nvSpPr>
          <p:cNvPr id="21" name="TextBox 20"/>
          <p:cNvSpPr txBox="1"/>
          <p:nvPr/>
        </p:nvSpPr>
        <p:spPr>
          <a:xfrm>
            <a:off x="3657600" y="5285232"/>
            <a:ext cx="7772400" cy="256032"/>
          </a:xfrm>
          <a:prstGeom prst="rect">
            <a:avLst/>
          </a:prstGeom>
          <a:noFill/>
        </p:spPr>
        <p:txBody>
          <a:bodyPr wrap="square">
            <a:spAutoFit/>
          </a:bodyPr>
          <a:lstStyle/>
          <a:p>
            <a:pPr algn="l">
              <a:defRPr sz="1100" b="0">
                <a:solidFill>
                  <a:srgbClr val="333333"/>
                </a:solidFill>
                <a:latin typeface="Calibri"/>
              </a:defRPr>
            </a:pPr>
            <a:r>
              <a:t>•  Demand-based distribution to dealerships</a:t>
            </a:r>
          </a:p>
        </p:txBody>
      </p:sp>
      <p:sp>
        <p:nvSpPr>
          <p:cNvPr id="22" name="TextBox 21"/>
          <p:cNvSpPr txBox="1"/>
          <p:nvPr/>
        </p:nvSpPr>
        <p:spPr>
          <a:xfrm>
            <a:off x="3657600" y="5541264"/>
            <a:ext cx="7772400" cy="256032"/>
          </a:xfrm>
          <a:prstGeom prst="rect">
            <a:avLst/>
          </a:prstGeom>
          <a:noFill/>
        </p:spPr>
        <p:txBody>
          <a:bodyPr wrap="square">
            <a:spAutoFit/>
          </a:bodyPr>
          <a:lstStyle/>
          <a:p>
            <a:pPr algn="l">
              <a:defRPr sz="1100" b="0">
                <a:solidFill>
                  <a:srgbClr val="333333"/>
                </a:solidFill>
                <a:latin typeface="Calibri"/>
              </a:defRPr>
            </a:pPr>
            <a:r>
              <a:t>•  Pricing, discounts, and incentive programs</a:t>
            </a:r>
          </a:p>
        </p:txBody>
      </p:sp>
      <p:sp>
        <p:nvSpPr>
          <p:cNvPr id="23" name="TextBox 22"/>
          <p:cNvSpPr txBox="1"/>
          <p:nvPr/>
        </p:nvSpPr>
        <p:spPr>
          <a:xfrm>
            <a:off x="3657600" y="5797296"/>
            <a:ext cx="7772400" cy="256032"/>
          </a:xfrm>
          <a:prstGeom prst="rect">
            <a:avLst/>
          </a:prstGeom>
          <a:noFill/>
        </p:spPr>
        <p:txBody>
          <a:bodyPr wrap="square">
            <a:spAutoFit/>
          </a:bodyPr>
          <a:lstStyle/>
          <a:p>
            <a:pPr algn="l">
              <a:defRPr sz="1100" b="0">
                <a:solidFill>
                  <a:srgbClr val="333333"/>
                </a:solidFill>
                <a:latin typeface="Calibri"/>
              </a:defRPr>
            </a:pPr>
            <a:r>
              <a:t>•  Delivery scheduling and transport planning</a:t>
            </a:r>
          </a:p>
        </p:txBody>
      </p:sp>
      <p:sp>
        <p:nvSpPr>
          <p:cNvPr id="24" name="TextBox 23"/>
          <p:cNvSpPr txBox="1"/>
          <p:nvPr/>
        </p:nvSpPr>
        <p:spPr>
          <a:xfrm>
            <a:off x="685800" y="6400800"/>
            <a:ext cx="10515600" cy="274320"/>
          </a:xfrm>
          <a:prstGeom prst="rect">
            <a:avLst/>
          </a:prstGeom>
          <a:noFill/>
        </p:spPr>
        <p:txBody>
          <a:bodyPr wrap="square">
            <a:spAutoFit/>
          </a:bodyPr>
          <a:lstStyle/>
          <a:p>
            <a:pPr algn="r">
              <a:defRPr sz="900" b="0">
                <a:solidFill>
                  <a:srgbClr val="888888"/>
                </a:solidFill>
                <a:latin typeface="Calibri"/>
              </a:defRPr>
            </a:pPr>
            <a:r>
              <a:t>Toyota Motors Australia  |  AI-Powered S/4 HANA Transformation  |  Confidential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6213E"/>
        </a:solidFill>
        <a:effectLst/>
      </p:bgPr>
    </p:bg>
    <p:spTree>
      <p:nvGrpSpPr>
        <p:cNvPr id="1" name=""/>
        <p:cNvGrpSpPr/>
        <p:nvPr/>
      </p:nvGrpSpPr>
      <p:grpSpPr/>
      <p:sp>
        <p:nvSpPr>
          <p:cNvPr id="2" name="TextBox 1"/>
          <p:cNvSpPr txBox="1"/>
          <p:nvPr/>
        </p:nvSpPr>
        <p:spPr>
          <a:xfrm>
            <a:off x="914400" y="2011680"/>
            <a:ext cx="10058400" cy="731520"/>
          </a:xfrm>
          <a:prstGeom prst="rect">
            <a:avLst/>
          </a:prstGeom>
          <a:noFill/>
        </p:spPr>
        <p:txBody>
          <a:bodyPr wrap="square">
            <a:spAutoFit/>
          </a:bodyPr>
          <a:lstStyle/>
          <a:p>
            <a:pPr algn="l">
              <a:defRPr sz="1600" b="1">
                <a:solidFill>
                  <a:srgbClr val="F0AB00"/>
                </a:solidFill>
                <a:latin typeface="Calibri"/>
              </a:defRPr>
            </a:pPr>
            <a:r>
              <a:t>SECTION 3</a:t>
            </a:r>
          </a:p>
        </p:txBody>
      </p:sp>
      <p:sp>
        <p:nvSpPr>
          <p:cNvPr id="3" name="Rectangle 2"/>
          <p:cNvSpPr/>
          <p:nvPr/>
        </p:nvSpPr>
        <p:spPr>
          <a:xfrm>
            <a:off x="914400" y="2743200"/>
            <a:ext cx="1828800" cy="38100"/>
          </a:xfrm>
          <a:prstGeom prst="rect">
            <a:avLst/>
          </a:prstGeom>
          <a:solidFill>
            <a:srgbClr val="EB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3017520"/>
            <a:ext cx="10058400" cy="1097280"/>
          </a:xfrm>
          <a:prstGeom prst="rect">
            <a:avLst/>
          </a:prstGeom>
          <a:noFill/>
        </p:spPr>
        <p:txBody>
          <a:bodyPr wrap="square">
            <a:spAutoFit/>
          </a:bodyPr>
          <a:lstStyle/>
          <a:p>
            <a:pPr algn="l">
              <a:defRPr sz="3600" b="1">
                <a:solidFill>
                  <a:srgbClr val="FFFFFF"/>
                </a:solidFill>
                <a:latin typeface="Calibri"/>
              </a:defRPr>
            </a:pPr>
            <a:r>
              <a:t>AI Process Flow</a:t>
            </a:r>
          </a:p>
        </p:txBody>
      </p:sp>
      <p:sp>
        <p:nvSpPr>
          <p:cNvPr id="5" name="TextBox 4"/>
          <p:cNvSpPr txBox="1"/>
          <p:nvPr/>
        </p:nvSpPr>
        <p:spPr>
          <a:xfrm>
            <a:off x="914400" y="4114800"/>
            <a:ext cx="10058400" cy="731520"/>
          </a:xfrm>
          <a:prstGeom prst="rect">
            <a:avLst/>
          </a:prstGeom>
          <a:noFill/>
        </p:spPr>
        <p:txBody>
          <a:bodyPr wrap="square">
            <a:spAutoFit/>
          </a:bodyPr>
          <a:lstStyle/>
          <a:p>
            <a:pPr algn="l">
              <a:defRPr sz="1800" b="0">
                <a:solidFill>
                  <a:srgbClr val="F0AB00"/>
                </a:solidFill>
                <a:latin typeface="Calibri"/>
              </a:defRPr>
            </a:pPr>
            <a:r>
              <a:t>End-to-End Integration with S/4 HANA</a:t>
            </a:r>
          </a:p>
        </p:txBody>
      </p:sp>
      <p:sp>
        <p:nvSpPr>
          <p:cNvPr id="6" name="TextBox 5"/>
          <p:cNvSpPr txBox="1"/>
          <p:nvPr/>
        </p:nvSpPr>
        <p:spPr>
          <a:xfrm>
            <a:off x="685800" y="6400800"/>
            <a:ext cx="10515600" cy="274320"/>
          </a:xfrm>
          <a:prstGeom prst="rect">
            <a:avLst/>
          </a:prstGeom>
          <a:noFill/>
        </p:spPr>
        <p:txBody>
          <a:bodyPr wrap="square">
            <a:spAutoFit/>
          </a:bodyPr>
          <a:lstStyle/>
          <a:p>
            <a:pPr algn="r">
              <a:defRPr sz="900" b="0">
                <a:solidFill>
                  <a:srgbClr val="FFFFFF"/>
                </a:solidFill>
                <a:latin typeface="Calibri"/>
              </a:defRPr>
            </a:pPr>
            <a:r>
              <a:t>Toyota Motors Australia  |  AI-Powered S/4 HANA Transformation  |  Confidential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164592"/>
            <a:ext cx="10515600" cy="640080"/>
          </a:xfrm>
          <a:prstGeom prst="rect">
            <a:avLst/>
          </a:prstGeom>
          <a:noFill/>
        </p:spPr>
        <p:txBody>
          <a:bodyPr wrap="square">
            <a:spAutoFit/>
          </a:bodyPr>
          <a:lstStyle/>
          <a:p>
            <a:pPr algn="l">
              <a:defRPr sz="2800" b="1">
                <a:solidFill>
                  <a:srgbClr val="FFFFFF"/>
                </a:solidFill>
                <a:latin typeface="Calibri"/>
              </a:defRPr>
            </a:pPr>
            <a:r>
              <a:t>End-to-End AI Process Flow — Toyota Supply Chain</a:t>
            </a:r>
          </a:p>
        </p:txBody>
      </p:sp>
      <p:sp>
        <p:nvSpPr>
          <p:cNvPr id="4" name="TextBox 3"/>
          <p:cNvSpPr txBox="1"/>
          <p:nvPr/>
        </p:nvSpPr>
        <p:spPr>
          <a:xfrm>
            <a:off x="457200" y="1188720"/>
            <a:ext cx="2743200" cy="320040"/>
          </a:xfrm>
          <a:prstGeom prst="rect">
            <a:avLst/>
          </a:prstGeom>
          <a:noFill/>
        </p:spPr>
        <p:txBody>
          <a:bodyPr wrap="square">
            <a:spAutoFit/>
          </a:bodyPr>
          <a:lstStyle/>
          <a:p>
            <a:pPr algn="l">
              <a:defRPr sz="1200" b="1">
                <a:solidFill>
                  <a:srgbClr val="EB0023"/>
                </a:solidFill>
                <a:latin typeface="Calibri"/>
              </a:defRPr>
            </a:pPr>
            <a:r>
              <a:t>DATA SOURCES</a:t>
            </a:r>
          </a:p>
        </p:txBody>
      </p:sp>
      <p:sp>
        <p:nvSpPr>
          <p:cNvPr id="5" name="Rounded Rectangle 4"/>
          <p:cNvSpPr/>
          <p:nvPr/>
        </p:nvSpPr>
        <p:spPr>
          <a:xfrm>
            <a:off x="457200" y="1554480"/>
            <a:ext cx="2377440" cy="685800"/>
          </a:xfrm>
          <a:prstGeom prst="roundRect">
            <a:avLst/>
          </a:prstGeom>
          <a:solidFill>
            <a:srgbClr val="F5F5F5"/>
          </a:solidFill>
          <a:ln w="19050">
            <a:solidFill>
              <a:srgbClr val="8888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defRPr sz="1000" b="0">
                <a:solidFill>
                  <a:srgbClr val="333333"/>
                </a:solidFill>
                <a:latin typeface="Calibri"/>
              </a:defRPr>
            </a:pPr>
            <a:r>
              <a:t>S/4 HANA</a:t>
            </a:r>
            <a:br/>
            <a:r>
              <a:t>Transactional Data</a:t>
            </a:r>
          </a:p>
        </p:txBody>
      </p:sp>
      <p:sp>
        <p:nvSpPr>
          <p:cNvPr id="6" name="Rounded Rectangle 5"/>
          <p:cNvSpPr/>
          <p:nvPr/>
        </p:nvSpPr>
        <p:spPr>
          <a:xfrm>
            <a:off x="3108960" y="1554480"/>
            <a:ext cx="2377440" cy="685800"/>
          </a:xfrm>
          <a:prstGeom prst="roundRect">
            <a:avLst/>
          </a:prstGeom>
          <a:solidFill>
            <a:srgbClr val="F5F5F5"/>
          </a:solidFill>
          <a:ln w="19050">
            <a:solidFill>
              <a:srgbClr val="8888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defRPr sz="1000" b="0">
                <a:solidFill>
                  <a:srgbClr val="333333"/>
                </a:solidFill>
                <a:latin typeface="Calibri"/>
              </a:defRPr>
            </a:pPr>
            <a:r>
              <a:t>Dealer POS</a:t>
            </a:r>
            <a:br/>
            <a:r>
              <a:t>&amp; Orders</a:t>
            </a:r>
          </a:p>
        </p:txBody>
      </p:sp>
      <p:sp>
        <p:nvSpPr>
          <p:cNvPr id="7" name="Rounded Rectangle 6"/>
          <p:cNvSpPr/>
          <p:nvPr/>
        </p:nvSpPr>
        <p:spPr>
          <a:xfrm>
            <a:off x="5760720" y="1554480"/>
            <a:ext cx="2377440" cy="685800"/>
          </a:xfrm>
          <a:prstGeom prst="roundRect">
            <a:avLst/>
          </a:prstGeom>
          <a:solidFill>
            <a:srgbClr val="F5F5F5"/>
          </a:solidFill>
          <a:ln w="19050">
            <a:solidFill>
              <a:srgbClr val="8888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defRPr sz="1000" b="0">
                <a:solidFill>
                  <a:srgbClr val="333333"/>
                </a:solidFill>
                <a:latin typeface="Calibri"/>
              </a:defRPr>
            </a:pPr>
            <a:r>
              <a:t>Market Data</a:t>
            </a:r>
            <a:br/>
            <a:r>
              <a:t>&amp; Seasonality</a:t>
            </a:r>
          </a:p>
        </p:txBody>
      </p:sp>
      <p:sp>
        <p:nvSpPr>
          <p:cNvPr id="8" name="Rounded Rectangle 7"/>
          <p:cNvSpPr/>
          <p:nvPr/>
        </p:nvSpPr>
        <p:spPr>
          <a:xfrm>
            <a:off x="8412480" y="1554480"/>
            <a:ext cx="2377440" cy="685800"/>
          </a:xfrm>
          <a:prstGeom prst="roundRect">
            <a:avLst/>
          </a:prstGeom>
          <a:solidFill>
            <a:srgbClr val="F5F5F5"/>
          </a:solidFill>
          <a:ln w="19050">
            <a:solidFill>
              <a:srgbClr val="8888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defRPr sz="1000" b="0">
                <a:solidFill>
                  <a:srgbClr val="333333"/>
                </a:solidFill>
                <a:latin typeface="Calibri"/>
              </a:defRPr>
            </a:pPr>
            <a:r>
              <a:t>Logistics</a:t>
            </a:r>
            <a:br/>
            <a:r>
              <a:t>Network Data</a:t>
            </a:r>
          </a:p>
        </p:txBody>
      </p:sp>
      <p:sp>
        <p:nvSpPr>
          <p:cNvPr id="9" name="Down Arrow 8"/>
          <p:cNvSpPr/>
          <p:nvPr/>
        </p:nvSpPr>
        <p:spPr>
          <a:xfrm>
            <a:off x="1371600" y="2286000"/>
            <a:ext cx="274320" cy="365760"/>
          </a:xfrm>
          <a:prstGeom prst="downArrow">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own Arrow 9"/>
          <p:cNvSpPr/>
          <p:nvPr/>
        </p:nvSpPr>
        <p:spPr>
          <a:xfrm>
            <a:off x="4023360" y="2286000"/>
            <a:ext cx="274320" cy="365760"/>
          </a:xfrm>
          <a:prstGeom prst="downArrow">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own Arrow 10"/>
          <p:cNvSpPr/>
          <p:nvPr/>
        </p:nvSpPr>
        <p:spPr>
          <a:xfrm>
            <a:off x="6675120" y="2286000"/>
            <a:ext cx="274320" cy="365760"/>
          </a:xfrm>
          <a:prstGeom prst="downArrow">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own Arrow 11"/>
          <p:cNvSpPr/>
          <p:nvPr/>
        </p:nvSpPr>
        <p:spPr>
          <a:xfrm>
            <a:off x="9326880" y="2286000"/>
            <a:ext cx="274320" cy="365760"/>
          </a:xfrm>
          <a:prstGeom prst="downArrow">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2697480"/>
            <a:ext cx="2743200" cy="320040"/>
          </a:xfrm>
          <a:prstGeom prst="rect">
            <a:avLst/>
          </a:prstGeom>
          <a:noFill/>
        </p:spPr>
        <p:txBody>
          <a:bodyPr wrap="square">
            <a:spAutoFit/>
          </a:bodyPr>
          <a:lstStyle/>
          <a:p>
            <a:pPr algn="l">
              <a:defRPr sz="1200" b="1">
                <a:solidFill>
                  <a:srgbClr val="EB0023"/>
                </a:solidFill>
                <a:latin typeface="Calibri"/>
              </a:defRPr>
            </a:pPr>
            <a:r>
              <a:t>AI PROCESSING LAYER</a:t>
            </a:r>
          </a:p>
        </p:txBody>
      </p:sp>
      <p:sp>
        <p:nvSpPr>
          <p:cNvPr id="14" name="Rounded Rectangle 13"/>
          <p:cNvSpPr/>
          <p:nvPr/>
        </p:nvSpPr>
        <p:spPr>
          <a:xfrm>
            <a:off x="457200" y="3063240"/>
            <a:ext cx="2377440" cy="777240"/>
          </a:xfrm>
          <a:prstGeom prst="roundRect">
            <a:avLst/>
          </a:prstGeom>
          <a:solidFill>
            <a:srgbClr val="0070F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defRPr sz="1000" b="1">
                <a:solidFill>
                  <a:srgbClr val="FFFFFF"/>
                </a:solidFill>
                <a:latin typeface="Calibri"/>
              </a:defRPr>
            </a:pPr>
            <a:r>
              <a:t>Demand</a:t>
            </a:r>
            <a:br/>
            <a:r>
              <a:t>Forecasting</a:t>
            </a:r>
            <a:br/>
            <a:r>
              <a:t>ML Models</a:t>
            </a:r>
          </a:p>
        </p:txBody>
      </p:sp>
      <p:sp>
        <p:nvSpPr>
          <p:cNvPr id="15" name="Rounded Rectangle 14"/>
          <p:cNvSpPr/>
          <p:nvPr/>
        </p:nvSpPr>
        <p:spPr>
          <a:xfrm>
            <a:off x="3108960" y="3063240"/>
            <a:ext cx="2377440" cy="777240"/>
          </a:xfrm>
          <a:prstGeom prst="roundRect">
            <a:avLst/>
          </a:prstGeom>
          <a:solidFill>
            <a:srgbClr val="00964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defRPr sz="1000" b="1">
                <a:solidFill>
                  <a:srgbClr val="FFFFFF"/>
                </a:solidFill>
                <a:latin typeface="Calibri"/>
              </a:defRPr>
            </a:pPr>
            <a:r>
              <a:t>Inventory</a:t>
            </a:r>
            <a:br/>
            <a:r>
              <a:t>Optimization</a:t>
            </a:r>
            <a:br/>
            <a:r>
              <a:t>Algorithms</a:t>
            </a:r>
          </a:p>
        </p:txBody>
      </p:sp>
      <p:sp>
        <p:nvSpPr>
          <p:cNvPr id="16" name="Rounded Rectangle 15"/>
          <p:cNvSpPr/>
          <p:nvPr/>
        </p:nvSpPr>
        <p:spPr>
          <a:xfrm>
            <a:off x="5760720" y="3063240"/>
            <a:ext cx="2377440" cy="777240"/>
          </a:xfrm>
          <a:prstGeom prst="round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defRPr sz="1000" b="1">
                <a:solidFill>
                  <a:srgbClr val="FFFFFF"/>
                </a:solidFill>
                <a:latin typeface="Calibri"/>
              </a:defRPr>
            </a:pPr>
            <a:r>
              <a:t>Supply Planning</a:t>
            </a:r>
            <a:br/>
            <a:r>
              <a:t>Optimization</a:t>
            </a:r>
            <a:br/>
            <a:r>
              <a:t>Engine</a:t>
            </a:r>
          </a:p>
        </p:txBody>
      </p:sp>
      <p:sp>
        <p:nvSpPr>
          <p:cNvPr id="17" name="Rounded Rectangle 16"/>
          <p:cNvSpPr/>
          <p:nvPr/>
        </p:nvSpPr>
        <p:spPr>
          <a:xfrm>
            <a:off x="8412480" y="3063240"/>
            <a:ext cx="2377440" cy="777240"/>
          </a:xfrm>
          <a:prstGeom prst="roundRect">
            <a:avLst/>
          </a:prstGeom>
          <a:solidFill>
            <a:srgbClr val="00899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defRPr sz="1000" b="1">
                <a:solidFill>
                  <a:srgbClr val="FFFFFF"/>
                </a:solidFill>
                <a:latin typeface="Calibri"/>
              </a:defRPr>
            </a:pPr>
            <a:r>
              <a:t>Logistics Route</a:t>
            </a:r>
            <a:br/>
            <a:r>
              <a:t>&amp; Load</a:t>
            </a:r>
            <a:br/>
            <a:r>
              <a:t>Optimization</a:t>
            </a:r>
          </a:p>
        </p:txBody>
      </p:sp>
      <p:sp>
        <p:nvSpPr>
          <p:cNvPr id="18" name="Down Arrow 17"/>
          <p:cNvSpPr/>
          <p:nvPr/>
        </p:nvSpPr>
        <p:spPr>
          <a:xfrm>
            <a:off x="1371600" y="3886200"/>
            <a:ext cx="274320" cy="365760"/>
          </a:xfrm>
          <a:prstGeom prst="downArrow">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Down Arrow 18"/>
          <p:cNvSpPr/>
          <p:nvPr/>
        </p:nvSpPr>
        <p:spPr>
          <a:xfrm>
            <a:off x="4023360" y="3886200"/>
            <a:ext cx="274320" cy="365760"/>
          </a:xfrm>
          <a:prstGeom prst="downArrow">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Down Arrow 19"/>
          <p:cNvSpPr/>
          <p:nvPr/>
        </p:nvSpPr>
        <p:spPr>
          <a:xfrm>
            <a:off x="6675120" y="3886200"/>
            <a:ext cx="274320" cy="365760"/>
          </a:xfrm>
          <a:prstGeom prst="downArrow">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Down Arrow 20"/>
          <p:cNvSpPr/>
          <p:nvPr/>
        </p:nvSpPr>
        <p:spPr>
          <a:xfrm>
            <a:off x="9326880" y="3886200"/>
            <a:ext cx="274320" cy="365760"/>
          </a:xfrm>
          <a:prstGeom prst="downArrow">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200" y="4297680"/>
            <a:ext cx="2743200" cy="320040"/>
          </a:xfrm>
          <a:prstGeom prst="rect">
            <a:avLst/>
          </a:prstGeom>
          <a:noFill/>
        </p:spPr>
        <p:txBody>
          <a:bodyPr wrap="square">
            <a:spAutoFit/>
          </a:bodyPr>
          <a:lstStyle/>
          <a:p>
            <a:pPr algn="l">
              <a:defRPr sz="1200" b="1">
                <a:solidFill>
                  <a:srgbClr val="EB0023"/>
                </a:solidFill>
                <a:latin typeface="Calibri"/>
              </a:defRPr>
            </a:pPr>
            <a:r>
              <a:t>S/4 HANA AUTOMATED ACTIONS</a:t>
            </a:r>
          </a:p>
        </p:txBody>
      </p:sp>
      <p:sp>
        <p:nvSpPr>
          <p:cNvPr id="23" name="Rounded Rectangle 22"/>
          <p:cNvSpPr/>
          <p:nvPr/>
        </p:nvSpPr>
        <p:spPr>
          <a:xfrm>
            <a:off x="457200" y="4663440"/>
            <a:ext cx="2377440" cy="777240"/>
          </a:xfrm>
          <a:prstGeom prst="round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defRPr sz="1000" b="1">
                <a:solidFill>
                  <a:srgbClr val="FFFFFF"/>
                </a:solidFill>
                <a:latin typeface="Calibri"/>
              </a:defRPr>
            </a:pPr>
            <a:r>
              <a:t>Auto-generate</a:t>
            </a:r>
            <a:br/>
            <a:r>
              <a:t>Purchase Orders</a:t>
            </a:r>
            <a:br/>
            <a:r>
              <a:t>(MM/Procurement)</a:t>
            </a:r>
          </a:p>
        </p:txBody>
      </p:sp>
      <p:sp>
        <p:nvSpPr>
          <p:cNvPr id="24" name="Rounded Rectangle 23"/>
          <p:cNvSpPr/>
          <p:nvPr/>
        </p:nvSpPr>
        <p:spPr>
          <a:xfrm>
            <a:off x="3108960" y="4663440"/>
            <a:ext cx="2377440" cy="777240"/>
          </a:xfrm>
          <a:prstGeom prst="round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defRPr sz="1000" b="1">
                <a:solidFill>
                  <a:srgbClr val="FFFFFF"/>
                </a:solidFill>
                <a:latin typeface="Calibri"/>
              </a:defRPr>
            </a:pPr>
            <a:r>
              <a:t>Reorder Point</a:t>
            </a:r>
            <a:br/>
            <a:r>
              <a:t>Adjustment</a:t>
            </a:r>
            <a:br/>
            <a:r>
              <a:t>(MM/Inventory)</a:t>
            </a:r>
          </a:p>
        </p:txBody>
      </p:sp>
      <p:sp>
        <p:nvSpPr>
          <p:cNvPr id="25" name="Rounded Rectangle 24"/>
          <p:cNvSpPr/>
          <p:nvPr/>
        </p:nvSpPr>
        <p:spPr>
          <a:xfrm>
            <a:off x="5760720" y="4663440"/>
            <a:ext cx="2377440" cy="777240"/>
          </a:xfrm>
          <a:prstGeom prst="round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defRPr sz="1000" b="1">
                <a:solidFill>
                  <a:srgbClr val="FFFFFF"/>
                </a:solidFill>
                <a:latin typeface="Calibri"/>
              </a:defRPr>
            </a:pPr>
            <a:r>
              <a:t>Warehouse Task</a:t>
            </a:r>
            <a:br/>
            <a:r>
              <a:t>Prioritization</a:t>
            </a:r>
            <a:br/>
            <a:r>
              <a:t>(EWM)</a:t>
            </a:r>
          </a:p>
        </p:txBody>
      </p:sp>
      <p:sp>
        <p:nvSpPr>
          <p:cNvPr id="26" name="Rounded Rectangle 25"/>
          <p:cNvSpPr/>
          <p:nvPr/>
        </p:nvSpPr>
        <p:spPr>
          <a:xfrm>
            <a:off x="8412480" y="4663440"/>
            <a:ext cx="2377440" cy="777240"/>
          </a:xfrm>
          <a:prstGeom prst="round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defRPr sz="1000" b="1">
                <a:solidFill>
                  <a:srgbClr val="FFFFFF"/>
                </a:solidFill>
                <a:latin typeface="Calibri"/>
              </a:defRPr>
            </a:pPr>
            <a:r>
              <a:t>Delivery Route</a:t>
            </a:r>
            <a:br/>
            <a:r>
              <a:t>Optimization</a:t>
            </a:r>
            <a:br/>
            <a:r>
              <a:t>(SD/TM)</a:t>
            </a:r>
          </a:p>
        </p:txBody>
      </p:sp>
      <p:sp>
        <p:nvSpPr>
          <p:cNvPr id="27" name="TextBox 26"/>
          <p:cNvSpPr txBox="1"/>
          <p:nvPr/>
        </p:nvSpPr>
        <p:spPr>
          <a:xfrm>
            <a:off x="457200" y="5623560"/>
            <a:ext cx="10972800" cy="320040"/>
          </a:xfrm>
          <a:prstGeom prst="rect">
            <a:avLst/>
          </a:prstGeom>
          <a:noFill/>
        </p:spPr>
        <p:txBody>
          <a:bodyPr wrap="square">
            <a:spAutoFit/>
          </a:bodyPr>
          <a:lstStyle/>
          <a:p>
            <a:pPr algn="l">
              <a:defRPr sz="1100" b="1">
                <a:solidFill>
                  <a:srgbClr val="EB0023"/>
                </a:solidFill>
                <a:latin typeface="Calibri"/>
              </a:defRPr>
            </a:pPr>
            <a:r>
              <a:t>↻  Continuous feedback loop: Actual vs. Predicted outcomes feed back into ML models for self-improving accuracy</a:t>
            </a:r>
          </a:p>
        </p:txBody>
      </p:sp>
      <p:sp>
        <p:nvSpPr>
          <p:cNvPr id="28" name="TextBox 27"/>
          <p:cNvSpPr txBox="1"/>
          <p:nvPr/>
        </p:nvSpPr>
        <p:spPr>
          <a:xfrm>
            <a:off x="685800" y="6400800"/>
            <a:ext cx="10515600" cy="274320"/>
          </a:xfrm>
          <a:prstGeom prst="rect">
            <a:avLst/>
          </a:prstGeom>
          <a:noFill/>
        </p:spPr>
        <p:txBody>
          <a:bodyPr wrap="square">
            <a:spAutoFit/>
          </a:bodyPr>
          <a:lstStyle/>
          <a:p>
            <a:pPr algn="r">
              <a:defRPr sz="900" b="0">
                <a:solidFill>
                  <a:srgbClr val="888888"/>
                </a:solidFill>
                <a:latin typeface="Calibri"/>
              </a:defRPr>
            </a:pPr>
            <a:r>
              <a:t>Toyota Motors Australia  |  AI-Powered S/4 HANA Transformation  |  Confidential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164592"/>
            <a:ext cx="10515600" cy="640080"/>
          </a:xfrm>
          <a:prstGeom prst="rect">
            <a:avLst/>
          </a:prstGeom>
          <a:noFill/>
        </p:spPr>
        <p:txBody>
          <a:bodyPr wrap="square">
            <a:spAutoFit/>
          </a:bodyPr>
          <a:lstStyle/>
          <a:p>
            <a:pPr algn="l">
              <a:defRPr sz="2800" b="1">
                <a:solidFill>
                  <a:srgbClr val="FFFFFF"/>
                </a:solidFill>
                <a:latin typeface="Calibri"/>
              </a:defRPr>
            </a:pPr>
            <a:r>
              <a:t>Detailed Integration Flow — S/4 HANA Module Interactions</a:t>
            </a:r>
          </a:p>
        </p:txBody>
      </p:sp>
      <p:sp>
        <p:nvSpPr>
          <p:cNvPr id="4" name="Rounded Rectangle 3"/>
          <p:cNvSpPr/>
          <p:nvPr/>
        </p:nvSpPr>
        <p:spPr>
          <a:xfrm>
            <a:off x="457200" y="1234440"/>
            <a:ext cx="457200" cy="411480"/>
          </a:xfrm>
          <a:prstGeom prst="roundRect">
            <a:avLst/>
          </a:prstGeom>
          <a:solidFill>
            <a:srgbClr val="00899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defRPr sz="1400" b="1">
                <a:solidFill>
                  <a:srgbClr val="FFFFFF"/>
                </a:solidFill>
                <a:latin typeface="Calibri"/>
              </a:defRPr>
            </a:pPr>
            <a:r>
              <a:t>1</a:t>
            </a:r>
          </a:p>
        </p:txBody>
      </p:sp>
      <p:sp>
        <p:nvSpPr>
          <p:cNvPr id="5" name="TextBox 4"/>
          <p:cNvSpPr txBox="1"/>
          <p:nvPr/>
        </p:nvSpPr>
        <p:spPr>
          <a:xfrm>
            <a:off x="1051560" y="1261872"/>
            <a:ext cx="5943600" cy="365760"/>
          </a:xfrm>
          <a:prstGeom prst="rect">
            <a:avLst/>
          </a:prstGeom>
          <a:noFill/>
        </p:spPr>
        <p:txBody>
          <a:bodyPr wrap="square">
            <a:spAutoFit/>
          </a:bodyPr>
          <a:lstStyle/>
          <a:p>
            <a:pPr algn="l">
              <a:defRPr sz="1200" b="0">
                <a:solidFill>
                  <a:srgbClr val="333333"/>
                </a:solidFill>
                <a:latin typeface="Calibri"/>
              </a:defRPr>
            </a:pPr>
            <a:r>
              <a:t>Dealer places order / POS data captured</a:t>
            </a:r>
          </a:p>
        </p:txBody>
      </p:sp>
      <p:sp>
        <p:nvSpPr>
          <p:cNvPr id="6" name="Rounded Rectangle 5"/>
          <p:cNvSpPr/>
          <p:nvPr/>
        </p:nvSpPr>
        <p:spPr>
          <a:xfrm>
            <a:off x="7132320" y="1234440"/>
            <a:ext cx="1371600" cy="411480"/>
          </a:xfrm>
          <a:prstGeom prst="roundRect">
            <a:avLst/>
          </a:prstGeom>
          <a:solidFill>
            <a:srgbClr val="00899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defRPr sz="1000" b="1">
                <a:solidFill>
                  <a:srgbClr val="FFFFFF"/>
                </a:solidFill>
                <a:latin typeface="Calibri"/>
              </a:defRPr>
            </a:pPr>
            <a:r>
              <a:t>SD Module</a:t>
            </a:r>
          </a:p>
        </p:txBody>
      </p:sp>
      <p:sp>
        <p:nvSpPr>
          <p:cNvPr id="7" name="Rounded Rectangle 6"/>
          <p:cNvSpPr/>
          <p:nvPr/>
        </p:nvSpPr>
        <p:spPr>
          <a:xfrm>
            <a:off x="457200" y="1764792"/>
            <a:ext cx="457200" cy="411480"/>
          </a:xfrm>
          <a:prstGeom prst="roundRect">
            <a:avLst/>
          </a:prstGeom>
          <a:solidFill>
            <a:srgbClr val="0070F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defRPr sz="1400" b="1">
                <a:solidFill>
                  <a:srgbClr val="FFFFFF"/>
                </a:solidFill>
                <a:latin typeface="Calibri"/>
              </a:defRPr>
            </a:pPr>
            <a:r>
              <a:t>2</a:t>
            </a:r>
          </a:p>
        </p:txBody>
      </p:sp>
      <p:sp>
        <p:nvSpPr>
          <p:cNvPr id="8" name="TextBox 7"/>
          <p:cNvSpPr txBox="1"/>
          <p:nvPr/>
        </p:nvSpPr>
        <p:spPr>
          <a:xfrm>
            <a:off x="1051560" y="1792224"/>
            <a:ext cx="5943600" cy="365760"/>
          </a:xfrm>
          <a:prstGeom prst="rect">
            <a:avLst/>
          </a:prstGeom>
          <a:noFill/>
        </p:spPr>
        <p:txBody>
          <a:bodyPr wrap="square">
            <a:spAutoFit/>
          </a:bodyPr>
          <a:lstStyle/>
          <a:p>
            <a:pPr algn="l">
              <a:defRPr sz="1200" b="0">
                <a:solidFill>
                  <a:srgbClr val="333333"/>
                </a:solidFill>
                <a:latin typeface="Calibri"/>
              </a:defRPr>
            </a:pPr>
            <a:r>
              <a:t>AI Demand Engine generates 30/60/90-day forecast</a:t>
            </a:r>
          </a:p>
        </p:txBody>
      </p:sp>
      <p:sp>
        <p:nvSpPr>
          <p:cNvPr id="9" name="Rounded Rectangle 8"/>
          <p:cNvSpPr/>
          <p:nvPr/>
        </p:nvSpPr>
        <p:spPr>
          <a:xfrm>
            <a:off x="7132320" y="1764792"/>
            <a:ext cx="1371600" cy="411480"/>
          </a:xfrm>
          <a:prstGeom prst="roundRect">
            <a:avLst/>
          </a:prstGeom>
          <a:solidFill>
            <a:srgbClr val="0070F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defRPr sz="1000" b="1">
                <a:solidFill>
                  <a:srgbClr val="FFFFFF"/>
                </a:solidFill>
                <a:latin typeface="Calibri"/>
              </a:defRPr>
            </a:pPr>
            <a:r>
              <a:t>AI Layer</a:t>
            </a:r>
          </a:p>
        </p:txBody>
      </p:sp>
      <p:sp>
        <p:nvSpPr>
          <p:cNvPr id="10" name="Rounded Rectangle 9"/>
          <p:cNvSpPr/>
          <p:nvPr/>
        </p:nvSpPr>
        <p:spPr>
          <a:xfrm>
            <a:off x="457200" y="2295144"/>
            <a:ext cx="457200" cy="411480"/>
          </a:xfrm>
          <a:prstGeom prst="roundRect">
            <a:avLst/>
          </a:prstGeom>
          <a:solidFill>
            <a:srgbClr val="00964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defRPr sz="1400" b="1">
                <a:solidFill>
                  <a:srgbClr val="FFFFFF"/>
                </a:solidFill>
                <a:latin typeface="Calibri"/>
              </a:defRPr>
            </a:pPr>
            <a:r>
              <a:t>3</a:t>
            </a:r>
          </a:p>
        </p:txBody>
      </p:sp>
      <p:sp>
        <p:nvSpPr>
          <p:cNvPr id="11" name="TextBox 10"/>
          <p:cNvSpPr txBox="1"/>
          <p:nvPr/>
        </p:nvSpPr>
        <p:spPr>
          <a:xfrm>
            <a:off x="1051560" y="2322576"/>
            <a:ext cx="5943600" cy="365760"/>
          </a:xfrm>
          <a:prstGeom prst="rect">
            <a:avLst/>
          </a:prstGeom>
          <a:noFill/>
        </p:spPr>
        <p:txBody>
          <a:bodyPr wrap="square">
            <a:spAutoFit/>
          </a:bodyPr>
          <a:lstStyle/>
          <a:p>
            <a:pPr algn="l">
              <a:defRPr sz="1200" b="0">
                <a:solidFill>
                  <a:srgbClr val="333333"/>
                </a:solidFill>
                <a:latin typeface="Calibri"/>
              </a:defRPr>
            </a:pPr>
            <a:r>
              <a:t>Inventory Optimizer calculates optimal stock levels</a:t>
            </a:r>
          </a:p>
        </p:txBody>
      </p:sp>
      <p:sp>
        <p:nvSpPr>
          <p:cNvPr id="12" name="Rounded Rectangle 11"/>
          <p:cNvSpPr/>
          <p:nvPr/>
        </p:nvSpPr>
        <p:spPr>
          <a:xfrm>
            <a:off x="7132320" y="2295144"/>
            <a:ext cx="1371600" cy="411480"/>
          </a:xfrm>
          <a:prstGeom prst="roundRect">
            <a:avLst/>
          </a:prstGeom>
          <a:solidFill>
            <a:srgbClr val="00964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defRPr sz="1000" b="1">
                <a:solidFill>
                  <a:srgbClr val="FFFFFF"/>
                </a:solidFill>
                <a:latin typeface="Calibri"/>
              </a:defRPr>
            </a:pPr>
            <a:r>
              <a:t>AI Layer</a:t>
            </a:r>
          </a:p>
        </p:txBody>
      </p:sp>
      <p:sp>
        <p:nvSpPr>
          <p:cNvPr id="13" name="Rounded Rectangle 12"/>
          <p:cNvSpPr/>
          <p:nvPr/>
        </p:nvSpPr>
        <p:spPr>
          <a:xfrm>
            <a:off x="457200" y="2825496"/>
            <a:ext cx="457200" cy="411480"/>
          </a:xfrm>
          <a:prstGeom prst="round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defRPr sz="1400" b="1">
                <a:solidFill>
                  <a:srgbClr val="FFFFFF"/>
                </a:solidFill>
                <a:latin typeface="Calibri"/>
              </a:defRPr>
            </a:pPr>
            <a:r>
              <a:t>4</a:t>
            </a:r>
          </a:p>
        </p:txBody>
      </p:sp>
      <p:sp>
        <p:nvSpPr>
          <p:cNvPr id="14" name="TextBox 13"/>
          <p:cNvSpPr txBox="1"/>
          <p:nvPr/>
        </p:nvSpPr>
        <p:spPr>
          <a:xfrm>
            <a:off x="1051560" y="2852928"/>
            <a:ext cx="5943600" cy="365760"/>
          </a:xfrm>
          <a:prstGeom prst="rect">
            <a:avLst/>
          </a:prstGeom>
          <a:noFill/>
        </p:spPr>
        <p:txBody>
          <a:bodyPr wrap="square">
            <a:spAutoFit/>
          </a:bodyPr>
          <a:lstStyle/>
          <a:p>
            <a:pPr algn="l">
              <a:defRPr sz="1200" b="0">
                <a:solidFill>
                  <a:srgbClr val="333333"/>
                </a:solidFill>
                <a:latin typeface="Calibri"/>
              </a:defRPr>
            </a:pPr>
            <a:r>
              <a:t>MRP run triggered with AI-adjusted parameters</a:t>
            </a:r>
          </a:p>
        </p:txBody>
      </p:sp>
      <p:sp>
        <p:nvSpPr>
          <p:cNvPr id="15" name="Rounded Rectangle 14"/>
          <p:cNvSpPr/>
          <p:nvPr/>
        </p:nvSpPr>
        <p:spPr>
          <a:xfrm>
            <a:off x="7132320" y="2825496"/>
            <a:ext cx="1371600" cy="411480"/>
          </a:xfrm>
          <a:prstGeom prst="round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defRPr sz="1000" b="1">
                <a:solidFill>
                  <a:srgbClr val="FFFFFF"/>
                </a:solidFill>
                <a:latin typeface="Calibri"/>
              </a:defRPr>
            </a:pPr>
            <a:r>
              <a:t>MM Module</a:t>
            </a:r>
          </a:p>
        </p:txBody>
      </p:sp>
      <p:sp>
        <p:nvSpPr>
          <p:cNvPr id="16" name="Rounded Rectangle 15"/>
          <p:cNvSpPr/>
          <p:nvPr/>
        </p:nvSpPr>
        <p:spPr>
          <a:xfrm>
            <a:off x="457200" y="3355848"/>
            <a:ext cx="457200" cy="411480"/>
          </a:xfrm>
          <a:prstGeom prst="roundRect">
            <a:avLst/>
          </a:prstGeom>
          <a:solidFill>
            <a:srgbClr val="0070F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defRPr sz="1400" b="1">
                <a:solidFill>
                  <a:srgbClr val="FFFFFF"/>
                </a:solidFill>
                <a:latin typeface="Calibri"/>
              </a:defRPr>
            </a:pPr>
            <a:r>
              <a:t>5</a:t>
            </a:r>
          </a:p>
        </p:txBody>
      </p:sp>
      <p:sp>
        <p:nvSpPr>
          <p:cNvPr id="17" name="TextBox 16"/>
          <p:cNvSpPr txBox="1"/>
          <p:nvPr/>
        </p:nvSpPr>
        <p:spPr>
          <a:xfrm>
            <a:off x="1051560" y="3383280"/>
            <a:ext cx="5943600" cy="365760"/>
          </a:xfrm>
          <a:prstGeom prst="rect">
            <a:avLst/>
          </a:prstGeom>
          <a:noFill/>
        </p:spPr>
        <p:txBody>
          <a:bodyPr wrap="square">
            <a:spAutoFit/>
          </a:bodyPr>
          <a:lstStyle/>
          <a:p>
            <a:pPr algn="l">
              <a:defRPr sz="1200" b="0">
                <a:solidFill>
                  <a:srgbClr val="333333"/>
                </a:solidFill>
                <a:latin typeface="Calibri"/>
              </a:defRPr>
            </a:pPr>
            <a:r>
              <a:t>Purchase requisitions auto-created for shortfalls</a:t>
            </a:r>
          </a:p>
        </p:txBody>
      </p:sp>
      <p:sp>
        <p:nvSpPr>
          <p:cNvPr id="18" name="Rounded Rectangle 17"/>
          <p:cNvSpPr/>
          <p:nvPr/>
        </p:nvSpPr>
        <p:spPr>
          <a:xfrm>
            <a:off x="7132320" y="3355848"/>
            <a:ext cx="1371600" cy="411480"/>
          </a:xfrm>
          <a:prstGeom prst="roundRect">
            <a:avLst/>
          </a:prstGeom>
          <a:solidFill>
            <a:srgbClr val="0070F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defRPr sz="1000" b="1">
                <a:solidFill>
                  <a:srgbClr val="FFFFFF"/>
                </a:solidFill>
                <a:latin typeface="Calibri"/>
              </a:defRPr>
            </a:pPr>
            <a:r>
              <a:t>Procurement</a:t>
            </a:r>
          </a:p>
        </p:txBody>
      </p:sp>
      <p:sp>
        <p:nvSpPr>
          <p:cNvPr id="19" name="Rounded Rectangle 18"/>
          <p:cNvSpPr/>
          <p:nvPr/>
        </p:nvSpPr>
        <p:spPr>
          <a:xfrm>
            <a:off x="457200" y="3886200"/>
            <a:ext cx="457200" cy="411480"/>
          </a:xfrm>
          <a:prstGeom prst="round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defRPr sz="1400" b="1">
                <a:solidFill>
                  <a:srgbClr val="FFFFFF"/>
                </a:solidFill>
                <a:latin typeface="Calibri"/>
              </a:defRPr>
            </a:pPr>
            <a:r>
              <a:t>6</a:t>
            </a:r>
          </a:p>
        </p:txBody>
      </p:sp>
      <p:sp>
        <p:nvSpPr>
          <p:cNvPr id="20" name="TextBox 19"/>
          <p:cNvSpPr txBox="1"/>
          <p:nvPr/>
        </p:nvSpPr>
        <p:spPr>
          <a:xfrm>
            <a:off x="1051560" y="3913632"/>
            <a:ext cx="5943600" cy="365760"/>
          </a:xfrm>
          <a:prstGeom prst="rect">
            <a:avLst/>
          </a:prstGeom>
          <a:noFill/>
        </p:spPr>
        <p:txBody>
          <a:bodyPr wrap="square">
            <a:spAutoFit/>
          </a:bodyPr>
          <a:lstStyle/>
          <a:p>
            <a:pPr algn="l">
              <a:defRPr sz="1200" b="0">
                <a:solidFill>
                  <a:srgbClr val="333333"/>
                </a:solidFill>
                <a:latin typeface="Calibri"/>
              </a:defRPr>
            </a:pPr>
            <a:r>
              <a:t>EWM receives inbound delivery &amp; optimizes putaway</a:t>
            </a:r>
          </a:p>
        </p:txBody>
      </p:sp>
      <p:sp>
        <p:nvSpPr>
          <p:cNvPr id="21" name="Rounded Rectangle 20"/>
          <p:cNvSpPr/>
          <p:nvPr/>
        </p:nvSpPr>
        <p:spPr>
          <a:xfrm>
            <a:off x="7132320" y="3886200"/>
            <a:ext cx="1371600" cy="411480"/>
          </a:xfrm>
          <a:prstGeom prst="round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defRPr sz="1000" b="1">
                <a:solidFill>
                  <a:srgbClr val="FFFFFF"/>
                </a:solidFill>
                <a:latin typeface="Calibri"/>
              </a:defRPr>
            </a:pPr>
            <a:r>
              <a:t>EWM Module</a:t>
            </a:r>
          </a:p>
        </p:txBody>
      </p:sp>
      <p:sp>
        <p:nvSpPr>
          <p:cNvPr id="22" name="Rounded Rectangle 21"/>
          <p:cNvSpPr/>
          <p:nvPr/>
        </p:nvSpPr>
        <p:spPr>
          <a:xfrm>
            <a:off x="457200" y="4416552"/>
            <a:ext cx="457200" cy="411480"/>
          </a:xfrm>
          <a:prstGeom prst="roundRect">
            <a:avLst/>
          </a:prstGeom>
          <a:solidFill>
            <a:srgbClr val="00899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defRPr sz="1400" b="1">
                <a:solidFill>
                  <a:srgbClr val="FFFFFF"/>
                </a:solidFill>
                <a:latin typeface="Calibri"/>
              </a:defRPr>
            </a:pPr>
            <a:r>
              <a:t>7</a:t>
            </a:r>
          </a:p>
        </p:txBody>
      </p:sp>
      <p:sp>
        <p:nvSpPr>
          <p:cNvPr id="23" name="TextBox 22"/>
          <p:cNvSpPr txBox="1"/>
          <p:nvPr/>
        </p:nvSpPr>
        <p:spPr>
          <a:xfrm>
            <a:off x="1051560" y="4443984"/>
            <a:ext cx="5943600" cy="365760"/>
          </a:xfrm>
          <a:prstGeom prst="rect">
            <a:avLst/>
          </a:prstGeom>
          <a:noFill/>
        </p:spPr>
        <p:txBody>
          <a:bodyPr wrap="square">
            <a:spAutoFit/>
          </a:bodyPr>
          <a:lstStyle/>
          <a:p>
            <a:pPr algn="l">
              <a:defRPr sz="1200" b="0">
                <a:solidFill>
                  <a:srgbClr val="333333"/>
                </a:solidFill>
                <a:latin typeface="Calibri"/>
              </a:defRPr>
            </a:pPr>
            <a:r>
              <a:t>AI Logistics engine optimizes outbound routes</a:t>
            </a:r>
          </a:p>
        </p:txBody>
      </p:sp>
      <p:sp>
        <p:nvSpPr>
          <p:cNvPr id="24" name="Rounded Rectangle 23"/>
          <p:cNvSpPr/>
          <p:nvPr/>
        </p:nvSpPr>
        <p:spPr>
          <a:xfrm>
            <a:off x="7132320" y="4416552"/>
            <a:ext cx="1371600" cy="411480"/>
          </a:xfrm>
          <a:prstGeom prst="roundRect">
            <a:avLst/>
          </a:prstGeom>
          <a:solidFill>
            <a:srgbClr val="00899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defRPr sz="1000" b="1">
                <a:solidFill>
                  <a:srgbClr val="FFFFFF"/>
                </a:solidFill>
                <a:latin typeface="Calibri"/>
              </a:defRPr>
            </a:pPr>
            <a:r>
              <a:t>AI Layer</a:t>
            </a:r>
          </a:p>
        </p:txBody>
      </p:sp>
      <p:sp>
        <p:nvSpPr>
          <p:cNvPr id="25" name="Rounded Rectangle 24"/>
          <p:cNvSpPr/>
          <p:nvPr/>
        </p:nvSpPr>
        <p:spPr>
          <a:xfrm>
            <a:off x="457200" y="4946904"/>
            <a:ext cx="457200" cy="411480"/>
          </a:xfrm>
          <a:prstGeom prst="roundRect">
            <a:avLst/>
          </a:prstGeom>
          <a:solidFill>
            <a:srgbClr val="00899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defRPr sz="1400" b="1">
                <a:solidFill>
                  <a:srgbClr val="FFFFFF"/>
                </a:solidFill>
                <a:latin typeface="Calibri"/>
              </a:defRPr>
            </a:pPr>
            <a:r>
              <a:t>8</a:t>
            </a:r>
          </a:p>
        </p:txBody>
      </p:sp>
      <p:sp>
        <p:nvSpPr>
          <p:cNvPr id="26" name="TextBox 25"/>
          <p:cNvSpPr txBox="1"/>
          <p:nvPr/>
        </p:nvSpPr>
        <p:spPr>
          <a:xfrm>
            <a:off x="1051560" y="4974336"/>
            <a:ext cx="5943600" cy="365760"/>
          </a:xfrm>
          <a:prstGeom prst="rect">
            <a:avLst/>
          </a:prstGeom>
          <a:noFill/>
        </p:spPr>
        <p:txBody>
          <a:bodyPr wrap="square">
            <a:spAutoFit/>
          </a:bodyPr>
          <a:lstStyle/>
          <a:p>
            <a:pPr algn="l">
              <a:defRPr sz="1200" b="0">
                <a:solidFill>
                  <a:srgbClr val="333333"/>
                </a:solidFill>
                <a:latin typeface="Calibri"/>
              </a:defRPr>
            </a:pPr>
            <a:r>
              <a:t>SD creates delivery with optimized transport plan</a:t>
            </a:r>
          </a:p>
        </p:txBody>
      </p:sp>
      <p:sp>
        <p:nvSpPr>
          <p:cNvPr id="27" name="Rounded Rectangle 26"/>
          <p:cNvSpPr/>
          <p:nvPr/>
        </p:nvSpPr>
        <p:spPr>
          <a:xfrm>
            <a:off x="7132320" y="4946904"/>
            <a:ext cx="1371600" cy="411480"/>
          </a:xfrm>
          <a:prstGeom prst="roundRect">
            <a:avLst/>
          </a:prstGeom>
          <a:solidFill>
            <a:srgbClr val="00899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defRPr sz="1000" b="1">
                <a:solidFill>
                  <a:srgbClr val="FFFFFF"/>
                </a:solidFill>
                <a:latin typeface="Calibri"/>
              </a:defRPr>
            </a:pPr>
            <a:r>
              <a:t>SD Module</a:t>
            </a:r>
          </a:p>
        </p:txBody>
      </p:sp>
      <p:sp>
        <p:nvSpPr>
          <p:cNvPr id="28" name="TextBox 27"/>
          <p:cNvSpPr txBox="1"/>
          <p:nvPr/>
        </p:nvSpPr>
        <p:spPr>
          <a:xfrm>
            <a:off x="8961120" y="1234440"/>
            <a:ext cx="2743200" cy="320040"/>
          </a:xfrm>
          <a:prstGeom prst="rect">
            <a:avLst/>
          </a:prstGeom>
          <a:noFill/>
        </p:spPr>
        <p:txBody>
          <a:bodyPr wrap="square">
            <a:spAutoFit/>
          </a:bodyPr>
          <a:lstStyle/>
          <a:p>
            <a:pPr algn="l">
              <a:defRPr sz="1400" b="1">
                <a:solidFill>
                  <a:srgbClr val="1A1A2E"/>
                </a:solidFill>
                <a:latin typeface="Calibri"/>
              </a:defRPr>
            </a:pPr>
            <a:r>
              <a:t>S/4 HANA Modules</a:t>
            </a:r>
          </a:p>
        </p:txBody>
      </p:sp>
      <p:sp>
        <p:nvSpPr>
          <p:cNvPr id="29" name="Rounded Rectangle 28"/>
          <p:cNvSpPr/>
          <p:nvPr/>
        </p:nvSpPr>
        <p:spPr>
          <a:xfrm>
            <a:off x="8961120" y="1691640"/>
            <a:ext cx="548640" cy="320040"/>
          </a:xfrm>
          <a:prstGeom prst="roundRect">
            <a:avLst/>
          </a:prstGeom>
          <a:solidFill>
            <a:srgbClr val="00899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defRPr sz="1000" b="1">
                <a:solidFill>
                  <a:srgbClr val="FFFFFF"/>
                </a:solidFill>
                <a:latin typeface="Calibri"/>
              </a:defRPr>
            </a:pPr>
            <a:r>
              <a:t>SD</a:t>
            </a:r>
          </a:p>
        </p:txBody>
      </p:sp>
      <p:sp>
        <p:nvSpPr>
          <p:cNvPr id="30" name="TextBox 29"/>
          <p:cNvSpPr txBox="1"/>
          <p:nvPr/>
        </p:nvSpPr>
        <p:spPr>
          <a:xfrm>
            <a:off x="9601200" y="1709928"/>
            <a:ext cx="2286000" cy="274320"/>
          </a:xfrm>
          <a:prstGeom prst="rect">
            <a:avLst/>
          </a:prstGeom>
          <a:noFill/>
        </p:spPr>
        <p:txBody>
          <a:bodyPr wrap="square">
            <a:spAutoFit/>
          </a:bodyPr>
          <a:lstStyle/>
          <a:p>
            <a:pPr algn="l">
              <a:defRPr sz="1100" b="0">
                <a:solidFill>
                  <a:srgbClr val="333333"/>
                </a:solidFill>
                <a:latin typeface="Calibri"/>
              </a:defRPr>
            </a:pPr>
            <a:r>
              <a:t>Sales &amp; Distribution</a:t>
            </a:r>
          </a:p>
        </p:txBody>
      </p:sp>
      <p:sp>
        <p:nvSpPr>
          <p:cNvPr id="31" name="Rounded Rectangle 30"/>
          <p:cNvSpPr/>
          <p:nvPr/>
        </p:nvSpPr>
        <p:spPr>
          <a:xfrm>
            <a:off x="8961120" y="2103120"/>
            <a:ext cx="548640" cy="320040"/>
          </a:xfrm>
          <a:prstGeom prst="round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defRPr sz="1000" b="1">
                <a:solidFill>
                  <a:srgbClr val="FFFFFF"/>
                </a:solidFill>
                <a:latin typeface="Calibri"/>
              </a:defRPr>
            </a:pPr>
            <a:r>
              <a:t>MM</a:t>
            </a:r>
          </a:p>
        </p:txBody>
      </p:sp>
      <p:sp>
        <p:nvSpPr>
          <p:cNvPr id="32" name="TextBox 31"/>
          <p:cNvSpPr txBox="1"/>
          <p:nvPr/>
        </p:nvSpPr>
        <p:spPr>
          <a:xfrm>
            <a:off x="9601200" y="2121408"/>
            <a:ext cx="2286000" cy="274320"/>
          </a:xfrm>
          <a:prstGeom prst="rect">
            <a:avLst/>
          </a:prstGeom>
          <a:noFill/>
        </p:spPr>
        <p:txBody>
          <a:bodyPr wrap="square">
            <a:spAutoFit/>
          </a:bodyPr>
          <a:lstStyle/>
          <a:p>
            <a:pPr algn="l">
              <a:defRPr sz="1100" b="0">
                <a:solidFill>
                  <a:srgbClr val="333333"/>
                </a:solidFill>
                <a:latin typeface="Calibri"/>
              </a:defRPr>
            </a:pPr>
            <a:r>
              <a:t>Materials Management</a:t>
            </a:r>
          </a:p>
        </p:txBody>
      </p:sp>
      <p:sp>
        <p:nvSpPr>
          <p:cNvPr id="33" name="Rounded Rectangle 32"/>
          <p:cNvSpPr/>
          <p:nvPr/>
        </p:nvSpPr>
        <p:spPr>
          <a:xfrm>
            <a:off x="8961120" y="2514600"/>
            <a:ext cx="548640" cy="320040"/>
          </a:xfrm>
          <a:prstGeom prst="round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defRPr sz="1000" b="1">
                <a:solidFill>
                  <a:srgbClr val="FFFFFF"/>
                </a:solidFill>
                <a:latin typeface="Calibri"/>
              </a:defRPr>
            </a:pPr>
            <a:r>
              <a:t>EWM</a:t>
            </a:r>
          </a:p>
        </p:txBody>
      </p:sp>
      <p:sp>
        <p:nvSpPr>
          <p:cNvPr id="34" name="TextBox 33"/>
          <p:cNvSpPr txBox="1"/>
          <p:nvPr/>
        </p:nvSpPr>
        <p:spPr>
          <a:xfrm>
            <a:off x="9601200" y="2532888"/>
            <a:ext cx="2286000" cy="274320"/>
          </a:xfrm>
          <a:prstGeom prst="rect">
            <a:avLst/>
          </a:prstGeom>
          <a:noFill/>
        </p:spPr>
        <p:txBody>
          <a:bodyPr wrap="square">
            <a:spAutoFit/>
          </a:bodyPr>
          <a:lstStyle/>
          <a:p>
            <a:pPr algn="l">
              <a:defRPr sz="1100" b="0">
                <a:solidFill>
                  <a:srgbClr val="333333"/>
                </a:solidFill>
                <a:latin typeface="Calibri"/>
              </a:defRPr>
            </a:pPr>
            <a:r>
              <a:t>Extended Warehouse Mgmt</a:t>
            </a:r>
          </a:p>
        </p:txBody>
      </p:sp>
      <p:sp>
        <p:nvSpPr>
          <p:cNvPr id="35" name="Rounded Rectangle 34"/>
          <p:cNvSpPr/>
          <p:nvPr/>
        </p:nvSpPr>
        <p:spPr>
          <a:xfrm>
            <a:off x="8961120" y="2926080"/>
            <a:ext cx="548640" cy="320040"/>
          </a:xfrm>
          <a:prstGeom prst="roundRect">
            <a:avLst/>
          </a:prstGeom>
          <a:solidFill>
            <a:srgbClr val="0070F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defRPr sz="1000" b="1">
                <a:solidFill>
                  <a:srgbClr val="FFFFFF"/>
                </a:solidFill>
                <a:latin typeface="Calibri"/>
              </a:defRPr>
            </a:pPr>
            <a:r>
              <a:t>AI</a:t>
            </a:r>
          </a:p>
        </p:txBody>
      </p:sp>
      <p:sp>
        <p:nvSpPr>
          <p:cNvPr id="36" name="TextBox 35"/>
          <p:cNvSpPr txBox="1"/>
          <p:nvPr/>
        </p:nvSpPr>
        <p:spPr>
          <a:xfrm>
            <a:off x="9601200" y="2944368"/>
            <a:ext cx="2286000" cy="274320"/>
          </a:xfrm>
          <a:prstGeom prst="rect">
            <a:avLst/>
          </a:prstGeom>
          <a:noFill/>
        </p:spPr>
        <p:txBody>
          <a:bodyPr wrap="square">
            <a:spAutoFit/>
          </a:bodyPr>
          <a:lstStyle/>
          <a:p>
            <a:pPr algn="l">
              <a:defRPr sz="1100" b="0">
                <a:solidFill>
                  <a:srgbClr val="333333"/>
                </a:solidFill>
                <a:latin typeface="Calibri"/>
              </a:defRPr>
            </a:pPr>
            <a:r>
              <a:t>AI Processing Layer</a:t>
            </a:r>
          </a:p>
        </p:txBody>
      </p:sp>
      <p:sp>
        <p:nvSpPr>
          <p:cNvPr id="37" name="TextBox 36"/>
          <p:cNvSpPr txBox="1"/>
          <p:nvPr/>
        </p:nvSpPr>
        <p:spPr>
          <a:xfrm>
            <a:off x="8961120" y="3474720"/>
            <a:ext cx="2743200" cy="2286000"/>
          </a:xfrm>
          <a:prstGeom prst="rect">
            <a:avLst/>
          </a:prstGeom>
          <a:noFill/>
        </p:spPr>
        <p:txBody>
          <a:bodyPr wrap="square">
            <a:spAutoFit/>
          </a:bodyPr>
          <a:lstStyle/>
          <a:p>
            <a:pPr algn="l">
              <a:defRPr sz="1100" b="0">
                <a:solidFill>
                  <a:srgbClr val="333333"/>
                </a:solidFill>
                <a:latin typeface="Calibri"/>
              </a:defRPr>
            </a:pPr>
            <a:r>
              <a:t>Key Integration Points:</a:t>
            </a:r>
            <a:br/>
            <a:br/>
            <a:r>
              <a:t>• BAPIs for real-time data extraction</a:t>
            </a:r>
            <a:br/>
            <a:r>
              <a:t>• SAP BTP for AI model hosting</a:t>
            </a:r>
            <a:br/>
            <a:r>
              <a:t>• CPI for event-driven messaging</a:t>
            </a:r>
            <a:br/>
            <a:r>
              <a:t>• Fiori apps for user dashboards</a:t>
            </a:r>
            <a:br/>
            <a:r>
              <a:t>• SAP Analytics Cloud for reporting</a:t>
            </a:r>
          </a:p>
        </p:txBody>
      </p:sp>
      <p:sp>
        <p:nvSpPr>
          <p:cNvPr id="38" name="TextBox 37"/>
          <p:cNvSpPr txBox="1"/>
          <p:nvPr/>
        </p:nvSpPr>
        <p:spPr>
          <a:xfrm>
            <a:off x="685800" y="6400800"/>
            <a:ext cx="10515600" cy="274320"/>
          </a:xfrm>
          <a:prstGeom prst="rect">
            <a:avLst/>
          </a:prstGeom>
          <a:noFill/>
        </p:spPr>
        <p:txBody>
          <a:bodyPr wrap="square">
            <a:spAutoFit/>
          </a:bodyPr>
          <a:lstStyle/>
          <a:p>
            <a:pPr algn="r">
              <a:defRPr sz="900" b="0">
                <a:solidFill>
                  <a:srgbClr val="888888"/>
                </a:solidFill>
                <a:latin typeface="Calibri"/>
              </a:defRPr>
            </a:pPr>
            <a:r>
              <a:t>Toyota Motors Australia  |  AI-Powered S/4 HANA Transformation  |  Confidential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6213E"/>
        </a:solidFill>
        <a:effectLst/>
      </p:bgPr>
    </p:bg>
    <p:spTree>
      <p:nvGrpSpPr>
        <p:cNvPr id="1" name=""/>
        <p:cNvGrpSpPr/>
        <p:nvPr/>
      </p:nvGrpSpPr>
      <p:grpSpPr/>
      <p:sp>
        <p:nvSpPr>
          <p:cNvPr id="2" name="TextBox 1"/>
          <p:cNvSpPr txBox="1"/>
          <p:nvPr/>
        </p:nvSpPr>
        <p:spPr>
          <a:xfrm>
            <a:off x="914400" y="2011680"/>
            <a:ext cx="10058400" cy="731520"/>
          </a:xfrm>
          <a:prstGeom prst="rect">
            <a:avLst/>
          </a:prstGeom>
          <a:noFill/>
        </p:spPr>
        <p:txBody>
          <a:bodyPr wrap="square">
            <a:spAutoFit/>
          </a:bodyPr>
          <a:lstStyle/>
          <a:p>
            <a:pPr algn="l">
              <a:defRPr sz="1600" b="1">
                <a:solidFill>
                  <a:srgbClr val="F0AB00"/>
                </a:solidFill>
                <a:latin typeface="Calibri"/>
              </a:defRPr>
            </a:pPr>
            <a:r>
              <a:t>SECTION 4</a:t>
            </a:r>
          </a:p>
        </p:txBody>
      </p:sp>
      <p:sp>
        <p:nvSpPr>
          <p:cNvPr id="3" name="Rectangle 2"/>
          <p:cNvSpPr/>
          <p:nvPr/>
        </p:nvSpPr>
        <p:spPr>
          <a:xfrm>
            <a:off x="914400" y="2743200"/>
            <a:ext cx="1828800" cy="38100"/>
          </a:xfrm>
          <a:prstGeom prst="rect">
            <a:avLst/>
          </a:prstGeom>
          <a:solidFill>
            <a:srgbClr val="EB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3017520"/>
            <a:ext cx="10058400" cy="1097280"/>
          </a:xfrm>
          <a:prstGeom prst="rect">
            <a:avLst/>
          </a:prstGeom>
          <a:noFill/>
        </p:spPr>
        <p:txBody>
          <a:bodyPr wrap="square">
            <a:spAutoFit/>
          </a:bodyPr>
          <a:lstStyle/>
          <a:p>
            <a:pPr algn="l">
              <a:defRPr sz="3600" b="1">
                <a:solidFill>
                  <a:srgbClr val="FFFFFF"/>
                </a:solidFill>
                <a:latin typeface="Calibri"/>
              </a:defRPr>
            </a:pPr>
            <a:r>
              <a:t>Technical Architecture</a:t>
            </a:r>
          </a:p>
        </p:txBody>
      </p:sp>
      <p:sp>
        <p:nvSpPr>
          <p:cNvPr id="5" name="TextBox 4"/>
          <p:cNvSpPr txBox="1"/>
          <p:nvPr/>
        </p:nvSpPr>
        <p:spPr>
          <a:xfrm>
            <a:off x="914400" y="4114800"/>
            <a:ext cx="10058400" cy="731520"/>
          </a:xfrm>
          <a:prstGeom prst="rect">
            <a:avLst/>
          </a:prstGeom>
          <a:noFill/>
        </p:spPr>
        <p:txBody>
          <a:bodyPr wrap="square">
            <a:spAutoFit/>
          </a:bodyPr>
          <a:lstStyle/>
          <a:p>
            <a:pPr algn="l">
              <a:defRPr sz="1800" b="0">
                <a:solidFill>
                  <a:srgbClr val="F0AB00"/>
                </a:solidFill>
                <a:latin typeface="Calibri"/>
              </a:defRPr>
            </a:pPr>
            <a:r>
              <a:t>AI Platform on SAP BTP</a:t>
            </a:r>
          </a:p>
        </p:txBody>
      </p:sp>
      <p:sp>
        <p:nvSpPr>
          <p:cNvPr id="6" name="TextBox 5"/>
          <p:cNvSpPr txBox="1"/>
          <p:nvPr/>
        </p:nvSpPr>
        <p:spPr>
          <a:xfrm>
            <a:off x="685800" y="6400800"/>
            <a:ext cx="10515600" cy="274320"/>
          </a:xfrm>
          <a:prstGeom prst="rect">
            <a:avLst/>
          </a:prstGeom>
          <a:noFill/>
        </p:spPr>
        <p:txBody>
          <a:bodyPr wrap="square">
            <a:spAutoFit/>
          </a:bodyPr>
          <a:lstStyle/>
          <a:p>
            <a:pPr algn="r">
              <a:defRPr sz="900" b="0">
                <a:solidFill>
                  <a:srgbClr val="FFFFFF"/>
                </a:solidFill>
                <a:latin typeface="Calibri"/>
              </a:defRPr>
            </a:pPr>
            <a:r>
              <a:t>Toyota Motors Australia  |  AI-Powered S/4 HANA Transformation  |  Confidential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164592"/>
            <a:ext cx="10515600" cy="640080"/>
          </a:xfrm>
          <a:prstGeom prst="rect">
            <a:avLst/>
          </a:prstGeom>
          <a:noFill/>
        </p:spPr>
        <p:txBody>
          <a:bodyPr wrap="square">
            <a:spAutoFit/>
          </a:bodyPr>
          <a:lstStyle/>
          <a:p>
            <a:pPr algn="l">
              <a:defRPr sz="2800" b="1">
                <a:solidFill>
                  <a:srgbClr val="FFFFFF"/>
                </a:solidFill>
                <a:latin typeface="Calibri"/>
              </a:defRPr>
            </a:pPr>
            <a:r>
              <a:t>Technical Architecture — AI on SAP BTP</a:t>
            </a:r>
          </a:p>
        </p:txBody>
      </p:sp>
      <p:sp>
        <p:nvSpPr>
          <p:cNvPr id="4" name="TextBox 3"/>
          <p:cNvSpPr txBox="1"/>
          <p:nvPr/>
        </p:nvSpPr>
        <p:spPr>
          <a:xfrm>
            <a:off x="457200" y="1188720"/>
            <a:ext cx="1828800" cy="274320"/>
          </a:xfrm>
          <a:prstGeom prst="rect">
            <a:avLst/>
          </a:prstGeom>
          <a:noFill/>
        </p:spPr>
        <p:txBody>
          <a:bodyPr wrap="square">
            <a:spAutoFit/>
          </a:bodyPr>
          <a:lstStyle/>
          <a:p>
            <a:pPr algn="l">
              <a:defRPr sz="1000" b="1">
                <a:solidFill>
                  <a:srgbClr val="EB0023"/>
                </a:solidFill>
                <a:latin typeface="Calibri"/>
              </a:defRPr>
            </a:pPr>
            <a:r>
              <a:t>PRESENTATION</a:t>
            </a:r>
          </a:p>
        </p:txBody>
      </p:sp>
      <p:sp>
        <p:nvSpPr>
          <p:cNvPr id="5" name="Rounded Rectangle 4"/>
          <p:cNvSpPr/>
          <p:nvPr/>
        </p:nvSpPr>
        <p:spPr>
          <a:xfrm>
            <a:off x="2286000" y="1143000"/>
            <a:ext cx="2103120" cy="548640"/>
          </a:xfrm>
          <a:prstGeom prst="roundRect">
            <a:avLst/>
          </a:prstGeom>
          <a:solidFill>
            <a:srgbClr val="F5F5F5"/>
          </a:solidFill>
          <a:ln w="19050">
            <a:solidFill>
              <a:srgbClr val="0070F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defRPr sz="1000" b="0">
                <a:solidFill>
                  <a:srgbClr val="333333"/>
                </a:solidFill>
                <a:latin typeface="Calibri"/>
              </a:defRPr>
            </a:pPr>
            <a:r>
              <a:t>Fiori Demand</a:t>
            </a:r>
            <a:br/>
            <a:r>
              <a:t>Planner</a:t>
            </a:r>
          </a:p>
        </p:txBody>
      </p:sp>
      <p:sp>
        <p:nvSpPr>
          <p:cNvPr id="6" name="Rounded Rectangle 5"/>
          <p:cNvSpPr/>
          <p:nvPr/>
        </p:nvSpPr>
        <p:spPr>
          <a:xfrm>
            <a:off x="4663440" y="1143000"/>
            <a:ext cx="2103120" cy="548640"/>
          </a:xfrm>
          <a:prstGeom prst="roundRect">
            <a:avLst/>
          </a:prstGeom>
          <a:solidFill>
            <a:srgbClr val="F5F5F5"/>
          </a:solidFill>
          <a:ln w="19050">
            <a:solidFill>
              <a:srgbClr val="0070F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defRPr sz="1000" b="0">
                <a:solidFill>
                  <a:srgbClr val="333333"/>
                </a:solidFill>
                <a:latin typeface="Calibri"/>
              </a:defRPr>
            </a:pPr>
            <a:r>
              <a:t>Fiori Inventory</a:t>
            </a:r>
            <a:br/>
            <a:r>
              <a:t>Cockpit</a:t>
            </a:r>
          </a:p>
        </p:txBody>
      </p:sp>
      <p:sp>
        <p:nvSpPr>
          <p:cNvPr id="7" name="Rounded Rectangle 6"/>
          <p:cNvSpPr/>
          <p:nvPr/>
        </p:nvSpPr>
        <p:spPr>
          <a:xfrm>
            <a:off x="7040880" y="1143000"/>
            <a:ext cx="2103120" cy="548640"/>
          </a:xfrm>
          <a:prstGeom prst="roundRect">
            <a:avLst/>
          </a:prstGeom>
          <a:solidFill>
            <a:srgbClr val="F5F5F5"/>
          </a:solidFill>
          <a:ln w="19050">
            <a:solidFill>
              <a:srgbClr val="0070F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defRPr sz="1000" b="0">
                <a:solidFill>
                  <a:srgbClr val="333333"/>
                </a:solidFill>
                <a:latin typeface="Calibri"/>
              </a:defRPr>
            </a:pPr>
            <a:r>
              <a:t>Fiori Supply</a:t>
            </a:r>
            <a:br/>
            <a:r>
              <a:t>Monitor</a:t>
            </a:r>
          </a:p>
        </p:txBody>
      </p:sp>
      <p:sp>
        <p:nvSpPr>
          <p:cNvPr id="8" name="Rounded Rectangle 7"/>
          <p:cNvSpPr/>
          <p:nvPr/>
        </p:nvSpPr>
        <p:spPr>
          <a:xfrm>
            <a:off x="9418320" y="1143000"/>
            <a:ext cx="2103120" cy="548640"/>
          </a:xfrm>
          <a:prstGeom prst="roundRect">
            <a:avLst/>
          </a:prstGeom>
          <a:solidFill>
            <a:srgbClr val="F5F5F5"/>
          </a:solidFill>
          <a:ln w="19050">
            <a:solidFill>
              <a:srgbClr val="0070F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defRPr sz="1000" b="0">
                <a:solidFill>
                  <a:srgbClr val="333333"/>
                </a:solidFill>
                <a:latin typeface="Calibri"/>
              </a:defRPr>
            </a:pPr>
            <a:r>
              <a:t>SAP Analytics</a:t>
            </a:r>
            <a:br/>
            <a:r>
              <a:t>Cloud</a:t>
            </a:r>
          </a:p>
        </p:txBody>
      </p:sp>
      <p:sp>
        <p:nvSpPr>
          <p:cNvPr id="9" name="TextBox 8"/>
          <p:cNvSpPr txBox="1"/>
          <p:nvPr/>
        </p:nvSpPr>
        <p:spPr>
          <a:xfrm>
            <a:off x="457200" y="1965960"/>
            <a:ext cx="1828800" cy="274320"/>
          </a:xfrm>
          <a:prstGeom prst="rect">
            <a:avLst/>
          </a:prstGeom>
          <a:noFill/>
        </p:spPr>
        <p:txBody>
          <a:bodyPr wrap="square">
            <a:spAutoFit/>
          </a:bodyPr>
          <a:lstStyle/>
          <a:p>
            <a:pPr algn="l">
              <a:defRPr sz="1000" b="1">
                <a:solidFill>
                  <a:srgbClr val="EB0023"/>
                </a:solidFill>
                <a:latin typeface="Calibri"/>
              </a:defRPr>
            </a:pPr>
            <a:r>
              <a:t>AI SERVICES</a:t>
            </a:r>
          </a:p>
        </p:txBody>
      </p:sp>
      <p:sp>
        <p:nvSpPr>
          <p:cNvPr id="10" name="Rounded Rectangle 9"/>
          <p:cNvSpPr/>
          <p:nvPr/>
        </p:nvSpPr>
        <p:spPr>
          <a:xfrm>
            <a:off x="2286000" y="1920240"/>
            <a:ext cx="2103120" cy="548640"/>
          </a:xfrm>
          <a:prstGeom prst="roundRect">
            <a:avLst/>
          </a:prstGeom>
          <a:solidFill>
            <a:srgbClr val="0070F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defRPr sz="1000" b="1">
                <a:solidFill>
                  <a:srgbClr val="FFFFFF"/>
                </a:solidFill>
                <a:latin typeface="Calibri"/>
              </a:defRPr>
            </a:pPr>
            <a:r>
              <a:t>SAP AI Core</a:t>
            </a:r>
            <a:br/>
            <a:r>
              <a:t>(Model Training)</a:t>
            </a:r>
          </a:p>
        </p:txBody>
      </p:sp>
      <p:sp>
        <p:nvSpPr>
          <p:cNvPr id="11" name="Rounded Rectangle 10"/>
          <p:cNvSpPr/>
          <p:nvPr/>
        </p:nvSpPr>
        <p:spPr>
          <a:xfrm>
            <a:off x="4663440" y="1920240"/>
            <a:ext cx="2103120" cy="548640"/>
          </a:xfrm>
          <a:prstGeom prst="roundRect">
            <a:avLst/>
          </a:prstGeom>
          <a:solidFill>
            <a:srgbClr val="0070F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defRPr sz="1000" b="1">
                <a:solidFill>
                  <a:srgbClr val="FFFFFF"/>
                </a:solidFill>
                <a:latin typeface="Calibri"/>
              </a:defRPr>
            </a:pPr>
            <a:r>
              <a:t>SAP AI Launchpad</a:t>
            </a:r>
            <a:br/>
            <a:r>
              <a:t>(Model Mgmt)</a:t>
            </a:r>
          </a:p>
        </p:txBody>
      </p:sp>
      <p:sp>
        <p:nvSpPr>
          <p:cNvPr id="12" name="Rounded Rectangle 11"/>
          <p:cNvSpPr/>
          <p:nvPr/>
        </p:nvSpPr>
        <p:spPr>
          <a:xfrm>
            <a:off x="7040880" y="1920240"/>
            <a:ext cx="2103120" cy="548640"/>
          </a:xfrm>
          <a:prstGeom prst="roundRect">
            <a:avLst/>
          </a:prstGeom>
          <a:solidFill>
            <a:srgbClr val="0070F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defRPr sz="1000" b="1">
                <a:solidFill>
                  <a:srgbClr val="FFFFFF"/>
                </a:solidFill>
                <a:latin typeface="Calibri"/>
              </a:defRPr>
            </a:pPr>
            <a:r>
              <a:t>Custom ML</a:t>
            </a:r>
            <a:br/>
            <a:r>
              <a:t>(Python/TensorFlow)</a:t>
            </a:r>
          </a:p>
        </p:txBody>
      </p:sp>
      <p:sp>
        <p:nvSpPr>
          <p:cNvPr id="13" name="Rounded Rectangle 12"/>
          <p:cNvSpPr/>
          <p:nvPr/>
        </p:nvSpPr>
        <p:spPr>
          <a:xfrm>
            <a:off x="9418320" y="1920240"/>
            <a:ext cx="2103120" cy="548640"/>
          </a:xfrm>
          <a:prstGeom prst="roundRect">
            <a:avLst/>
          </a:prstGeom>
          <a:solidFill>
            <a:srgbClr val="0070F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defRPr sz="1000" b="1">
                <a:solidFill>
                  <a:srgbClr val="FFFFFF"/>
                </a:solidFill>
                <a:latin typeface="Calibri"/>
              </a:defRPr>
            </a:pPr>
            <a:r>
              <a:t>SAP Data</a:t>
            </a:r>
            <a:br/>
            <a:r>
              <a:t>Intelligence</a:t>
            </a:r>
          </a:p>
        </p:txBody>
      </p:sp>
      <p:sp>
        <p:nvSpPr>
          <p:cNvPr id="14" name="TextBox 13"/>
          <p:cNvSpPr txBox="1"/>
          <p:nvPr/>
        </p:nvSpPr>
        <p:spPr>
          <a:xfrm>
            <a:off x="457200" y="2743200"/>
            <a:ext cx="1828800" cy="274320"/>
          </a:xfrm>
          <a:prstGeom prst="rect">
            <a:avLst/>
          </a:prstGeom>
          <a:noFill/>
        </p:spPr>
        <p:txBody>
          <a:bodyPr wrap="square">
            <a:spAutoFit/>
          </a:bodyPr>
          <a:lstStyle/>
          <a:p>
            <a:pPr algn="l">
              <a:defRPr sz="1000" b="1">
                <a:solidFill>
                  <a:srgbClr val="EB0023"/>
                </a:solidFill>
                <a:latin typeface="Calibri"/>
              </a:defRPr>
            </a:pPr>
            <a:r>
              <a:t>INTEGRATION</a:t>
            </a:r>
          </a:p>
        </p:txBody>
      </p:sp>
      <p:sp>
        <p:nvSpPr>
          <p:cNvPr id="15" name="Rounded Rectangle 14"/>
          <p:cNvSpPr/>
          <p:nvPr/>
        </p:nvSpPr>
        <p:spPr>
          <a:xfrm>
            <a:off x="2286000" y="2697480"/>
            <a:ext cx="2103120" cy="548640"/>
          </a:xfrm>
          <a:prstGeom prst="roundRect">
            <a:avLst/>
          </a:prstGeom>
          <a:solidFill>
            <a:srgbClr val="F0AB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defRPr sz="1000" b="1">
                <a:solidFill>
                  <a:srgbClr val="333333"/>
                </a:solidFill>
                <a:latin typeface="Calibri"/>
              </a:defRPr>
            </a:pPr>
            <a:r>
              <a:t>SAP CPI</a:t>
            </a:r>
            <a:br/>
            <a:r>
              <a:t>(Event Mesh)</a:t>
            </a:r>
          </a:p>
        </p:txBody>
      </p:sp>
      <p:sp>
        <p:nvSpPr>
          <p:cNvPr id="16" name="Rounded Rectangle 15"/>
          <p:cNvSpPr/>
          <p:nvPr/>
        </p:nvSpPr>
        <p:spPr>
          <a:xfrm>
            <a:off x="4663440" y="2697480"/>
            <a:ext cx="2103120" cy="548640"/>
          </a:xfrm>
          <a:prstGeom prst="roundRect">
            <a:avLst/>
          </a:prstGeom>
          <a:solidFill>
            <a:srgbClr val="F0AB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defRPr sz="1000" b="1">
                <a:solidFill>
                  <a:srgbClr val="333333"/>
                </a:solidFill>
                <a:latin typeface="Calibri"/>
              </a:defRPr>
            </a:pPr>
            <a:r>
              <a:t>SAP BTP</a:t>
            </a:r>
            <a:br/>
            <a:r>
              <a:t>(APIs &amp; Events)</a:t>
            </a:r>
          </a:p>
        </p:txBody>
      </p:sp>
      <p:sp>
        <p:nvSpPr>
          <p:cNvPr id="17" name="Rounded Rectangle 16"/>
          <p:cNvSpPr/>
          <p:nvPr/>
        </p:nvSpPr>
        <p:spPr>
          <a:xfrm>
            <a:off x="7040880" y="2697480"/>
            <a:ext cx="2103120" cy="548640"/>
          </a:xfrm>
          <a:prstGeom prst="roundRect">
            <a:avLst/>
          </a:prstGeom>
          <a:solidFill>
            <a:srgbClr val="F0AB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defRPr sz="1000" b="1">
                <a:solidFill>
                  <a:srgbClr val="333333"/>
                </a:solidFill>
                <a:latin typeface="Calibri"/>
              </a:defRPr>
            </a:pPr>
            <a:r>
              <a:t>OData Services</a:t>
            </a:r>
            <a:br/>
            <a:r>
              <a:t>(Real-time)</a:t>
            </a:r>
          </a:p>
        </p:txBody>
      </p:sp>
      <p:sp>
        <p:nvSpPr>
          <p:cNvPr id="18" name="Rounded Rectangle 17"/>
          <p:cNvSpPr/>
          <p:nvPr/>
        </p:nvSpPr>
        <p:spPr>
          <a:xfrm>
            <a:off x="9418320" y="2697480"/>
            <a:ext cx="2103120" cy="548640"/>
          </a:xfrm>
          <a:prstGeom prst="roundRect">
            <a:avLst/>
          </a:prstGeom>
          <a:solidFill>
            <a:srgbClr val="F0AB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defRPr sz="1000" b="1">
                <a:solidFill>
                  <a:srgbClr val="333333"/>
                </a:solidFill>
                <a:latin typeface="Calibri"/>
              </a:defRPr>
            </a:pPr>
            <a:r>
              <a:t>Batch Jobs</a:t>
            </a:r>
            <a:br/>
            <a:r>
              <a:t>(Nightly Sync)</a:t>
            </a:r>
          </a:p>
        </p:txBody>
      </p:sp>
      <p:sp>
        <p:nvSpPr>
          <p:cNvPr id="19" name="TextBox 18"/>
          <p:cNvSpPr txBox="1"/>
          <p:nvPr/>
        </p:nvSpPr>
        <p:spPr>
          <a:xfrm>
            <a:off x="457200" y="3520440"/>
            <a:ext cx="1828800" cy="274320"/>
          </a:xfrm>
          <a:prstGeom prst="rect">
            <a:avLst/>
          </a:prstGeom>
          <a:noFill/>
        </p:spPr>
        <p:txBody>
          <a:bodyPr wrap="square">
            <a:spAutoFit/>
          </a:bodyPr>
          <a:lstStyle/>
          <a:p>
            <a:pPr algn="l">
              <a:defRPr sz="1000" b="1">
                <a:solidFill>
                  <a:srgbClr val="EB0023"/>
                </a:solidFill>
                <a:latin typeface="Calibri"/>
              </a:defRPr>
            </a:pPr>
            <a:r>
              <a:t>S/4 HANA CORE</a:t>
            </a:r>
          </a:p>
        </p:txBody>
      </p:sp>
      <p:sp>
        <p:nvSpPr>
          <p:cNvPr id="20" name="Rounded Rectangle 19"/>
          <p:cNvSpPr/>
          <p:nvPr/>
        </p:nvSpPr>
        <p:spPr>
          <a:xfrm>
            <a:off x="2286000" y="3474720"/>
            <a:ext cx="2103120" cy="548640"/>
          </a:xfrm>
          <a:prstGeom prst="roundRect">
            <a:avLst/>
          </a:prstGeom>
          <a:solidFill>
            <a:srgbClr val="0070F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defRPr sz="1000" b="1">
                <a:solidFill>
                  <a:srgbClr val="FFFFFF"/>
                </a:solidFill>
                <a:latin typeface="Calibri"/>
              </a:defRPr>
            </a:pPr>
            <a:r>
              <a:t>MM</a:t>
            </a:r>
            <a:br/>
            <a:r>
              <a:t>Procurement</a:t>
            </a:r>
          </a:p>
        </p:txBody>
      </p:sp>
      <p:sp>
        <p:nvSpPr>
          <p:cNvPr id="21" name="Rounded Rectangle 20"/>
          <p:cNvSpPr/>
          <p:nvPr/>
        </p:nvSpPr>
        <p:spPr>
          <a:xfrm>
            <a:off x="4663440" y="3474720"/>
            <a:ext cx="2103120" cy="548640"/>
          </a:xfrm>
          <a:prstGeom prst="roundRect">
            <a:avLst/>
          </a:prstGeom>
          <a:solidFill>
            <a:srgbClr val="00964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defRPr sz="1000" b="1">
                <a:solidFill>
                  <a:srgbClr val="FFFFFF"/>
                </a:solidFill>
                <a:latin typeface="Calibri"/>
              </a:defRPr>
            </a:pPr>
            <a:r>
              <a:t>MM</a:t>
            </a:r>
            <a:br/>
            <a:r>
              <a:t>Inventory</a:t>
            </a:r>
          </a:p>
        </p:txBody>
      </p:sp>
      <p:sp>
        <p:nvSpPr>
          <p:cNvPr id="22" name="Rounded Rectangle 21"/>
          <p:cNvSpPr/>
          <p:nvPr/>
        </p:nvSpPr>
        <p:spPr>
          <a:xfrm>
            <a:off x="7040880" y="3474720"/>
            <a:ext cx="2103120" cy="548640"/>
          </a:xfrm>
          <a:prstGeom prst="round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defRPr sz="1000" b="1">
                <a:solidFill>
                  <a:srgbClr val="FFFFFF"/>
                </a:solidFill>
                <a:latin typeface="Calibri"/>
              </a:defRPr>
            </a:pPr>
            <a:r>
              <a:t>EWM</a:t>
            </a:r>
            <a:br/>
            <a:r>
              <a:t>Warehouse</a:t>
            </a:r>
          </a:p>
        </p:txBody>
      </p:sp>
      <p:sp>
        <p:nvSpPr>
          <p:cNvPr id="23" name="Rounded Rectangle 22"/>
          <p:cNvSpPr/>
          <p:nvPr/>
        </p:nvSpPr>
        <p:spPr>
          <a:xfrm>
            <a:off x="9418320" y="3474720"/>
            <a:ext cx="2103120" cy="548640"/>
          </a:xfrm>
          <a:prstGeom prst="roundRect">
            <a:avLst/>
          </a:prstGeom>
          <a:solidFill>
            <a:srgbClr val="00899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defRPr sz="1000" b="1">
                <a:solidFill>
                  <a:srgbClr val="FFFFFF"/>
                </a:solidFill>
                <a:latin typeface="Calibri"/>
              </a:defRPr>
            </a:pPr>
            <a:r>
              <a:t>SD</a:t>
            </a:r>
            <a:br/>
            <a:r>
              <a:t>Distribution</a:t>
            </a:r>
          </a:p>
        </p:txBody>
      </p:sp>
      <p:sp>
        <p:nvSpPr>
          <p:cNvPr id="24" name="TextBox 23"/>
          <p:cNvSpPr txBox="1"/>
          <p:nvPr/>
        </p:nvSpPr>
        <p:spPr>
          <a:xfrm>
            <a:off x="457200" y="4297680"/>
            <a:ext cx="1828800" cy="274320"/>
          </a:xfrm>
          <a:prstGeom prst="rect">
            <a:avLst/>
          </a:prstGeom>
          <a:noFill/>
        </p:spPr>
        <p:txBody>
          <a:bodyPr wrap="square">
            <a:spAutoFit/>
          </a:bodyPr>
          <a:lstStyle/>
          <a:p>
            <a:pPr algn="l">
              <a:defRPr sz="1000" b="1">
                <a:solidFill>
                  <a:srgbClr val="EB0023"/>
                </a:solidFill>
                <a:latin typeface="Calibri"/>
              </a:defRPr>
            </a:pPr>
            <a:r>
              <a:t>DATA LAYER</a:t>
            </a:r>
          </a:p>
        </p:txBody>
      </p:sp>
      <p:sp>
        <p:nvSpPr>
          <p:cNvPr id="25" name="Rounded Rectangle 24"/>
          <p:cNvSpPr/>
          <p:nvPr/>
        </p:nvSpPr>
        <p:spPr>
          <a:xfrm>
            <a:off x="2286000" y="4251960"/>
            <a:ext cx="2103120" cy="548640"/>
          </a:xfrm>
          <a:prstGeom prst="round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defRPr sz="1000" b="1">
                <a:solidFill>
                  <a:srgbClr val="FFFFFF"/>
                </a:solidFill>
                <a:latin typeface="Calibri"/>
              </a:defRPr>
            </a:pPr>
            <a:r>
              <a:t>SAP HANA DB</a:t>
            </a:r>
            <a:br/>
            <a:r>
              <a:t>(Transactional)</a:t>
            </a:r>
          </a:p>
        </p:txBody>
      </p:sp>
      <p:sp>
        <p:nvSpPr>
          <p:cNvPr id="26" name="Rounded Rectangle 25"/>
          <p:cNvSpPr/>
          <p:nvPr/>
        </p:nvSpPr>
        <p:spPr>
          <a:xfrm>
            <a:off x="4663440" y="4251960"/>
            <a:ext cx="2103120" cy="548640"/>
          </a:xfrm>
          <a:prstGeom prst="round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defRPr sz="1000" b="1">
                <a:solidFill>
                  <a:srgbClr val="FFFFFF"/>
                </a:solidFill>
                <a:latin typeface="Calibri"/>
              </a:defRPr>
            </a:pPr>
            <a:r>
              <a:t>SAP Data Warehouse</a:t>
            </a:r>
            <a:br/>
            <a:r>
              <a:t>Cloud</a:t>
            </a:r>
          </a:p>
        </p:txBody>
      </p:sp>
      <p:sp>
        <p:nvSpPr>
          <p:cNvPr id="27" name="Rounded Rectangle 26"/>
          <p:cNvSpPr/>
          <p:nvPr/>
        </p:nvSpPr>
        <p:spPr>
          <a:xfrm>
            <a:off x="7040880" y="4251960"/>
            <a:ext cx="2103120" cy="548640"/>
          </a:xfrm>
          <a:prstGeom prst="round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defRPr sz="1000" b="1">
                <a:solidFill>
                  <a:srgbClr val="FFFFFF"/>
                </a:solidFill>
                <a:latin typeface="Calibri"/>
              </a:defRPr>
            </a:pPr>
            <a:r>
              <a:t>External Data</a:t>
            </a:r>
            <a:br/>
            <a:r>
              <a:t>(Market, Weather)</a:t>
            </a:r>
          </a:p>
        </p:txBody>
      </p:sp>
      <p:sp>
        <p:nvSpPr>
          <p:cNvPr id="28" name="Rounded Rectangle 27"/>
          <p:cNvSpPr/>
          <p:nvPr/>
        </p:nvSpPr>
        <p:spPr>
          <a:xfrm>
            <a:off x="9418320" y="4251960"/>
            <a:ext cx="2103120" cy="548640"/>
          </a:xfrm>
          <a:prstGeom prst="round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defRPr sz="1000" b="1">
                <a:solidFill>
                  <a:srgbClr val="FFFFFF"/>
                </a:solidFill>
                <a:latin typeface="Calibri"/>
              </a:defRPr>
            </a:pPr>
            <a:r>
              <a:t>Dealer Systems</a:t>
            </a:r>
            <a:br/>
            <a:r>
              <a:t>(POS Data)</a:t>
            </a:r>
          </a:p>
        </p:txBody>
      </p:sp>
      <p:sp>
        <p:nvSpPr>
          <p:cNvPr id="29" name="TextBox 28"/>
          <p:cNvSpPr txBox="1"/>
          <p:nvPr/>
        </p:nvSpPr>
        <p:spPr>
          <a:xfrm>
            <a:off x="685800" y="6400800"/>
            <a:ext cx="10515600" cy="274320"/>
          </a:xfrm>
          <a:prstGeom prst="rect">
            <a:avLst/>
          </a:prstGeom>
          <a:noFill/>
        </p:spPr>
        <p:txBody>
          <a:bodyPr wrap="square">
            <a:spAutoFit/>
          </a:bodyPr>
          <a:lstStyle/>
          <a:p>
            <a:pPr algn="r">
              <a:defRPr sz="900" b="0">
                <a:solidFill>
                  <a:srgbClr val="888888"/>
                </a:solidFill>
                <a:latin typeface="Calibri"/>
              </a:defRPr>
            </a:pPr>
            <a:r>
              <a:t>Toyota Motors Australia  |  AI-Powered S/4 HANA Transformation  |  Confidential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6213E"/>
        </a:solidFill>
        <a:effectLst/>
      </p:bgPr>
    </p:bg>
    <p:spTree>
      <p:nvGrpSpPr>
        <p:cNvPr id="1" name=""/>
        <p:cNvGrpSpPr/>
        <p:nvPr/>
      </p:nvGrpSpPr>
      <p:grpSpPr/>
      <p:sp>
        <p:nvSpPr>
          <p:cNvPr id="2" name="TextBox 1"/>
          <p:cNvSpPr txBox="1"/>
          <p:nvPr/>
        </p:nvSpPr>
        <p:spPr>
          <a:xfrm>
            <a:off x="914400" y="2011680"/>
            <a:ext cx="10058400" cy="731520"/>
          </a:xfrm>
          <a:prstGeom prst="rect">
            <a:avLst/>
          </a:prstGeom>
          <a:noFill/>
        </p:spPr>
        <p:txBody>
          <a:bodyPr wrap="square">
            <a:spAutoFit/>
          </a:bodyPr>
          <a:lstStyle/>
          <a:p>
            <a:pPr algn="l">
              <a:defRPr sz="1600" b="1">
                <a:solidFill>
                  <a:srgbClr val="F0AB00"/>
                </a:solidFill>
                <a:latin typeface="Calibri"/>
              </a:defRPr>
            </a:pPr>
            <a:r>
              <a:t>SECTION 5</a:t>
            </a:r>
          </a:p>
        </p:txBody>
      </p:sp>
      <p:sp>
        <p:nvSpPr>
          <p:cNvPr id="3" name="Rectangle 2"/>
          <p:cNvSpPr/>
          <p:nvPr/>
        </p:nvSpPr>
        <p:spPr>
          <a:xfrm>
            <a:off x="914400" y="2743200"/>
            <a:ext cx="1828800" cy="38100"/>
          </a:xfrm>
          <a:prstGeom prst="rect">
            <a:avLst/>
          </a:prstGeom>
          <a:solidFill>
            <a:srgbClr val="EB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3017520"/>
            <a:ext cx="10058400" cy="1097280"/>
          </a:xfrm>
          <a:prstGeom prst="rect">
            <a:avLst/>
          </a:prstGeom>
          <a:noFill/>
        </p:spPr>
        <p:txBody>
          <a:bodyPr wrap="square">
            <a:spAutoFit/>
          </a:bodyPr>
          <a:lstStyle/>
          <a:p>
            <a:pPr algn="l">
              <a:defRPr sz="3600" b="1">
                <a:solidFill>
                  <a:srgbClr val="FFFFFF"/>
                </a:solidFill>
                <a:latin typeface="Calibri"/>
              </a:defRPr>
            </a:pPr>
            <a:r>
              <a:t>AI Use Case Deep Dives</a:t>
            </a:r>
          </a:p>
        </p:txBody>
      </p:sp>
      <p:sp>
        <p:nvSpPr>
          <p:cNvPr id="5" name="TextBox 4"/>
          <p:cNvSpPr txBox="1"/>
          <p:nvPr/>
        </p:nvSpPr>
        <p:spPr>
          <a:xfrm>
            <a:off x="914400" y="4114800"/>
            <a:ext cx="10058400" cy="731520"/>
          </a:xfrm>
          <a:prstGeom prst="rect">
            <a:avLst/>
          </a:prstGeom>
          <a:noFill/>
        </p:spPr>
        <p:txBody>
          <a:bodyPr wrap="square">
            <a:spAutoFit/>
          </a:bodyPr>
          <a:lstStyle/>
          <a:p>
            <a:pPr algn="l">
              <a:defRPr sz="1800" b="0">
                <a:solidFill>
                  <a:srgbClr val="F0AB00"/>
                </a:solidFill>
                <a:latin typeface="Calibri"/>
              </a:defRPr>
            </a:pPr>
            <a:r>
              <a:t>Demand Forecasting • Inventory • Supply Planning • Logistics</a:t>
            </a:r>
          </a:p>
        </p:txBody>
      </p:sp>
      <p:sp>
        <p:nvSpPr>
          <p:cNvPr id="6" name="TextBox 5"/>
          <p:cNvSpPr txBox="1"/>
          <p:nvPr/>
        </p:nvSpPr>
        <p:spPr>
          <a:xfrm>
            <a:off x="685800" y="6400800"/>
            <a:ext cx="10515600" cy="274320"/>
          </a:xfrm>
          <a:prstGeom prst="rect">
            <a:avLst/>
          </a:prstGeom>
          <a:noFill/>
        </p:spPr>
        <p:txBody>
          <a:bodyPr wrap="square">
            <a:spAutoFit/>
          </a:bodyPr>
          <a:lstStyle/>
          <a:p>
            <a:pPr algn="r">
              <a:defRPr sz="900" b="0">
                <a:solidFill>
                  <a:srgbClr val="FFFFFF"/>
                </a:solidFill>
                <a:latin typeface="Calibri"/>
              </a:defRPr>
            </a:pPr>
            <a:r>
              <a:t>Toyota Motors Australia  |  AI-Powered S/4 HANA Transformation  |  Confidential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070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164592"/>
            <a:ext cx="10515600" cy="640080"/>
          </a:xfrm>
          <a:prstGeom prst="rect">
            <a:avLst/>
          </a:prstGeom>
          <a:noFill/>
        </p:spPr>
        <p:txBody>
          <a:bodyPr wrap="square">
            <a:spAutoFit/>
          </a:bodyPr>
          <a:lstStyle/>
          <a:p>
            <a:pPr algn="l">
              <a:defRPr sz="2800" b="1">
                <a:solidFill>
                  <a:srgbClr val="FFFFFF"/>
                </a:solidFill>
                <a:latin typeface="Calibri"/>
              </a:defRPr>
            </a:pPr>
            <a:r>
              <a:t>Use Case 1 — Demand Forecasting</a:t>
            </a:r>
          </a:p>
        </p:txBody>
      </p:sp>
      <p:sp>
        <p:nvSpPr>
          <p:cNvPr id="4" name="TextBox 3"/>
          <p:cNvSpPr txBox="1"/>
          <p:nvPr/>
        </p:nvSpPr>
        <p:spPr>
          <a:xfrm>
            <a:off x="685800" y="1188720"/>
            <a:ext cx="10515600" cy="457200"/>
          </a:xfrm>
          <a:prstGeom prst="rect">
            <a:avLst/>
          </a:prstGeom>
          <a:noFill/>
        </p:spPr>
        <p:txBody>
          <a:bodyPr wrap="square">
            <a:spAutoFit/>
          </a:bodyPr>
          <a:lstStyle/>
          <a:p>
            <a:pPr algn="l">
              <a:defRPr sz="1600" b="1">
                <a:solidFill>
                  <a:srgbClr val="0070F2"/>
                </a:solidFill>
                <a:latin typeface="Calibri"/>
              </a:defRPr>
            </a:pPr>
            <a:r>
              <a:t>Predict dealership demand for vehicles and parts</a:t>
            </a:r>
          </a:p>
        </p:txBody>
      </p:sp>
      <p:sp>
        <p:nvSpPr>
          <p:cNvPr id="5" name="TextBox 4"/>
          <p:cNvSpPr txBox="1"/>
          <p:nvPr/>
        </p:nvSpPr>
        <p:spPr>
          <a:xfrm>
            <a:off x="685800" y="1645920"/>
            <a:ext cx="10515600" cy="548640"/>
          </a:xfrm>
          <a:prstGeom prst="rect">
            <a:avLst/>
          </a:prstGeom>
          <a:noFill/>
        </p:spPr>
        <p:txBody>
          <a:bodyPr wrap="square">
            <a:spAutoFit/>
          </a:bodyPr>
          <a:lstStyle/>
          <a:p>
            <a:pPr algn="l">
              <a:defRPr sz="1300" b="0">
                <a:solidFill>
                  <a:srgbClr val="333333"/>
                </a:solidFill>
                <a:latin typeface="Calibri"/>
              </a:defRPr>
            </a:pPr>
            <a:r>
              <a:t>Machine learning models analyze historical sales data, seasonal patterns, economic indicators, and dealer-specific trends to generate accurate demand forecasts at SKU level. Forecasts feed directly into S/4 HANA MRP and distribution planning.</a:t>
            </a:r>
          </a:p>
        </p:txBody>
      </p:sp>
      <p:sp>
        <p:nvSpPr>
          <p:cNvPr id="6" name="TextBox 5"/>
          <p:cNvSpPr txBox="1"/>
          <p:nvPr/>
        </p:nvSpPr>
        <p:spPr>
          <a:xfrm>
            <a:off x="685800" y="2377440"/>
            <a:ext cx="5029200" cy="320040"/>
          </a:xfrm>
          <a:prstGeom prst="rect">
            <a:avLst/>
          </a:prstGeom>
          <a:noFill/>
        </p:spPr>
        <p:txBody>
          <a:bodyPr wrap="square">
            <a:spAutoFit/>
          </a:bodyPr>
          <a:lstStyle/>
          <a:p>
            <a:pPr algn="l">
              <a:defRPr sz="1400" b="1">
                <a:solidFill>
                  <a:srgbClr val="1A1A2E"/>
                </a:solidFill>
                <a:latin typeface="Calibri"/>
              </a:defRPr>
            </a:pPr>
            <a:r>
              <a:t>How It Works</a:t>
            </a:r>
          </a:p>
        </p:txBody>
      </p:sp>
      <p:sp>
        <p:nvSpPr>
          <p:cNvPr id="7" name="TextBox 6"/>
          <p:cNvSpPr txBox="1"/>
          <p:nvPr/>
        </p:nvSpPr>
        <p:spPr>
          <a:xfrm>
            <a:off x="685800" y="2743200"/>
            <a:ext cx="5029200" cy="320040"/>
          </a:xfrm>
          <a:prstGeom prst="rect">
            <a:avLst/>
          </a:prstGeom>
          <a:noFill/>
        </p:spPr>
        <p:txBody>
          <a:bodyPr wrap="square">
            <a:spAutoFit/>
          </a:bodyPr>
          <a:lstStyle/>
          <a:p>
            <a:pPr algn="l">
              <a:defRPr sz="1200" b="0">
                <a:solidFill>
                  <a:srgbClr val="333333"/>
                </a:solidFill>
                <a:latin typeface="Calibri"/>
              </a:defRPr>
            </a:pPr>
            <a:r>
              <a:t>•  Ingest 3-5 years of dealer order and POS data from SD</a:t>
            </a:r>
          </a:p>
        </p:txBody>
      </p:sp>
      <p:sp>
        <p:nvSpPr>
          <p:cNvPr id="8" name="TextBox 7"/>
          <p:cNvSpPr txBox="1"/>
          <p:nvPr/>
        </p:nvSpPr>
        <p:spPr>
          <a:xfrm>
            <a:off x="685800" y="3035808"/>
            <a:ext cx="5029200" cy="320040"/>
          </a:xfrm>
          <a:prstGeom prst="rect">
            <a:avLst/>
          </a:prstGeom>
          <a:noFill/>
        </p:spPr>
        <p:txBody>
          <a:bodyPr wrap="square">
            <a:spAutoFit/>
          </a:bodyPr>
          <a:lstStyle/>
          <a:p>
            <a:pPr algn="l">
              <a:defRPr sz="1200" b="0">
                <a:solidFill>
                  <a:srgbClr val="333333"/>
                </a:solidFill>
                <a:latin typeface="Calibri"/>
              </a:defRPr>
            </a:pPr>
            <a:r>
              <a:t>•  Enrich with external signals: economic data, weather, competitor activity</a:t>
            </a:r>
          </a:p>
        </p:txBody>
      </p:sp>
      <p:sp>
        <p:nvSpPr>
          <p:cNvPr id="9" name="TextBox 8"/>
          <p:cNvSpPr txBox="1"/>
          <p:nvPr/>
        </p:nvSpPr>
        <p:spPr>
          <a:xfrm>
            <a:off x="685800" y="3328416"/>
            <a:ext cx="5029200" cy="320040"/>
          </a:xfrm>
          <a:prstGeom prst="rect">
            <a:avLst/>
          </a:prstGeom>
          <a:noFill/>
        </p:spPr>
        <p:txBody>
          <a:bodyPr wrap="square">
            <a:spAutoFit/>
          </a:bodyPr>
          <a:lstStyle/>
          <a:p>
            <a:pPr algn="l">
              <a:defRPr sz="1200" b="0">
                <a:solidFill>
                  <a:srgbClr val="333333"/>
                </a:solidFill>
                <a:latin typeface="Calibri"/>
              </a:defRPr>
            </a:pPr>
            <a:r>
              <a:t>•  Train ensemble models (XGBoost + LSTM) for short and long-term forecasts</a:t>
            </a:r>
          </a:p>
        </p:txBody>
      </p:sp>
      <p:sp>
        <p:nvSpPr>
          <p:cNvPr id="10" name="TextBox 9"/>
          <p:cNvSpPr txBox="1"/>
          <p:nvPr/>
        </p:nvSpPr>
        <p:spPr>
          <a:xfrm>
            <a:off x="685800" y="3621024"/>
            <a:ext cx="5029200" cy="320040"/>
          </a:xfrm>
          <a:prstGeom prst="rect">
            <a:avLst/>
          </a:prstGeom>
          <a:noFill/>
        </p:spPr>
        <p:txBody>
          <a:bodyPr wrap="square">
            <a:spAutoFit/>
          </a:bodyPr>
          <a:lstStyle/>
          <a:p>
            <a:pPr algn="l">
              <a:defRPr sz="1200" b="0">
                <a:solidFill>
                  <a:srgbClr val="333333"/>
                </a:solidFill>
                <a:latin typeface="Calibri"/>
              </a:defRPr>
            </a:pPr>
            <a:r>
              <a:t>•  Generate SKU-level forecasts at dealer, region, and national level</a:t>
            </a:r>
          </a:p>
        </p:txBody>
      </p:sp>
      <p:sp>
        <p:nvSpPr>
          <p:cNvPr id="11" name="TextBox 10"/>
          <p:cNvSpPr txBox="1"/>
          <p:nvPr/>
        </p:nvSpPr>
        <p:spPr>
          <a:xfrm>
            <a:off x="685800" y="3913632"/>
            <a:ext cx="5029200" cy="320040"/>
          </a:xfrm>
          <a:prstGeom prst="rect">
            <a:avLst/>
          </a:prstGeom>
          <a:noFill/>
        </p:spPr>
        <p:txBody>
          <a:bodyPr wrap="square">
            <a:spAutoFit/>
          </a:bodyPr>
          <a:lstStyle/>
          <a:p>
            <a:pPr algn="l">
              <a:defRPr sz="1200" b="0">
                <a:solidFill>
                  <a:srgbClr val="333333"/>
                </a:solidFill>
                <a:latin typeface="Calibri"/>
              </a:defRPr>
            </a:pPr>
            <a:r>
              <a:t>•  Auto-update demand plans in S/4 HANA Demand Management (MD61/MD62)</a:t>
            </a:r>
          </a:p>
        </p:txBody>
      </p:sp>
      <p:sp>
        <p:nvSpPr>
          <p:cNvPr id="12" name="TextBox 11"/>
          <p:cNvSpPr txBox="1"/>
          <p:nvPr/>
        </p:nvSpPr>
        <p:spPr>
          <a:xfrm>
            <a:off x="685800" y="4206240"/>
            <a:ext cx="5029200" cy="320040"/>
          </a:xfrm>
          <a:prstGeom prst="rect">
            <a:avLst/>
          </a:prstGeom>
          <a:noFill/>
        </p:spPr>
        <p:txBody>
          <a:bodyPr wrap="square">
            <a:spAutoFit/>
          </a:bodyPr>
          <a:lstStyle/>
          <a:p>
            <a:pPr algn="l">
              <a:defRPr sz="1200" b="0">
                <a:solidFill>
                  <a:srgbClr val="333333"/>
                </a:solidFill>
                <a:latin typeface="Calibri"/>
              </a:defRPr>
            </a:pPr>
            <a:r>
              <a:t>•  Continuous model retraining with actual vs. forecast variance feedback</a:t>
            </a:r>
          </a:p>
        </p:txBody>
      </p:sp>
      <p:sp>
        <p:nvSpPr>
          <p:cNvPr id="13" name="TextBox 12"/>
          <p:cNvSpPr txBox="1"/>
          <p:nvPr/>
        </p:nvSpPr>
        <p:spPr>
          <a:xfrm>
            <a:off x="6400800" y="2377440"/>
            <a:ext cx="5029200" cy="320040"/>
          </a:xfrm>
          <a:prstGeom prst="rect">
            <a:avLst/>
          </a:prstGeom>
          <a:noFill/>
        </p:spPr>
        <p:txBody>
          <a:bodyPr wrap="square">
            <a:spAutoFit/>
          </a:bodyPr>
          <a:lstStyle/>
          <a:p>
            <a:pPr algn="l">
              <a:defRPr sz="1400" b="1">
                <a:solidFill>
                  <a:srgbClr val="1A1A2E"/>
                </a:solidFill>
                <a:latin typeface="Calibri"/>
              </a:defRPr>
            </a:pPr>
            <a:r>
              <a:t>S/4 HANA Integration</a:t>
            </a:r>
          </a:p>
        </p:txBody>
      </p:sp>
      <p:sp>
        <p:nvSpPr>
          <p:cNvPr id="14" name="TextBox 13"/>
          <p:cNvSpPr txBox="1"/>
          <p:nvPr/>
        </p:nvSpPr>
        <p:spPr>
          <a:xfrm>
            <a:off x="6400800" y="2743200"/>
            <a:ext cx="5029200" cy="320040"/>
          </a:xfrm>
          <a:prstGeom prst="rect">
            <a:avLst/>
          </a:prstGeom>
          <a:noFill/>
        </p:spPr>
        <p:txBody>
          <a:bodyPr wrap="square">
            <a:spAutoFit/>
          </a:bodyPr>
          <a:lstStyle/>
          <a:p>
            <a:pPr algn="l">
              <a:defRPr sz="1200" b="0">
                <a:solidFill>
                  <a:srgbClr val="333333"/>
                </a:solidFill>
                <a:latin typeface="Calibri"/>
              </a:defRPr>
            </a:pPr>
            <a:r>
              <a:t>•  SD: Sales order history, delivery data, dealer allocation</a:t>
            </a:r>
          </a:p>
        </p:txBody>
      </p:sp>
      <p:sp>
        <p:nvSpPr>
          <p:cNvPr id="15" name="TextBox 14"/>
          <p:cNvSpPr txBox="1"/>
          <p:nvPr/>
        </p:nvSpPr>
        <p:spPr>
          <a:xfrm>
            <a:off x="6400800" y="3035808"/>
            <a:ext cx="5029200" cy="320040"/>
          </a:xfrm>
          <a:prstGeom prst="rect">
            <a:avLst/>
          </a:prstGeom>
          <a:noFill/>
        </p:spPr>
        <p:txBody>
          <a:bodyPr wrap="square">
            <a:spAutoFit/>
          </a:bodyPr>
          <a:lstStyle/>
          <a:p>
            <a:pPr algn="l">
              <a:defRPr sz="1200" b="0">
                <a:solidFill>
                  <a:srgbClr val="333333"/>
                </a:solidFill>
                <a:latin typeface="Calibri"/>
              </a:defRPr>
            </a:pPr>
            <a:r>
              <a:t>•  MM: Material master data, BOM structures, lead times</a:t>
            </a:r>
          </a:p>
        </p:txBody>
      </p:sp>
      <p:sp>
        <p:nvSpPr>
          <p:cNvPr id="16" name="TextBox 15"/>
          <p:cNvSpPr txBox="1"/>
          <p:nvPr/>
        </p:nvSpPr>
        <p:spPr>
          <a:xfrm>
            <a:off x="6400800" y="3328416"/>
            <a:ext cx="5029200" cy="320040"/>
          </a:xfrm>
          <a:prstGeom prst="rect">
            <a:avLst/>
          </a:prstGeom>
          <a:noFill/>
        </p:spPr>
        <p:txBody>
          <a:bodyPr wrap="square">
            <a:spAutoFit/>
          </a:bodyPr>
          <a:lstStyle/>
          <a:p>
            <a:pPr algn="l">
              <a:defRPr sz="1200" b="0">
                <a:solidFill>
                  <a:srgbClr val="333333"/>
                </a:solidFill>
                <a:latin typeface="Calibri"/>
              </a:defRPr>
            </a:pPr>
            <a:r>
              <a:t>•  SAP IBP: Demand planning integration for consensus forecasting</a:t>
            </a:r>
          </a:p>
        </p:txBody>
      </p:sp>
      <p:sp>
        <p:nvSpPr>
          <p:cNvPr id="17" name="TextBox 16"/>
          <p:cNvSpPr txBox="1"/>
          <p:nvPr/>
        </p:nvSpPr>
        <p:spPr>
          <a:xfrm>
            <a:off x="6400800" y="3621024"/>
            <a:ext cx="5029200" cy="320040"/>
          </a:xfrm>
          <a:prstGeom prst="rect">
            <a:avLst/>
          </a:prstGeom>
          <a:noFill/>
        </p:spPr>
        <p:txBody>
          <a:bodyPr wrap="square">
            <a:spAutoFit/>
          </a:bodyPr>
          <a:lstStyle/>
          <a:p>
            <a:pPr algn="l">
              <a:defRPr sz="1200" b="0">
                <a:solidFill>
                  <a:srgbClr val="333333"/>
                </a:solidFill>
                <a:latin typeface="Calibri"/>
              </a:defRPr>
            </a:pPr>
            <a:r>
              <a:t>•  SAP Analytics Cloud: Forecast dashboards and variance reports</a:t>
            </a:r>
          </a:p>
        </p:txBody>
      </p:sp>
      <p:sp>
        <p:nvSpPr>
          <p:cNvPr id="18" name="TextBox 17"/>
          <p:cNvSpPr txBox="1"/>
          <p:nvPr/>
        </p:nvSpPr>
        <p:spPr>
          <a:xfrm>
            <a:off x="6400800" y="3913632"/>
            <a:ext cx="5029200" cy="320040"/>
          </a:xfrm>
          <a:prstGeom prst="rect">
            <a:avLst/>
          </a:prstGeom>
          <a:noFill/>
        </p:spPr>
        <p:txBody>
          <a:bodyPr wrap="square">
            <a:spAutoFit/>
          </a:bodyPr>
          <a:lstStyle/>
          <a:p>
            <a:pPr algn="l">
              <a:defRPr sz="1200" b="0">
                <a:solidFill>
                  <a:srgbClr val="333333"/>
                </a:solidFill>
                <a:latin typeface="Calibri"/>
              </a:defRPr>
            </a:pPr>
            <a:r>
              <a:t>•  SAP BTP: ML model hosting and inference API</a:t>
            </a:r>
          </a:p>
        </p:txBody>
      </p:sp>
      <p:sp>
        <p:nvSpPr>
          <p:cNvPr id="19" name="TextBox 18"/>
          <p:cNvSpPr txBox="1"/>
          <p:nvPr/>
        </p:nvSpPr>
        <p:spPr>
          <a:xfrm>
            <a:off x="6400800" y="4206240"/>
            <a:ext cx="5029200" cy="320040"/>
          </a:xfrm>
          <a:prstGeom prst="rect">
            <a:avLst/>
          </a:prstGeom>
          <a:noFill/>
        </p:spPr>
        <p:txBody>
          <a:bodyPr wrap="square">
            <a:spAutoFit/>
          </a:bodyPr>
          <a:lstStyle/>
          <a:p>
            <a:pPr algn="l">
              <a:defRPr sz="1200" b="0">
                <a:solidFill>
                  <a:srgbClr val="333333"/>
                </a:solidFill>
                <a:latin typeface="Calibri"/>
              </a:defRPr>
            </a:pPr>
            <a:r>
              <a:t>•  Fiori: Demand planner cockpit for exception management</a:t>
            </a:r>
          </a:p>
        </p:txBody>
      </p:sp>
      <p:sp>
        <p:nvSpPr>
          <p:cNvPr id="20" name="TextBox 19"/>
          <p:cNvSpPr txBox="1"/>
          <p:nvPr/>
        </p:nvSpPr>
        <p:spPr>
          <a:xfrm>
            <a:off x="685800" y="4937760"/>
            <a:ext cx="10058400" cy="320040"/>
          </a:xfrm>
          <a:prstGeom prst="rect">
            <a:avLst/>
          </a:prstGeom>
          <a:noFill/>
        </p:spPr>
        <p:txBody>
          <a:bodyPr wrap="square">
            <a:spAutoFit/>
          </a:bodyPr>
          <a:lstStyle/>
          <a:p>
            <a:pPr algn="l">
              <a:defRPr sz="1400" b="1">
                <a:solidFill>
                  <a:srgbClr val="1A1A2E"/>
                </a:solidFill>
                <a:latin typeface="Calibri"/>
              </a:defRPr>
            </a:pPr>
            <a:r>
              <a:t>Target KPIs</a:t>
            </a:r>
          </a:p>
        </p:txBody>
      </p:sp>
      <p:sp>
        <p:nvSpPr>
          <p:cNvPr id="21" name="Rounded Rectangle 20"/>
          <p:cNvSpPr/>
          <p:nvPr/>
        </p:nvSpPr>
        <p:spPr>
          <a:xfrm>
            <a:off x="685800" y="5349240"/>
            <a:ext cx="2560320" cy="822960"/>
          </a:xfrm>
          <a:prstGeom prst="roundRect">
            <a:avLst/>
          </a:prstGeom>
          <a:solidFill>
            <a:srgbClr val="F5F5F5"/>
          </a:solidFill>
          <a:ln w="19050">
            <a:solidFill>
              <a:srgbClr val="0070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960" y="5394960"/>
            <a:ext cx="2286000" cy="365760"/>
          </a:xfrm>
          <a:prstGeom prst="rect">
            <a:avLst/>
          </a:prstGeom>
          <a:noFill/>
        </p:spPr>
        <p:txBody>
          <a:bodyPr wrap="square">
            <a:spAutoFit/>
          </a:bodyPr>
          <a:lstStyle/>
          <a:p>
            <a:pPr algn="l">
              <a:defRPr sz="2000" b="1">
                <a:solidFill>
                  <a:srgbClr val="0070F2"/>
                </a:solidFill>
                <a:latin typeface="Calibri"/>
              </a:defRPr>
            </a:pPr>
            <a:r>
              <a:t>&lt; 15%</a:t>
            </a:r>
          </a:p>
        </p:txBody>
      </p:sp>
      <p:sp>
        <p:nvSpPr>
          <p:cNvPr id="23" name="TextBox 22"/>
          <p:cNvSpPr txBox="1"/>
          <p:nvPr/>
        </p:nvSpPr>
        <p:spPr>
          <a:xfrm>
            <a:off x="822960" y="5760720"/>
            <a:ext cx="2286000" cy="320040"/>
          </a:xfrm>
          <a:prstGeom prst="rect">
            <a:avLst/>
          </a:prstGeom>
          <a:noFill/>
        </p:spPr>
        <p:txBody>
          <a:bodyPr wrap="square">
            <a:spAutoFit/>
          </a:bodyPr>
          <a:lstStyle/>
          <a:p>
            <a:pPr algn="l">
              <a:defRPr sz="1000" b="0">
                <a:solidFill>
                  <a:srgbClr val="888888"/>
                </a:solidFill>
                <a:latin typeface="Calibri"/>
              </a:defRPr>
            </a:pPr>
            <a:r>
              <a:t>Forecast Accuracy (MAPE)</a:t>
            </a:r>
          </a:p>
        </p:txBody>
      </p:sp>
      <p:sp>
        <p:nvSpPr>
          <p:cNvPr id="24" name="Rounded Rectangle 23"/>
          <p:cNvSpPr/>
          <p:nvPr/>
        </p:nvSpPr>
        <p:spPr>
          <a:xfrm>
            <a:off x="3429000" y="5349240"/>
            <a:ext cx="2560320" cy="822960"/>
          </a:xfrm>
          <a:prstGeom prst="roundRect">
            <a:avLst/>
          </a:prstGeom>
          <a:solidFill>
            <a:srgbClr val="F5F5F5"/>
          </a:solidFill>
          <a:ln w="19050">
            <a:solidFill>
              <a:srgbClr val="0070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566160" y="5394960"/>
            <a:ext cx="2286000" cy="365760"/>
          </a:xfrm>
          <a:prstGeom prst="rect">
            <a:avLst/>
          </a:prstGeom>
          <a:noFill/>
        </p:spPr>
        <p:txBody>
          <a:bodyPr wrap="square">
            <a:spAutoFit/>
          </a:bodyPr>
          <a:lstStyle/>
          <a:p>
            <a:pPr algn="l">
              <a:defRPr sz="2000" b="1">
                <a:solidFill>
                  <a:srgbClr val="0070F2"/>
                </a:solidFill>
                <a:latin typeface="Calibri"/>
              </a:defRPr>
            </a:pPr>
            <a:r>
              <a:t>50-70%</a:t>
            </a:r>
          </a:p>
        </p:txBody>
      </p:sp>
      <p:sp>
        <p:nvSpPr>
          <p:cNvPr id="26" name="TextBox 25"/>
          <p:cNvSpPr txBox="1"/>
          <p:nvPr/>
        </p:nvSpPr>
        <p:spPr>
          <a:xfrm>
            <a:off x="3566160" y="5760720"/>
            <a:ext cx="2286000" cy="320040"/>
          </a:xfrm>
          <a:prstGeom prst="rect">
            <a:avLst/>
          </a:prstGeom>
          <a:noFill/>
        </p:spPr>
        <p:txBody>
          <a:bodyPr wrap="square">
            <a:spAutoFit/>
          </a:bodyPr>
          <a:lstStyle/>
          <a:p>
            <a:pPr algn="l">
              <a:defRPr sz="1000" b="0">
                <a:solidFill>
                  <a:srgbClr val="888888"/>
                </a:solidFill>
                <a:latin typeface="Calibri"/>
              </a:defRPr>
            </a:pPr>
            <a:r>
              <a:t>Bias Reduction</a:t>
            </a:r>
          </a:p>
        </p:txBody>
      </p:sp>
      <p:sp>
        <p:nvSpPr>
          <p:cNvPr id="27" name="Rounded Rectangle 26"/>
          <p:cNvSpPr/>
          <p:nvPr/>
        </p:nvSpPr>
        <p:spPr>
          <a:xfrm>
            <a:off x="6172200" y="5349240"/>
            <a:ext cx="2560320" cy="822960"/>
          </a:xfrm>
          <a:prstGeom prst="roundRect">
            <a:avLst/>
          </a:prstGeom>
          <a:solidFill>
            <a:srgbClr val="F5F5F5"/>
          </a:solidFill>
          <a:ln w="19050">
            <a:solidFill>
              <a:srgbClr val="0070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09360" y="5394960"/>
            <a:ext cx="2286000" cy="365760"/>
          </a:xfrm>
          <a:prstGeom prst="rect">
            <a:avLst/>
          </a:prstGeom>
          <a:noFill/>
        </p:spPr>
        <p:txBody>
          <a:bodyPr wrap="square">
            <a:spAutoFit/>
          </a:bodyPr>
          <a:lstStyle/>
          <a:p>
            <a:pPr algn="l">
              <a:defRPr sz="2000" b="1">
                <a:solidFill>
                  <a:srgbClr val="0070F2"/>
                </a:solidFill>
                <a:latin typeface="Calibri"/>
              </a:defRPr>
            </a:pPr>
            <a:r>
              <a:t>30-40%</a:t>
            </a:r>
          </a:p>
        </p:txBody>
      </p:sp>
      <p:sp>
        <p:nvSpPr>
          <p:cNvPr id="29" name="TextBox 28"/>
          <p:cNvSpPr txBox="1"/>
          <p:nvPr/>
        </p:nvSpPr>
        <p:spPr>
          <a:xfrm>
            <a:off x="6309360" y="5760720"/>
            <a:ext cx="2286000" cy="320040"/>
          </a:xfrm>
          <a:prstGeom prst="rect">
            <a:avLst/>
          </a:prstGeom>
          <a:noFill/>
        </p:spPr>
        <p:txBody>
          <a:bodyPr wrap="square">
            <a:spAutoFit/>
          </a:bodyPr>
          <a:lstStyle/>
          <a:p>
            <a:pPr algn="l">
              <a:defRPr sz="1000" b="0">
                <a:solidFill>
                  <a:srgbClr val="888888"/>
                </a:solidFill>
                <a:latin typeface="Calibri"/>
              </a:defRPr>
            </a:pPr>
            <a:r>
              <a:t>Stockout Reduction</a:t>
            </a:r>
          </a:p>
        </p:txBody>
      </p:sp>
      <p:sp>
        <p:nvSpPr>
          <p:cNvPr id="30" name="Rounded Rectangle 29"/>
          <p:cNvSpPr/>
          <p:nvPr/>
        </p:nvSpPr>
        <p:spPr>
          <a:xfrm>
            <a:off x="8915400" y="5349240"/>
            <a:ext cx="2560320" cy="822960"/>
          </a:xfrm>
          <a:prstGeom prst="roundRect">
            <a:avLst/>
          </a:prstGeom>
          <a:solidFill>
            <a:srgbClr val="F5F5F5"/>
          </a:solidFill>
          <a:ln w="19050">
            <a:solidFill>
              <a:srgbClr val="0070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52560" y="5394960"/>
            <a:ext cx="2286000" cy="365760"/>
          </a:xfrm>
          <a:prstGeom prst="rect">
            <a:avLst/>
          </a:prstGeom>
          <a:noFill/>
        </p:spPr>
        <p:txBody>
          <a:bodyPr wrap="square">
            <a:spAutoFit/>
          </a:bodyPr>
          <a:lstStyle/>
          <a:p>
            <a:pPr algn="l">
              <a:defRPr sz="2000" b="1">
                <a:solidFill>
                  <a:srgbClr val="0070F2"/>
                </a:solidFill>
                <a:latin typeface="Calibri"/>
              </a:defRPr>
            </a:pPr>
            <a:r>
              <a:t>60% Faster</a:t>
            </a:r>
          </a:p>
        </p:txBody>
      </p:sp>
      <p:sp>
        <p:nvSpPr>
          <p:cNvPr id="32" name="TextBox 31"/>
          <p:cNvSpPr txBox="1"/>
          <p:nvPr/>
        </p:nvSpPr>
        <p:spPr>
          <a:xfrm>
            <a:off x="9052560" y="5760720"/>
            <a:ext cx="2286000" cy="320040"/>
          </a:xfrm>
          <a:prstGeom prst="rect">
            <a:avLst/>
          </a:prstGeom>
          <a:noFill/>
        </p:spPr>
        <p:txBody>
          <a:bodyPr wrap="square">
            <a:spAutoFit/>
          </a:bodyPr>
          <a:lstStyle/>
          <a:p>
            <a:pPr algn="l">
              <a:defRPr sz="1000" b="0">
                <a:solidFill>
                  <a:srgbClr val="888888"/>
                </a:solidFill>
                <a:latin typeface="Calibri"/>
              </a:defRPr>
            </a:pPr>
            <a:r>
              <a:t>Planning Cycle Time</a:t>
            </a:r>
          </a:p>
        </p:txBody>
      </p:sp>
      <p:sp>
        <p:nvSpPr>
          <p:cNvPr id="33" name="TextBox 32"/>
          <p:cNvSpPr txBox="1"/>
          <p:nvPr/>
        </p:nvSpPr>
        <p:spPr>
          <a:xfrm>
            <a:off x="685800" y="6400800"/>
            <a:ext cx="10515600" cy="274320"/>
          </a:xfrm>
          <a:prstGeom prst="rect">
            <a:avLst/>
          </a:prstGeom>
          <a:noFill/>
        </p:spPr>
        <p:txBody>
          <a:bodyPr wrap="square">
            <a:spAutoFit/>
          </a:bodyPr>
          <a:lstStyle/>
          <a:p>
            <a:pPr algn="r">
              <a:defRPr sz="900" b="0">
                <a:solidFill>
                  <a:srgbClr val="888888"/>
                </a:solidFill>
                <a:latin typeface="Calibri"/>
              </a:defRPr>
            </a:pPr>
            <a:r>
              <a:t>Toyota Motors Australia  |  AI-Powered S/4 HANA Transformation  |  Confidential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096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164592"/>
            <a:ext cx="10515600" cy="640080"/>
          </a:xfrm>
          <a:prstGeom prst="rect">
            <a:avLst/>
          </a:prstGeom>
          <a:noFill/>
        </p:spPr>
        <p:txBody>
          <a:bodyPr wrap="square">
            <a:spAutoFit/>
          </a:bodyPr>
          <a:lstStyle/>
          <a:p>
            <a:pPr algn="l">
              <a:defRPr sz="2800" b="1">
                <a:solidFill>
                  <a:srgbClr val="FFFFFF"/>
                </a:solidFill>
                <a:latin typeface="Calibri"/>
              </a:defRPr>
            </a:pPr>
            <a:r>
              <a:t>Use Case 2 — Inventory Optimization</a:t>
            </a:r>
          </a:p>
        </p:txBody>
      </p:sp>
      <p:sp>
        <p:nvSpPr>
          <p:cNvPr id="4" name="TextBox 3"/>
          <p:cNvSpPr txBox="1"/>
          <p:nvPr/>
        </p:nvSpPr>
        <p:spPr>
          <a:xfrm>
            <a:off x="685800" y="1188720"/>
            <a:ext cx="10515600" cy="457200"/>
          </a:xfrm>
          <a:prstGeom prst="rect">
            <a:avLst/>
          </a:prstGeom>
          <a:noFill/>
        </p:spPr>
        <p:txBody>
          <a:bodyPr wrap="square">
            <a:spAutoFit/>
          </a:bodyPr>
          <a:lstStyle/>
          <a:p>
            <a:pPr algn="l">
              <a:defRPr sz="1600" b="1">
                <a:solidFill>
                  <a:srgbClr val="00964B"/>
                </a:solidFill>
                <a:latin typeface="Calibri"/>
              </a:defRPr>
            </a:pPr>
            <a:r>
              <a:t>Maintain optimal stock across warehouses and dealers</a:t>
            </a:r>
          </a:p>
        </p:txBody>
      </p:sp>
      <p:sp>
        <p:nvSpPr>
          <p:cNvPr id="5" name="TextBox 4"/>
          <p:cNvSpPr txBox="1"/>
          <p:nvPr/>
        </p:nvSpPr>
        <p:spPr>
          <a:xfrm>
            <a:off x="685800" y="1645920"/>
            <a:ext cx="10515600" cy="548640"/>
          </a:xfrm>
          <a:prstGeom prst="rect">
            <a:avLst/>
          </a:prstGeom>
          <a:noFill/>
        </p:spPr>
        <p:txBody>
          <a:bodyPr wrap="square">
            <a:spAutoFit/>
          </a:bodyPr>
          <a:lstStyle/>
          <a:p>
            <a:pPr algn="l">
              <a:defRPr sz="1300" b="0">
                <a:solidFill>
                  <a:srgbClr val="333333"/>
                </a:solidFill>
                <a:latin typeface="Calibri"/>
              </a:defRPr>
            </a:pPr>
            <a:r>
              <a:t>AI-driven inventory optimization dynamically adjusts safety stock, reorder points, and replenishment quantities across the entire network — from national distribution centres to 280+ individual dealerships — balancing service levels against carrying costs.</a:t>
            </a:r>
          </a:p>
        </p:txBody>
      </p:sp>
      <p:sp>
        <p:nvSpPr>
          <p:cNvPr id="6" name="TextBox 5"/>
          <p:cNvSpPr txBox="1"/>
          <p:nvPr/>
        </p:nvSpPr>
        <p:spPr>
          <a:xfrm>
            <a:off x="685800" y="2377440"/>
            <a:ext cx="5029200" cy="320040"/>
          </a:xfrm>
          <a:prstGeom prst="rect">
            <a:avLst/>
          </a:prstGeom>
          <a:noFill/>
        </p:spPr>
        <p:txBody>
          <a:bodyPr wrap="square">
            <a:spAutoFit/>
          </a:bodyPr>
          <a:lstStyle/>
          <a:p>
            <a:pPr algn="l">
              <a:defRPr sz="1400" b="1">
                <a:solidFill>
                  <a:srgbClr val="1A1A2E"/>
                </a:solidFill>
                <a:latin typeface="Calibri"/>
              </a:defRPr>
            </a:pPr>
            <a:r>
              <a:t>How It Works</a:t>
            </a:r>
          </a:p>
        </p:txBody>
      </p:sp>
      <p:sp>
        <p:nvSpPr>
          <p:cNvPr id="7" name="TextBox 6"/>
          <p:cNvSpPr txBox="1"/>
          <p:nvPr/>
        </p:nvSpPr>
        <p:spPr>
          <a:xfrm>
            <a:off x="685800" y="2743200"/>
            <a:ext cx="5029200" cy="320040"/>
          </a:xfrm>
          <a:prstGeom prst="rect">
            <a:avLst/>
          </a:prstGeom>
          <a:noFill/>
        </p:spPr>
        <p:txBody>
          <a:bodyPr wrap="square">
            <a:spAutoFit/>
          </a:bodyPr>
          <a:lstStyle/>
          <a:p>
            <a:pPr algn="l">
              <a:defRPr sz="1200" b="0">
                <a:solidFill>
                  <a:srgbClr val="333333"/>
                </a:solidFill>
                <a:latin typeface="Calibri"/>
              </a:defRPr>
            </a:pPr>
            <a:r>
              <a:t>•  Classify inventory using AI-powered ABC/XYZ segmentation</a:t>
            </a:r>
          </a:p>
        </p:txBody>
      </p:sp>
      <p:sp>
        <p:nvSpPr>
          <p:cNvPr id="8" name="TextBox 7"/>
          <p:cNvSpPr txBox="1"/>
          <p:nvPr/>
        </p:nvSpPr>
        <p:spPr>
          <a:xfrm>
            <a:off x="685800" y="3035808"/>
            <a:ext cx="5029200" cy="320040"/>
          </a:xfrm>
          <a:prstGeom prst="rect">
            <a:avLst/>
          </a:prstGeom>
          <a:noFill/>
        </p:spPr>
        <p:txBody>
          <a:bodyPr wrap="square">
            <a:spAutoFit/>
          </a:bodyPr>
          <a:lstStyle/>
          <a:p>
            <a:pPr algn="l">
              <a:defRPr sz="1200" b="0">
                <a:solidFill>
                  <a:srgbClr val="333333"/>
                </a:solidFill>
                <a:latin typeface="Calibri"/>
              </a:defRPr>
            </a:pPr>
            <a:r>
              <a:t>•  Calculate dynamic safety stock based on demand variability and lead time</a:t>
            </a:r>
          </a:p>
        </p:txBody>
      </p:sp>
      <p:sp>
        <p:nvSpPr>
          <p:cNvPr id="9" name="TextBox 8"/>
          <p:cNvSpPr txBox="1"/>
          <p:nvPr/>
        </p:nvSpPr>
        <p:spPr>
          <a:xfrm>
            <a:off x="685800" y="3328416"/>
            <a:ext cx="5029200" cy="320040"/>
          </a:xfrm>
          <a:prstGeom prst="rect">
            <a:avLst/>
          </a:prstGeom>
          <a:noFill/>
        </p:spPr>
        <p:txBody>
          <a:bodyPr wrap="square">
            <a:spAutoFit/>
          </a:bodyPr>
          <a:lstStyle/>
          <a:p>
            <a:pPr algn="l">
              <a:defRPr sz="1200" b="0">
                <a:solidFill>
                  <a:srgbClr val="333333"/>
                </a:solidFill>
                <a:latin typeface="Calibri"/>
              </a:defRPr>
            </a:pPr>
            <a:r>
              <a:t>•  Optimize reorder points per SKU per location using stochastic models</a:t>
            </a:r>
          </a:p>
        </p:txBody>
      </p:sp>
      <p:sp>
        <p:nvSpPr>
          <p:cNvPr id="10" name="TextBox 9"/>
          <p:cNvSpPr txBox="1"/>
          <p:nvPr/>
        </p:nvSpPr>
        <p:spPr>
          <a:xfrm>
            <a:off x="685800" y="3621024"/>
            <a:ext cx="5029200" cy="320040"/>
          </a:xfrm>
          <a:prstGeom prst="rect">
            <a:avLst/>
          </a:prstGeom>
          <a:noFill/>
        </p:spPr>
        <p:txBody>
          <a:bodyPr wrap="square">
            <a:spAutoFit/>
          </a:bodyPr>
          <a:lstStyle/>
          <a:p>
            <a:pPr algn="l">
              <a:defRPr sz="1200" b="0">
                <a:solidFill>
                  <a:srgbClr val="333333"/>
                </a:solidFill>
                <a:latin typeface="Calibri"/>
              </a:defRPr>
            </a:pPr>
            <a:r>
              <a:t>•  Multi-echelon optimization: national DC → regional DC → dealer</a:t>
            </a:r>
          </a:p>
        </p:txBody>
      </p:sp>
      <p:sp>
        <p:nvSpPr>
          <p:cNvPr id="11" name="TextBox 10"/>
          <p:cNvSpPr txBox="1"/>
          <p:nvPr/>
        </p:nvSpPr>
        <p:spPr>
          <a:xfrm>
            <a:off x="685800" y="3913632"/>
            <a:ext cx="5029200" cy="320040"/>
          </a:xfrm>
          <a:prstGeom prst="rect">
            <a:avLst/>
          </a:prstGeom>
          <a:noFill/>
        </p:spPr>
        <p:txBody>
          <a:bodyPr wrap="square">
            <a:spAutoFit/>
          </a:bodyPr>
          <a:lstStyle/>
          <a:p>
            <a:pPr algn="l">
              <a:defRPr sz="1200" b="0">
                <a:solidFill>
                  <a:srgbClr val="333333"/>
                </a:solidFill>
                <a:latin typeface="Calibri"/>
              </a:defRPr>
            </a:pPr>
            <a:r>
              <a:t>•  Slow-mover identification and redistribution recommendations</a:t>
            </a:r>
          </a:p>
        </p:txBody>
      </p:sp>
      <p:sp>
        <p:nvSpPr>
          <p:cNvPr id="12" name="TextBox 11"/>
          <p:cNvSpPr txBox="1"/>
          <p:nvPr/>
        </p:nvSpPr>
        <p:spPr>
          <a:xfrm>
            <a:off x="685800" y="4206240"/>
            <a:ext cx="5029200" cy="320040"/>
          </a:xfrm>
          <a:prstGeom prst="rect">
            <a:avLst/>
          </a:prstGeom>
          <a:noFill/>
        </p:spPr>
        <p:txBody>
          <a:bodyPr wrap="square">
            <a:spAutoFit/>
          </a:bodyPr>
          <a:lstStyle/>
          <a:p>
            <a:pPr algn="l">
              <a:defRPr sz="1200" b="0">
                <a:solidFill>
                  <a:srgbClr val="333333"/>
                </a:solidFill>
                <a:latin typeface="Calibri"/>
              </a:defRPr>
            </a:pPr>
            <a:r>
              <a:t>•  Automatic parameter updates pushed to S/4 HANA Material Master</a:t>
            </a:r>
          </a:p>
        </p:txBody>
      </p:sp>
      <p:sp>
        <p:nvSpPr>
          <p:cNvPr id="13" name="TextBox 12"/>
          <p:cNvSpPr txBox="1"/>
          <p:nvPr/>
        </p:nvSpPr>
        <p:spPr>
          <a:xfrm>
            <a:off x="6400800" y="2377440"/>
            <a:ext cx="5029200" cy="320040"/>
          </a:xfrm>
          <a:prstGeom prst="rect">
            <a:avLst/>
          </a:prstGeom>
          <a:noFill/>
        </p:spPr>
        <p:txBody>
          <a:bodyPr wrap="square">
            <a:spAutoFit/>
          </a:bodyPr>
          <a:lstStyle/>
          <a:p>
            <a:pPr algn="l">
              <a:defRPr sz="1400" b="1">
                <a:solidFill>
                  <a:srgbClr val="1A1A2E"/>
                </a:solidFill>
                <a:latin typeface="Calibri"/>
              </a:defRPr>
            </a:pPr>
            <a:r>
              <a:t>S/4 HANA Integration</a:t>
            </a:r>
          </a:p>
        </p:txBody>
      </p:sp>
      <p:sp>
        <p:nvSpPr>
          <p:cNvPr id="14" name="TextBox 13"/>
          <p:cNvSpPr txBox="1"/>
          <p:nvPr/>
        </p:nvSpPr>
        <p:spPr>
          <a:xfrm>
            <a:off x="6400800" y="2743200"/>
            <a:ext cx="5029200" cy="320040"/>
          </a:xfrm>
          <a:prstGeom prst="rect">
            <a:avLst/>
          </a:prstGeom>
          <a:noFill/>
        </p:spPr>
        <p:txBody>
          <a:bodyPr wrap="square">
            <a:spAutoFit/>
          </a:bodyPr>
          <a:lstStyle/>
          <a:p>
            <a:pPr algn="l">
              <a:defRPr sz="1200" b="0">
                <a:solidFill>
                  <a:srgbClr val="333333"/>
                </a:solidFill>
                <a:latin typeface="Calibri"/>
              </a:defRPr>
            </a:pPr>
            <a:r>
              <a:t>•  MM: Material master, MRP parameters, stock overview (MMBE)</a:t>
            </a:r>
          </a:p>
        </p:txBody>
      </p:sp>
      <p:sp>
        <p:nvSpPr>
          <p:cNvPr id="15" name="TextBox 14"/>
          <p:cNvSpPr txBox="1"/>
          <p:nvPr/>
        </p:nvSpPr>
        <p:spPr>
          <a:xfrm>
            <a:off x="6400800" y="3035808"/>
            <a:ext cx="5029200" cy="320040"/>
          </a:xfrm>
          <a:prstGeom prst="rect">
            <a:avLst/>
          </a:prstGeom>
          <a:noFill/>
        </p:spPr>
        <p:txBody>
          <a:bodyPr wrap="square">
            <a:spAutoFit/>
          </a:bodyPr>
          <a:lstStyle/>
          <a:p>
            <a:pPr algn="l">
              <a:defRPr sz="1200" b="0">
                <a:solidFill>
                  <a:srgbClr val="333333"/>
                </a:solidFill>
                <a:latin typeface="Calibri"/>
              </a:defRPr>
            </a:pPr>
            <a:r>
              <a:t>•  EWM: Warehouse stock, bin locations, throughput data</a:t>
            </a:r>
          </a:p>
        </p:txBody>
      </p:sp>
      <p:sp>
        <p:nvSpPr>
          <p:cNvPr id="16" name="TextBox 15"/>
          <p:cNvSpPr txBox="1"/>
          <p:nvPr/>
        </p:nvSpPr>
        <p:spPr>
          <a:xfrm>
            <a:off x="6400800" y="3328416"/>
            <a:ext cx="5029200" cy="320040"/>
          </a:xfrm>
          <a:prstGeom prst="rect">
            <a:avLst/>
          </a:prstGeom>
          <a:noFill/>
        </p:spPr>
        <p:txBody>
          <a:bodyPr wrap="square">
            <a:spAutoFit/>
          </a:bodyPr>
          <a:lstStyle/>
          <a:p>
            <a:pPr algn="l">
              <a:defRPr sz="1200" b="0">
                <a:solidFill>
                  <a:srgbClr val="333333"/>
                </a:solidFill>
                <a:latin typeface="Calibri"/>
              </a:defRPr>
            </a:pPr>
            <a:r>
              <a:t>•  SD: Dealer stock visibility and replenishment orders</a:t>
            </a:r>
          </a:p>
        </p:txBody>
      </p:sp>
      <p:sp>
        <p:nvSpPr>
          <p:cNvPr id="17" name="TextBox 16"/>
          <p:cNvSpPr txBox="1"/>
          <p:nvPr/>
        </p:nvSpPr>
        <p:spPr>
          <a:xfrm>
            <a:off x="6400800" y="3621024"/>
            <a:ext cx="5029200" cy="320040"/>
          </a:xfrm>
          <a:prstGeom prst="rect">
            <a:avLst/>
          </a:prstGeom>
          <a:noFill/>
        </p:spPr>
        <p:txBody>
          <a:bodyPr wrap="square">
            <a:spAutoFit/>
          </a:bodyPr>
          <a:lstStyle/>
          <a:p>
            <a:pPr algn="l">
              <a:defRPr sz="1200" b="0">
                <a:solidFill>
                  <a:srgbClr val="333333"/>
                </a:solidFill>
                <a:latin typeface="Calibri"/>
              </a:defRPr>
            </a:pPr>
            <a:r>
              <a:t>•  SAP IBP: Inventory optimization integration</a:t>
            </a:r>
          </a:p>
        </p:txBody>
      </p:sp>
      <p:sp>
        <p:nvSpPr>
          <p:cNvPr id="18" name="TextBox 17"/>
          <p:cNvSpPr txBox="1"/>
          <p:nvPr/>
        </p:nvSpPr>
        <p:spPr>
          <a:xfrm>
            <a:off x="6400800" y="3913632"/>
            <a:ext cx="5029200" cy="320040"/>
          </a:xfrm>
          <a:prstGeom prst="rect">
            <a:avLst/>
          </a:prstGeom>
          <a:noFill/>
        </p:spPr>
        <p:txBody>
          <a:bodyPr wrap="square">
            <a:spAutoFit/>
          </a:bodyPr>
          <a:lstStyle/>
          <a:p>
            <a:pPr algn="l">
              <a:defRPr sz="1200" b="0">
                <a:solidFill>
                  <a:srgbClr val="333333"/>
                </a:solidFill>
                <a:latin typeface="Calibri"/>
              </a:defRPr>
            </a:pPr>
            <a:r>
              <a:t>•  MRP: Auto-adjusted safety stock and reorder point via MRP profiles</a:t>
            </a:r>
          </a:p>
        </p:txBody>
      </p:sp>
      <p:sp>
        <p:nvSpPr>
          <p:cNvPr id="19" name="TextBox 18"/>
          <p:cNvSpPr txBox="1"/>
          <p:nvPr/>
        </p:nvSpPr>
        <p:spPr>
          <a:xfrm>
            <a:off x="6400800" y="4206240"/>
            <a:ext cx="5029200" cy="320040"/>
          </a:xfrm>
          <a:prstGeom prst="rect">
            <a:avLst/>
          </a:prstGeom>
          <a:noFill/>
        </p:spPr>
        <p:txBody>
          <a:bodyPr wrap="square">
            <a:spAutoFit/>
          </a:bodyPr>
          <a:lstStyle/>
          <a:p>
            <a:pPr algn="l">
              <a:defRPr sz="1200" b="0">
                <a:solidFill>
                  <a:srgbClr val="333333"/>
                </a:solidFill>
                <a:latin typeface="Calibri"/>
              </a:defRPr>
            </a:pPr>
            <a:r>
              <a:t>•  Fiori: Inventory health dashboard with exception alerts</a:t>
            </a:r>
          </a:p>
        </p:txBody>
      </p:sp>
      <p:sp>
        <p:nvSpPr>
          <p:cNvPr id="20" name="TextBox 19"/>
          <p:cNvSpPr txBox="1"/>
          <p:nvPr/>
        </p:nvSpPr>
        <p:spPr>
          <a:xfrm>
            <a:off x="685800" y="4937760"/>
            <a:ext cx="10058400" cy="320040"/>
          </a:xfrm>
          <a:prstGeom prst="rect">
            <a:avLst/>
          </a:prstGeom>
          <a:noFill/>
        </p:spPr>
        <p:txBody>
          <a:bodyPr wrap="square">
            <a:spAutoFit/>
          </a:bodyPr>
          <a:lstStyle/>
          <a:p>
            <a:pPr algn="l">
              <a:defRPr sz="1400" b="1">
                <a:solidFill>
                  <a:srgbClr val="1A1A2E"/>
                </a:solidFill>
                <a:latin typeface="Calibri"/>
              </a:defRPr>
            </a:pPr>
            <a:r>
              <a:t>Target KPIs</a:t>
            </a:r>
          </a:p>
        </p:txBody>
      </p:sp>
      <p:sp>
        <p:nvSpPr>
          <p:cNvPr id="21" name="Rounded Rectangle 20"/>
          <p:cNvSpPr/>
          <p:nvPr/>
        </p:nvSpPr>
        <p:spPr>
          <a:xfrm>
            <a:off x="685800" y="5349240"/>
            <a:ext cx="2560320" cy="822960"/>
          </a:xfrm>
          <a:prstGeom prst="roundRect">
            <a:avLst/>
          </a:prstGeom>
          <a:solidFill>
            <a:srgbClr val="F5F5F5"/>
          </a:solidFill>
          <a:ln w="19050">
            <a:solidFill>
              <a:srgbClr val="0096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960" y="5394960"/>
            <a:ext cx="2286000" cy="365760"/>
          </a:xfrm>
          <a:prstGeom prst="rect">
            <a:avLst/>
          </a:prstGeom>
          <a:noFill/>
        </p:spPr>
        <p:txBody>
          <a:bodyPr wrap="square">
            <a:spAutoFit/>
          </a:bodyPr>
          <a:lstStyle/>
          <a:p>
            <a:pPr algn="l">
              <a:defRPr sz="2000" b="1">
                <a:solidFill>
                  <a:srgbClr val="00964B"/>
                </a:solidFill>
                <a:latin typeface="Calibri"/>
              </a:defRPr>
            </a:pPr>
            <a:r>
              <a:t>15-25% ↓</a:t>
            </a:r>
          </a:p>
        </p:txBody>
      </p:sp>
      <p:sp>
        <p:nvSpPr>
          <p:cNvPr id="23" name="TextBox 22"/>
          <p:cNvSpPr txBox="1"/>
          <p:nvPr/>
        </p:nvSpPr>
        <p:spPr>
          <a:xfrm>
            <a:off x="822960" y="5760720"/>
            <a:ext cx="2286000" cy="320040"/>
          </a:xfrm>
          <a:prstGeom prst="rect">
            <a:avLst/>
          </a:prstGeom>
          <a:noFill/>
        </p:spPr>
        <p:txBody>
          <a:bodyPr wrap="square">
            <a:spAutoFit/>
          </a:bodyPr>
          <a:lstStyle/>
          <a:p>
            <a:pPr algn="l">
              <a:defRPr sz="1000" b="0">
                <a:solidFill>
                  <a:srgbClr val="888888"/>
                </a:solidFill>
                <a:latin typeface="Calibri"/>
              </a:defRPr>
            </a:pPr>
            <a:r>
              <a:t>Excess Inventory</a:t>
            </a:r>
          </a:p>
        </p:txBody>
      </p:sp>
      <p:sp>
        <p:nvSpPr>
          <p:cNvPr id="24" name="Rounded Rectangle 23"/>
          <p:cNvSpPr/>
          <p:nvPr/>
        </p:nvSpPr>
        <p:spPr>
          <a:xfrm>
            <a:off x="3429000" y="5349240"/>
            <a:ext cx="2560320" cy="822960"/>
          </a:xfrm>
          <a:prstGeom prst="roundRect">
            <a:avLst/>
          </a:prstGeom>
          <a:solidFill>
            <a:srgbClr val="F5F5F5"/>
          </a:solidFill>
          <a:ln w="19050">
            <a:solidFill>
              <a:srgbClr val="0096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566160" y="5394960"/>
            <a:ext cx="2286000" cy="365760"/>
          </a:xfrm>
          <a:prstGeom prst="rect">
            <a:avLst/>
          </a:prstGeom>
          <a:noFill/>
        </p:spPr>
        <p:txBody>
          <a:bodyPr wrap="square">
            <a:spAutoFit/>
          </a:bodyPr>
          <a:lstStyle/>
          <a:p>
            <a:pPr algn="l">
              <a:defRPr sz="2000" b="1">
                <a:solidFill>
                  <a:srgbClr val="00964B"/>
                </a:solidFill>
                <a:latin typeface="Calibri"/>
              </a:defRPr>
            </a:pPr>
            <a:r>
              <a:t>&gt; 97%</a:t>
            </a:r>
          </a:p>
        </p:txBody>
      </p:sp>
      <p:sp>
        <p:nvSpPr>
          <p:cNvPr id="26" name="TextBox 25"/>
          <p:cNvSpPr txBox="1"/>
          <p:nvPr/>
        </p:nvSpPr>
        <p:spPr>
          <a:xfrm>
            <a:off x="3566160" y="5760720"/>
            <a:ext cx="2286000" cy="320040"/>
          </a:xfrm>
          <a:prstGeom prst="rect">
            <a:avLst/>
          </a:prstGeom>
          <a:noFill/>
        </p:spPr>
        <p:txBody>
          <a:bodyPr wrap="square">
            <a:spAutoFit/>
          </a:bodyPr>
          <a:lstStyle/>
          <a:p>
            <a:pPr algn="l">
              <a:defRPr sz="1000" b="0">
                <a:solidFill>
                  <a:srgbClr val="888888"/>
                </a:solidFill>
                <a:latin typeface="Calibri"/>
              </a:defRPr>
            </a:pPr>
            <a:r>
              <a:t>Service Level (OTIF)</a:t>
            </a:r>
          </a:p>
        </p:txBody>
      </p:sp>
      <p:sp>
        <p:nvSpPr>
          <p:cNvPr id="27" name="Rounded Rectangle 26"/>
          <p:cNvSpPr/>
          <p:nvPr/>
        </p:nvSpPr>
        <p:spPr>
          <a:xfrm>
            <a:off x="6172200" y="5349240"/>
            <a:ext cx="2560320" cy="822960"/>
          </a:xfrm>
          <a:prstGeom prst="roundRect">
            <a:avLst/>
          </a:prstGeom>
          <a:solidFill>
            <a:srgbClr val="F5F5F5"/>
          </a:solidFill>
          <a:ln w="19050">
            <a:solidFill>
              <a:srgbClr val="0096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09360" y="5394960"/>
            <a:ext cx="2286000" cy="365760"/>
          </a:xfrm>
          <a:prstGeom prst="rect">
            <a:avLst/>
          </a:prstGeom>
          <a:noFill/>
        </p:spPr>
        <p:txBody>
          <a:bodyPr wrap="square">
            <a:spAutoFit/>
          </a:bodyPr>
          <a:lstStyle/>
          <a:p>
            <a:pPr algn="l">
              <a:defRPr sz="2000" b="1">
                <a:solidFill>
                  <a:srgbClr val="00964B"/>
                </a:solidFill>
                <a:latin typeface="Calibri"/>
              </a:defRPr>
            </a:pPr>
            <a:r>
              <a:t>12-18%</a:t>
            </a:r>
          </a:p>
        </p:txBody>
      </p:sp>
      <p:sp>
        <p:nvSpPr>
          <p:cNvPr id="29" name="TextBox 28"/>
          <p:cNvSpPr txBox="1"/>
          <p:nvPr/>
        </p:nvSpPr>
        <p:spPr>
          <a:xfrm>
            <a:off x="6309360" y="5760720"/>
            <a:ext cx="2286000" cy="320040"/>
          </a:xfrm>
          <a:prstGeom prst="rect">
            <a:avLst/>
          </a:prstGeom>
          <a:noFill/>
        </p:spPr>
        <p:txBody>
          <a:bodyPr wrap="square">
            <a:spAutoFit/>
          </a:bodyPr>
          <a:lstStyle/>
          <a:p>
            <a:pPr algn="l">
              <a:defRPr sz="1000" b="0">
                <a:solidFill>
                  <a:srgbClr val="888888"/>
                </a:solidFill>
                <a:latin typeface="Calibri"/>
              </a:defRPr>
            </a:pPr>
            <a:r>
              <a:t>Carrying Cost Reduction</a:t>
            </a:r>
          </a:p>
        </p:txBody>
      </p:sp>
      <p:sp>
        <p:nvSpPr>
          <p:cNvPr id="30" name="Rounded Rectangle 29"/>
          <p:cNvSpPr/>
          <p:nvPr/>
        </p:nvSpPr>
        <p:spPr>
          <a:xfrm>
            <a:off x="8915400" y="5349240"/>
            <a:ext cx="2560320" cy="822960"/>
          </a:xfrm>
          <a:prstGeom prst="roundRect">
            <a:avLst/>
          </a:prstGeom>
          <a:solidFill>
            <a:srgbClr val="F5F5F5"/>
          </a:solidFill>
          <a:ln w="19050">
            <a:solidFill>
              <a:srgbClr val="0096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52560" y="5394960"/>
            <a:ext cx="2286000" cy="365760"/>
          </a:xfrm>
          <a:prstGeom prst="rect">
            <a:avLst/>
          </a:prstGeom>
          <a:noFill/>
        </p:spPr>
        <p:txBody>
          <a:bodyPr wrap="square">
            <a:spAutoFit/>
          </a:bodyPr>
          <a:lstStyle/>
          <a:p>
            <a:pPr algn="l">
              <a:defRPr sz="2000" b="1">
                <a:solidFill>
                  <a:srgbClr val="00964B"/>
                </a:solidFill>
                <a:latin typeface="Calibri"/>
              </a:defRPr>
            </a:pPr>
            <a:r>
              <a:t>40% ↓</a:t>
            </a:r>
          </a:p>
        </p:txBody>
      </p:sp>
      <p:sp>
        <p:nvSpPr>
          <p:cNvPr id="32" name="TextBox 31"/>
          <p:cNvSpPr txBox="1"/>
          <p:nvPr/>
        </p:nvSpPr>
        <p:spPr>
          <a:xfrm>
            <a:off x="9052560" y="5760720"/>
            <a:ext cx="2286000" cy="320040"/>
          </a:xfrm>
          <a:prstGeom prst="rect">
            <a:avLst/>
          </a:prstGeom>
          <a:noFill/>
        </p:spPr>
        <p:txBody>
          <a:bodyPr wrap="square">
            <a:spAutoFit/>
          </a:bodyPr>
          <a:lstStyle/>
          <a:p>
            <a:pPr algn="l">
              <a:defRPr sz="1000" b="0">
                <a:solidFill>
                  <a:srgbClr val="888888"/>
                </a:solidFill>
                <a:latin typeface="Calibri"/>
              </a:defRPr>
            </a:pPr>
            <a:r>
              <a:t>Obsolete Stock</a:t>
            </a:r>
          </a:p>
        </p:txBody>
      </p:sp>
      <p:sp>
        <p:nvSpPr>
          <p:cNvPr id="33" name="TextBox 32"/>
          <p:cNvSpPr txBox="1"/>
          <p:nvPr/>
        </p:nvSpPr>
        <p:spPr>
          <a:xfrm>
            <a:off x="685800" y="6400800"/>
            <a:ext cx="10515600" cy="274320"/>
          </a:xfrm>
          <a:prstGeom prst="rect">
            <a:avLst/>
          </a:prstGeom>
          <a:noFill/>
        </p:spPr>
        <p:txBody>
          <a:bodyPr wrap="square">
            <a:spAutoFit/>
          </a:bodyPr>
          <a:lstStyle/>
          <a:p>
            <a:pPr algn="r">
              <a:defRPr sz="900" b="0">
                <a:solidFill>
                  <a:srgbClr val="888888"/>
                </a:solidFill>
                <a:latin typeface="Calibri"/>
              </a:defRPr>
            </a:pPr>
            <a:r>
              <a:t>Toyota Motors Australia  |  AI-Powered S/4 HANA Transformation  |  Confidential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164592"/>
            <a:ext cx="10515600" cy="640080"/>
          </a:xfrm>
          <a:prstGeom prst="rect">
            <a:avLst/>
          </a:prstGeom>
          <a:noFill/>
        </p:spPr>
        <p:txBody>
          <a:bodyPr wrap="square">
            <a:spAutoFit/>
          </a:bodyPr>
          <a:lstStyle/>
          <a:p>
            <a:pPr algn="l">
              <a:defRPr sz="2800" b="1">
                <a:solidFill>
                  <a:srgbClr val="FFFFFF"/>
                </a:solidFill>
                <a:latin typeface="Calibri"/>
              </a:defRPr>
            </a:pPr>
            <a:r>
              <a:t>Use Case 3 — Supply Planning</a:t>
            </a:r>
          </a:p>
        </p:txBody>
      </p:sp>
      <p:sp>
        <p:nvSpPr>
          <p:cNvPr id="4" name="TextBox 3"/>
          <p:cNvSpPr txBox="1"/>
          <p:nvPr/>
        </p:nvSpPr>
        <p:spPr>
          <a:xfrm>
            <a:off x="685800" y="1188720"/>
            <a:ext cx="10515600" cy="457200"/>
          </a:xfrm>
          <a:prstGeom prst="rect">
            <a:avLst/>
          </a:prstGeom>
          <a:noFill/>
        </p:spPr>
        <p:txBody>
          <a:bodyPr wrap="square">
            <a:spAutoFit/>
          </a:bodyPr>
          <a:lstStyle/>
          <a:p>
            <a:pPr algn="l">
              <a:defRPr sz="1600" b="1">
                <a:solidFill>
                  <a:srgbClr val="FF8C00"/>
                </a:solidFill>
                <a:latin typeface="Calibri"/>
              </a:defRPr>
            </a:pPr>
            <a:r>
              <a:t>Adjust procurement and logistics based on predicted demand</a:t>
            </a:r>
          </a:p>
        </p:txBody>
      </p:sp>
      <p:sp>
        <p:nvSpPr>
          <p:cNvPr id="5" name="TextBox 4"/>
          <p:cNvSpPr txBox="1"/>
          <p:nvPr/>
        </p:nvSpPr>
        <p:spPr>
          <a:xfrm>
            <a:off x="685800" y="1645920"/>
            <a:ext cx="10515600" cy="548640"/>
          </a:xfrm>
          <a:prstGeom prst="rect">
            <a:avLst/>
          </a:prstGeom>
          <a:noFill/>
        </p:spPr>
        <p:txBody>
          <a:bodyPr wrap="square">
            <a:spAutoFit/>
          </a:bodyPr>
          <a:lstStyle/>
          <a:p>
            <a:pPr algn="l">
              <a:defRPr sz="1300" b="0">
                <a:solidFill>
                  <a:srgbClr val="333333"/>
                </a:solidFill>
                <a:latin typeface="Calibri"/>
              </a:defRPr>
            </a:pPr>
            <a:r>
              <a:t>AI-enhanced supply planning connects demand forecasts to procurement execution, automatically generating purchase orders, adjusting supplier schedules, and managing supply constraints. The system proactively identifies supply risks and recommends alternative sourcing strategies.</a:t>
            </a:r>
          </a:p>
        </p:txBody>
      </p:sp>
      <p:sp>
        <p:nvSpPr>
          <p:cNvPr id="6" name="TextBox 5"/>
          <p:cNvSpPr txBox="1"/>
          <p:nvPr/>
        </p:nvSpPr>
        <p:spPr>
          <a:xfrm>
            <a:off x="685800" y="2377440"/>
            <a:ext cx="5029200" cy="320040"/>
          </a:xfrm>
          <a:prstGeom prst="rect">
            <a:avLst/>
          </a:prstGeom>
          <a:noFill/>
        </p:spPr>
        <p:txBody>
          <a:bodyPr wrap="square">
            <a:spAutoFit/>
          </a:bodyPr>
          <a:lstStyle/>
          <a:p>
            <a:pPr algn="l">
              <a:defRPr sz="1400" b="1">
                <a:solidFill>
                  <a:srgbClr val="1A1A2E"/>
                </a:solidFill>
                <a:latin typeface="Calibri"/>
              </a:defRPr>
            </a:pPr>
            <a:r>
              <a:t>How It Works</a:t>
            </a:r>
          </a:p>
        </p:txBody>
      </p:sp>
      <p:sp>
        <p:nvSpPr>
          <p:cNvPr id="7" name="TextBox 6"/>
          <p:cNvSpPr txBox="1"/>
          <p:nvPr/>
        </p:nvSpPr>
        <p:spPr>
          <a:xfrm>
            <a:off x="685800" y="2743200"/>
            <a:ext cx="5029200" cy="320040"/>
          </a:xfrm>
          <a:prstGeom prst="rect">
            <a:avLst/>
          </a:prstGeom>
          <a:noFill/>
        </p:spPr>
        <p:txBody>
          <a:bodyPr wrap="square">
            <a:spAutoFit/>
          </a:bodyPr>
          <a:lstStyle/>
          <a:p>
            <a:pPr algn="l">
              <a:defRPr sz="1200" b="0">
                <a:solidFill>
                  <a:srgbClr val="333333"/>
                </a:solidFill>
                <a:latin typeface="Calibri"/>
              </a:defRPr>
            </a:pPr>
            <a:r>
              <a:t>•  Translate AI demand forecasts into net requirements via MRP</a:t>
            </a:r>
          </a:p>
        </p:txBody>
      </p:sp>
      <p:sp>
        <p:nvSpPr>
          <p:cNvPr id="8" name="TextBox 7"/>
          <p:cNvSpPr txBox="1"/>
          <p:nvPr/>
        </p:nvSpPr>
        <p:spPr>
          <a:xfrm>
            <a:off x="685800" y="3035808"/>
            <a:ext cx="5029200" cy="320040"/>
          </a:xfrm>
          <a:prstGeom prst="rect">
            <a:avLst/>
          </a:prstGeom>
          <a:noFill/>
        </p:spPr>
        <p:txBody>
          <a:bodyPr wrap="square">
            <a:spAutoFit/>
          </a:bodyPr>
          <a:lstStyle/>
          <a:p>
            <a:pPr algn="l">
              <a:defRPr sz="1200" b="0">
                <a:solidFill>
                  <a:srgbClr val="333333"/>
                </a:solidFill>
                <a:latin typeface="Calibri"/>
              </a:defRPr>
            </a:pPr>
            <a:r>
              <a:t>•  Auto-generate purchase requisitions for predicted shortfalls</a:t>
            </a:r>
          </a:p>
        </p:txBody>
      </p:sp>
      <p:sp>
        <p:nvSpPr>
          <p:cNvPr id="9" name="TextBox 8"/>
          <p:cNvSpPr txBox="1"/>
          <p:nvPr/>
        </p:nvSpPr>
        <p:spPr>
          <a:xfrm>
            <a:off x="685800" y="3328416"/>
            <a:ext cx="5029200" cy="320040"/>
          </a:xfrm>
          <a:prstGeom prst="rect">
            <a:avLst/>
          </a:prstGeom>
          <a:noFill/>
        </p:spPr>
        <p:txBody>
          <a:bodyPr wrap="square">
            <a:spAutoFit/>
          </a:bodyPr>
          <a:lstStyle/>
          <a:p>
            <a:pPr algn="l">
              <a:defRPr sz="1200" b="0">
                <a:solidFill>
                  <a:srgbClr val="333333"/>
                </a:solidFill>
                <a:latin typeface="Calibri"/>
              </a:defRPr>
            </a:pPr>
            <a:r>
              <a:t>•  Supplier performance scoring using delivery/quality history</a:t>
            </a:r>
          </a:p>
        </p:txBody>
      </p:sp>
      <p:sp>
        <p:nvSpPr>
          <p:cNvPr id="10" name="TextBox 9"/>
          <p:cNvSpPr txBox="1"/>
          <p:nvPr/>
        </p:nvSpPr>
        <p:spPr>
          <a:xfrm>
            <a:off x="685800" y="3621024"/>
            <a:ext cx="5029200" cy="320040"/>
          </a:xfrm>
          <a:prstGeom prst="rect">
            <a:avLst/>
          </a:prstGeom>
          <a:noFill/>
        </p:spPr>
        <p:txBody>
          <a:bodyPr wrap="square">
            <a:spAutoFit/>
          </a:bodyPr>
          <a:lstStyle/>
          <a:p>
            <a:pPr algn="l">
              <a:defRPr sz="1200" b="0">
                <a:solidFill>
                  <a:srgbClr val="333333"/>
                </a:solidFill>
                <a:latin typeface="Calibri"/>
              </a:defRPr>
            </a:pPr>
            <a:r>
              <a:t>•  Lead time prediction using ML models on supplier behaviour</a:t>
            </a:r>
          </a:p>
        </p:txBody>
      </p:sp>
      <p:sp>
        <p:nvSpPr>
          <p:cNvPr id="11" name="TextBox 10"/>
          <p:cNvSpPr txBox="1"/>
          <p:nvPr/>
        </p:nvSpPr>
        <p:spPr>
          <a:xfrm>
            <a:off x="685800" y="3913632"/>
            <a:ext cx="5029200" cy="320040"/>
          </a:xfrm>
          <a:prstGeom prst="rect">
            <a:avLst/>
          </a:prstGeom>
          <a:noFill/>
        </p:spPr>
        <p:txBody>
          <a:bodyPr wrap="square">
            <a:spAutoFit/>
          </a:bodyPr>
          <a:lstStyle/>
          <a:p>
            <a:pPr algn="l">
              <a:defRPr sz="1200" b="0">
                <a:solidFill>
                  <a:srgbClr val="333333"/>
                </a:solidFill>
                <a:latin typeface="Calibri"/>
              </a:defRPr>
            </a:pPr>
            <a:r>
              <a:t>•  Supply risk monitoring: supplier financial health, geopolitical risk</a:t>
            </a:r>
          </a:p>
        </p:txBody>
      </p:sp>
      <p:sp>
        <p:nvSpPr>
          <p:cNvPr id="12" name="TextBox 11"/>
          <p:cNvSpPr txBox="1"/>
          <p:nvPr/>
        </p:nvSpPr>
        <p:spPr>
          <a:xfrm>
            <a:off x="685800" y="4206240"/>
            <a:ext cx="5029200" cy="320040"/>
          </a:xfrm>
          <a:prstGeom prst="rect">
            <a:avLst/>
          </a:prstGeom>
          <a:noFill/>
        </p:spPr>
        <p:txBody>
          <a:bodyPr wrap="square">
            <a:spAutoFit/>
          </a:bodyPr>
          <a:lstStyle/>
          <a:p>
            <a:pPr algn="l">
              <a:defRPr sz="1200" b="0">
                <a:solidFill>
                  <a:srgbClr val="333333"/>
                </a:solidFill>
                <a:latin typeface="Calibri"/>
              </a:defRPr>
            </a:pPr>
            <a:r>
              <a:t>•  Scenario planning: what-if analysis for supply disruptions</a:t>
            </a:r>
          </a:p>
        </p:txBody>
      </p:sp>
      <p:sp>
        <p:nvSpPr>
          <p:cNvPr id="13" name="TextBox 12"/>
          <p:cNvSpPr txBox="1"/>
          <p:nvPr/>
        </p:nvSpPr>
        <p:spPr>
          <a:xfrm>
            <a:off x="6400800" y="2377440"/>
            <a:ext cx="5029200" cy="320040"/>
          </a:xfrm>
          <a:prstGeom prst="rect">
            <a:avLst/>
          </a:prstGeom>
          <a:noFill/>
        </p:spPr>
        <p:txBody>
          <a:bodyPr wrap="square">
            <a:spAutoFit/>
          </a:bodyPr>
          <a:lstStyle/>
          <a:p>
            <a:pPr algn="l">
              <a:defRPr sz="1400" b="1">
                <a:solidFill>
                  <a:srgbClr val="1A1A2E"/>
                </a:solidFill>
                <a:latin typeface="Calibri"/>
              </a:defRPr>
            </a:pPr>
            <a:r>
              <a:t>S/4 HANA Integration</a:t>
            </a:r>
          </a:p>
        </p:txBody>
      </p:sp>
      <p:sp>
        <p:nvSpPr>
          <p:cNvPr id="14" name="TextBox 13"/>
          <p:cNvSpPr txBox="1"/>
          <p:nvPr/>
        </p:nvSpPr>
        <p:spPr>
          <a:xfrm>
            <a:off x="6400800" y="2743200"/>
            <a:ext cx="5029200" cy="320040"/>
          </a:xfrm>
          <a:prstGeom prst="rect">
            <a:avLst/>
          </a:prstGeom>
          <a:noFill/>
        </p:spPr>
        <p:txBody>
          <a:bodyPr wrap="square">
            <a:spAutoFit/>
          </a:bodyPr>
          <a:lstStyle/>
          <a:p>
            <a:pPr algn="l">
              <a:defRPr sz="1200" b="0">
                <a:solidFill>
                  <a:srgbClr val="333333"/>
                </a:solidFill>
                <a:latin typeface="Calibri"/>
              </a:defRPr>
            </a:pPr>
            <a:r>
              <a:t>•  MM Procurement: Auto-PO creation, source determination</a:t>
            </a:r>
          </a:p>
        </p:txBody>
      </p:sp>
      <p:sp>
        <p:nvSpPr>
          <p:cNvPr id="15" name="TextBox 14"/>
          <p:cNvSpPr txBox="1"/>
          <p:nvPr/>
        </p:nvSpPr>
        <p:spPr>
          <a:xfrm>
            <a:off x="6400800" y="3035808"/>
            <a:ext cx="5029200" cy="320040"/>
          </a:xfrm>
          <a:prstGeom prst="rect">
            <a:avLst/>
          </a:prstGeom>
          <a:noFill/>
        </p:spPr>
        <p:txBody>
          <a:bodyPr wrap="square">
            <a:spAutoFit/>
          </a:bodyPr>
          <a:lstStyle/>
          <a:p>
            <a:pPr algn="l">
              <a:defRPr sz="1200" b="0">
                <a:solidFill>
                  <a:srgbClr val="333333"/>
                </a:solidFill>
                <a:latin typeface="Calibri"/>
              </a:defRPr>
            </a:pPr>
            <a:r>
              <a:t>•  MRP: AI-adjusted planning parameters and scheduling agreements</a:t>
            </a:r>
          </a:p>
        </p:txBody>
      </p:sp>
      <p:sp>
        <p:nvSpPr>
          <p:cNvPr id="16" name="TextBox 15"/>
          <p:cNvSpPr txBox="1"/>
          <p:nvPr/>
        </p:nvSpPr>
        <p:spPr>
          <a:xfrm>
            <a:off x="6400800" y="3328416"/>
            <a:ext cx="5029200" cy="320040"/>
          </a:xfrm>
          <a:prstGeom prst="rect">
            <a:avLst/>
          </a:prstGeom>
          <a:noFill/>
        </p:spPr>
        <p:txBody>
          <a:bodyPr wrap="square">
            <a:spAutoFit/>
          </a:bodyPr>
          <a:lstStyle/>
          <a:p>
            <a:pPr algn="l">
              <a:defRPr sz="1200" b="0">
                <a:solidFill>
                  <a:srgbClr val="333333"/>
                </a:solidFill>
                <a:latin typeface="Calibri"/>
              </a:defRPr>
            </a:pPr>
            <a:r>
              <a:t>•  SAP Ariba: Supplier collaboration and risk intelligence</a:t>
            </a:r>
          </a:p>
        </p:txBody>
      </p:sp>
      <p:sp>
        <p:nvSpPr>
          <p:cNvPr id="17" name="TextBox 16"/>
          <p:cNvSpPr txBox="1"/>
          <p:nvPr/>
        </p:nvSpPr>
        <p:spPr>
          <a:xfrm>
            <a:off x="6400800" y="3621024"/>
            <a:ext cx="5029200" cy="320040"/>
          </a:xfrm>
          <a:prstGeom prst="rect">
            <a:avLst/>
          </a:prstGeom>
          <a:noFill/>
        </p:spPr>
        <p:txBody>
          <a:bodyPr wrap="square">
            <a:spAutoFit/>
          </a:bodyPr>
          <a:lstStyle/>
          <a:p>
            <a:pPr algn="l">
              <a:defRPr sz="1200" b="0">
                <a:solidFill>
                  <a:srgbClr val="333333"/>
                </a:solidFill>
                <a:latin typeface="Calibri"/>
              </a:defRPr>
            </a:pPr>
            <a:r>
              <a:t>•  SD: Demand signals feeding into supply requirements</a:t>
            </a:r>
          </a:p>
        </p:txBody>
      </p:sp>
      <p:sp>
        <p:nvSpPr>
          <p:cNvPr id="18" name="TextBox 17"/>
          <p:cNvSpPr txBox="1"/>
          <p:nvPr/>
        </p:nvSpPr>
        <p:spPr>
          <a:xfrm>
            <a:off x="6400800" y="3913632"/>
            <a:ext cx="5029200" cy="320040"/>
          </a:xfrm>
          <a:prstGeom prst="rect">
            <a:avLst/>
          </a:prstGeom>
          <a:noFill/>
        </p:spPr>
        <p:txBody>
          <a:bodyPr wrap="square">
            <a:spAutoFit/>
          </a:bodyPr>
          <a:lstStyle/>
          <a:p>
            <a:pPr algn="l">
              <a:defRPr sz="1200" b="0">
                <a:solidFill>
                  <a:srgbClr val="333333"/>
                </a:solidFill>
                <a:latin typeface="Calibri"/>
              </a:defRPr>
            </a:pPr>
            <a:r>
              <a:t>•  S/4 HANA PP: Production planning for locally assembled components</a:t>
            </a:r>
          </a:p>
        </p:txBody>
      </p:sp>
      <p:sp>
        <p:nvSpPr>
          <p:cNvPr id="19" name="TextBox 18"/>
          <p:cNvSpPr txBox="1"/>
          <p:nvPr/>
        </p:nvSpPr>
        <p:spPr>
          <a:xfrm>
            <a:off x="6400800" y="4206240"/>
            <a:ext cx="5029200" cy="320040"/>
          </a:xfrm>
          <a:prstGeom prst="rect">
            <a:avLst/>
          </a:prstGeom>
          <a:noFill/>
        </p:spPr>
        <p:txBody>
          <a:bodyPr wrap="square">
            <a:spAutoFit/>
          </a:bodyPr>
          <a:lstStyle/>
          <a:p>
            <a:pPr algn="l">
              <a:defRPr sz="1200" b="0">
                <a:solidFill>
                  <a:srgbClr val="333333"/>
                </a:solidFill>
                <a:latin typeface="Calibri"/>
              </a:defRPr>
            </a:pPr>
            <a:r>
              <a:t>•  SAP BTP: Supply risk scoring API and ML model hosting</a:t>
            </a:r>
          </a:p>
        </p:txBody>
      </p:sp>
      <p:sp>
        <p:nvSpPr>
          <p:cNvPr id="20" name="TextBox 19"/>
          <p:cNvSpPr txBox="1"/>
          <p:nvPr/>
        </p:nvSpPr>
        <p:spPr>
          <a:xfrm>
            <a:off x="685800" y="4937760"/>
            <a:ext cx="10058400" cy="320040"/>
          </a:xfrm>
          <a:prstGeom prst="rect">
            <a:avLst/>
          </a:prstGeom>
          <a:noFill/>
        </p:spPr>
        <p:txBody>
          <a:bodyPr wrap="square">
            <a:spAutoFit/>
          </a:bodyPr>
          <a:lstStyle/>
          <a:p>
            <a:pPr algn="l">
              <a:defRPr sz="1400" b="1">
                <a:solidFill>
                  <a:srgbClr val="1A1A2E"/>
                </a:solidFill>
                <a:latin typeface="Calibri"/>
              </a:defRPr>
            </a:pPr>
            <a:r>
              <a:t>Target KPIs</a:t>
            </a:r>
          </a:p>
        </p:txBody>
      </p:sp>
      <p:sp>
        <p:nvSpPr>
          <p:cNvPr id="21" name="Rounded Rectangle 20"/>
          <p:cNvSpPr/>
          <p:nvPr/>
        </p:nvSpPr>
        <p:spPr>
          <a:xfrm>
            <a:off x="685800" y="5349240"/>
            <a:ext cx="2560320" cy="822960"/>
          </a:xfrm>
          <a:prstGeom prst="roundRect">
            <a:avLst/>
          </a:prstGeom>
          <a:solidFill>
            <a:srgbClr val="F5F5F5"/>
          </a:solidFill>
          <a:ln w="19050">
            <a:solidFill>
              <a:srgbClr val="FF8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960" y="5394960"/>
            <a:ext cx="2286000" cy="365760"/>
          </a:xfrm>
          <a:prstGeom prst="rect">
            <a:avLst/>
          </a:prstGeom>
          <a:noFill/>
        </p:spPr>
        <p:txBody>
          <a:bodyPr wrap="square">
            <a:spAutoFit/>
          </a:bodyPr>
          <a:lstStyle/>
          <a:p>
            <a:pPr algn="l">
              <a:defRPr sz="2000" b="1">
                <a:solidFill>
                  <a:srgbClr val="FF8C00"/>
                </a:solidFill>
                <a:latin typeface="Calibri"/>
              </a:defRPr>
            </a:pPr>
            <a:r>
              <a:t>30-40% ↓</a:t>
            </a:r>
          </a:p>
        </p:txBody>
      </p:sp>
      <p:sp>
        <p:nvSpPr>
          <p:cNvPr id="23" name="TextBox 22"/>
          <p:cNvSpPr txBox="1"/>
          <p:nvPr/>
        </p:nvSpPr>
        <p:spPr>
          <a:xfrm>
            <a:off x="822960" y="5760720"/>
            <a:ext cx="2286000" cy="320040"/>
          </a:xfrm>
          <a:prstGeom prst="rect">
            <a:avLst/>
          </a:prstGeom>
          <a:noFill/>
        </p:spPr>
        <p:txBody>
          <a:bodyPr wrap="square">
            <a:spAutoFit/>
          </a:bodyPr>
          <a:lstStyle/>
          <a:p>
            <a:pPr algn="l">
              <a:defRPr sz="1000" b="0">
                <a:solidFill>
                  <a:srgbClr val="888888"/>
                </a:solidFill>
                <a:latin typeface="Calibri"/>
              </a:defRPr>
            </a:pPr>
            <a:r>
              <a:t>Procurement Cycle Time</a:t>
            </a:r>
          </a:p>
        </p:txBody>
      </p:sp>
      <p:sp>
        <p:nvSpPr>
          <p:cNvPr id="24" name="Rounded Rectangle 23"/>
          <p:cNvSpPr/>
          <p:nvPr/>
        </p:nvSpPr>
        <p:spPr>
          <a:xfrm>
            <a:off x="3429000" y="5349240"/>
            <a:ext cx="2560320" cy="822960"/>
          </a:xfrm>
          <a:prstGeom prst="roundRect">
            <a:avLst/>
          </a:prstGeom>
          <a:solidFill>
            <a:srgbClr val="F5F5F5"/>
          </a:solidFill>
          <a:ln w="19050">
            <a:solidFill>
              <a:srgbClr val="FF8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566160" y="5394960"/>
            <a:ext cx="2286000" cy="365760"/>
          </a:xfrm>
          <a:prstGeom prst="rect">
            <a:avLst/>
          </a:prstGeom>
          <a:noFill/>
        </p:spPr>
        <p:txBody>
          <a:bodyPr wrap="square">
            <a:spAutoFit/>
          </a:bodyPr>
          <a:lstStyle/>
          <a:p>
            <a:pPr algn="l">
              <a:defRPr sz="2000" b="1">
                <a:solidFill>
                  <a:srgbClr val="FF8C00"/>
                </a:solidFill>
                <a:latin typeface="Calibri"/>
              </a:defRPr>
            </a:pPr>
            <a:r>
              <a:t>&gt; 95%</a:t>
            </a:r>
          </a:p>
        </p:txBody>
      </p:sp>
      <p:sp>
        <p:nvSpPr>
          <p:cNvPr id="26" name="TextBox 25"/>
          <p:cNvSpPr txBox="1"/>
          <p:nvPr/>
        </p:nvSpPr>
        <p:spPr>
          <a:xfrm>
            <a:off x="3566160" y="5760720"/>
            <a:ext cx="2286000" cy="320040"/>
          </a:xfrm>
          <a:prstGeom prst="rect">
            <a:avLst/>
          </a:prstGeom>
          <a:noFill/>
        </p:spPr>
        <p:txBody>
          <a:bodyPr wrap="square">
            <a:spAutoFit/>
          </a:bodyPr>
          <a:lstStyle/>
          <a:p>
            <a:pPr algn="l">
              <a:defRPr sz="1000" b="0">
                <a:solidFill>
                  <a:srgbClr val="888888"/>
                </a:solidFill>
                <a:latin typeface="Calibri"/>
              </a:defRPr>
            </a:pPr>
            <a:r>
              <a:t>Supplier On-Time Delivery</a:t>
            </a:r>
          </a:p>
        </p:txBody>
      </p:sp>
      <p:sp>
        <p:nvSpPr>
          <p:cNvPr id="27" name="Rounded Rectangle 26"/>
          <p:cNvSpPr/>
          <p:nvPr/>
        </p:nvSpPr>
        <p:spPr>
          <a:xfrm>
            <a:off x="6172200" y="5349240"/>
            <a:ext cx="2560320" cy="822960"/>
          </a:xfrm>
          <a:prstGeom prst="roundRect">
            <a:avLst/>
          </a:prstGeom>
          <a:solidFill>
            <a:srgbClr val="F5F5F5"/>
          </a:solidFill>
          <a:ln w="19050">
            <a:solidFill>
              <a:srgbClr val="FF8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09360" y="5394960"/>
            <a:ext cx="2286000" cy="365760"/>
          </a:xfrm>
          <a:prstGeom prst="rect">
            <a:avLst/>
          </a:prstGeom>
          <a:noFill/>
        </p:spPr>
        <p:txBody>
          <a:bodyPr wrap="square">
            <a:spAutoFit/>
          </a:bodyPr>
          <a:lstStyle/>
          <a:p>
            <a:pPr algn="l">
              <a:defRPr sz="2000" b="1">
                <a:solidFill>
                  <a:srgbClr val="FF8C00"/>
                </a:solidFill>
                <a:latin typeface="Calibri"/>
              </a:defRPr>
            </a:pPr>
            <a:r>
              <a:t>50-60% ↓</a:t>
            </a:r>
          </a:p>
        </p:txBody>
      </p:sp>
      <p:sp>
        <p:nvSpPr>
          <p:cNvPr id="29" name="TextBox 28"/>
          <p:cNvSpPr txBox="1"/>
          <p:nvPr/>
        </p:nvSpPr>
        <p:spPr>
          <a:xfrm>
            <a:off x="6309360" y="5760720"/>
            <a:ext cx="2286000" cy="320040"/>
          </a:xfrm>
          <a:prstGeom prst="rect">
            <a:avLst/>
          </a:prstGeom>
          <a:noFill/>
        </p:spPr>
        <p:txBody>
          <a:bodyPr wrap="square">
            <a:spAutoFit/>
          </a:bodyPr>
          <a:lstStyle/>
          <a:p>
            <a:pPr algn="l">
              <a:defRPr sz="1000" b="0">
                <a:solidFill>
                  <a:srgbClr val="888888"/>
                </a:solidFill>
                <a:latin typeface="Calibri"/>
              </a:defRPr>
            </a:pPr>
            <a:r>
              <a:t>Emergency Orders</a:t>
            </a:r>
          </a:p>
        </p:txBody>
      </p:sp>
      <p:sp>
        <p:nvSpPr>
          <p:cNvPr id="30" name="Rounded Rectangle 29"/>
          <p:cNvSpPr/>
          <p:nvPr/>
        </p:nvSpPr>
        <p:spPr>
          <a:xfrm>
            <a:off x="8915400" y="5349240"/>
            <a:ext cx="2560320" cy="822960"/>
          </a:xfrm>
          <a:prstGeom prst="roundRect">
            <a:avLst/>
          </a:prstGeom>
          <a:solidFill>
            <a:srgbClr val="F5F5F5"/>
          </a:solidFill>
          <a:ln w="19050">
            <a:solidFill>
              <a:srgbClr val="FF8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52560" y="5394960"/>
            <a:ext cx="2286000" cy="365760"/>
          </a:xfrm>
          <a:prstGeom prst="rect">
            <a:avLst/>
          </a:prstGeom>
          <a:noFill/>
        </p:spPr>
        <p:txBody>
          <a:bodyPr wrap="square">
            <a:spAutoFit/>
          </a:bodyPr>
          <a:lstStyle/>
          <a:p>
            <a:pPr algn="l">
              <a:defRPr sz="2000" b="1">
                <a:solidFill>
                  <a:srgbClr val="FF8C00"/>
                </a:solidFill>
                <a:latin typeface="Calibri"/>
              </a:defRPr>
            </a:pPr>
            <a:r>
              <a:t>8-12% Savings</a:t>
            </a:r>
          </a:p>
        </p:txBody>
      </p:sp>
      <p:sp>
        <p:nvSpPr>
          <p:cNvPr id="32" name="TextBox 31"/>
          <p:cNvSpPr txBox="1"/>
          <p:nvPr/>
        </p:nvSpPr>
        <p:spPr>
          <a:xfrm>
            <a:off x="9052560" y="5760720"/>
            <a:ext cx="2286000" cy="320040"/>
          </a:xfrm>
          <a:prstGeom prst="rect">
            <a:avLst/>
          </a:prstGeom>
          <a:noFill/>
        </p:spPr>
        <p:txBody>
          <a:bodyPr wrap="square">
            <a:spAutoFit/>
          </a:bodyPr>
          <a:lstStyle/>
          <a:p>
            <a:pPr algn="l">
              <a:defRPr sz="1000" b="0">
                <a:solidFill>
                  <a:srgbClr val="888888"/>
                </a:solidFill>
                <a:latin typeface="Calibri"/>
              </a:defRPr>
            </a:pPr>
            <a:r>
              <a:t>Cost Avoidance</a:t>
            </a:r>
          </a:p>
        </p:txBody>
      </p:sp>
      <p:sp>
        <p:nvSpPr>
          <p:cNvPr id="33" name="TextBox 32"/>
          <p:cNvSpPr txBox="1"/>
          <p:nvPr/>
        </p:nvSpPr>
        <p:spPr>
          <a:xfrm>
            <a:off x="685800" y="6400800"/>
            <a:ext cx="10515600" cy="274320"/>
          </a:xfrm>
          <a:prstGeom prst="rect">
            <a:avLst/>
          </a:prstGeom>
          <a:noFill/>
        </p:spPr>
        <p:txBody>
          <a:bodyPr wrap="square">
            <a:spAutoFit/>
          </a:bodyPr>
          <a:lstStyle/>
          <a:p>
            <a:pPr algn="r">
              <a:defRPr sz="900" b="0">
                <a:solidFill>
                  <a:srgbClr val="888888"/>
                </a:solidFill>
                <a:latin typeface="Calibri"/>
              </a:defRPr>
            </a:pPr>
            <a:r>
              <a:t>Toyota Motors Australia  |  AI-Powered S/4 HANA Transformation  |  Confidential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08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164592"/>
            <a:ext cx="10515600" cy="640080"/>
          </a:xfrm>
          <a:prstGeom prst="rect">
            <a:avLst/>
          </a:prstGeom>
          <a:noFill/>
        </p:spPr>
        <p:txBody>
          <a:bodyPr wrap="square">
            <a:spAutoFit/>
          </a:bodyPr>
          <a:lstStyle/>
          <a:p>
            <a:pPr algn="l">
              <a:defRPr sz="2800" b="1">
                <a:solidFill>
                  <a:srgbClr val="FFFFFF"/>
                </a:solidFill>
                <a:latin typeface="Calibri"/>
              </a:defRPr>
            </a:pPr>
            <a:r>
              <a:t>Use Case 4 — Logistics Optimization</a:t>
            </a:r>
          </a:p>
        </p:txBody>
      </p:sp>
      <p:sp>
        <p:nvSpPr>
          <p:cNvPr id="4" name="TextBox 3"/>
          <p:cNvSpPr txBox="1"/>
          <p:nvPr/>
        </p:nvSpPr>
        <p:spPr>
          <a:xfrm>
            <a:off x="685800" y="1188720"/>
            <a:ext cx="10515600" cy="457200"/>
          </a:xfrm>
          <a:prstGeom prst="rect">
            <a:avLst/>
          </a:prstGeom>
          <a:noFill/>
        </p:spPr>
        <p:txBody>
          <a:bodyPr wrap="square">
            <a:spAutoFit/>
          </a:bodyPr>
          <a:lstStyle/>
          <a:p>
            <a:pPr algn="l">
              <a:defRPr sz="1600" b="1">
                <a:solidFill>
                  <a:srgbClr val="00899B"/>
                </a:solidFill>
                <a:latin typeface="Calibri"/>
              </a:defRPr>
            </a:pPr>
            <a:r>
              <a:t>Move vehicles and parts efficiently across the network</a:t>
            </a:r>
          </a:p>
        </p:txBody>
      </p:sp>
      <p:sp>
        <p:nvSpPr>
          <p:cNvPr id="5" name="TextBox 4"/>
          <p:cNvSpPr txBox="1"/>
          <p:nvPr/>
        </p:nvSpPr>
        <p:spPr>
          <a:xfrm>
            <a:off x="685800" y="1645920"/>
            <a:ext cx="10515600" cy="548640"/>
          </a:xfrm>
          <a:prstGeom prst="rect">
            <a:avLst/>
          </a:prstGeom>
          <a:noFill/>
        </p:spPr>
        <p:txBody>
          <a:bodyPr wrap="square">
            <a:spAutoFit/>
          </a:bodyPr>
          <a:lstStyle/>
          <a:p>
            <a:pPr algn="l">
              <a:defRPr sz="1300" b="0">
                <a:solidFill>
                  <a:srgbClr val="333333"/>
                </a:solidFill>
                <a:latin typeface="Calibri"/>
              </a:defRPr>
            </a:pPr>
            <a:r>
              <a:t>AI optimizes the physical movement of vehicles and parts across Toyota's Australian distribution network. From vehicle carrier route planning to parts consolidation and last-mile delivery, the system minimizes transport costs while maintaining delivery commitments to 280+ dealerships.</a:t>
            </a:r>
          </a:p>
        </p:txBody>
      </p:sp>
      <p:sp>
        <p:nvSpPr>
          <p:cNvPr id="6" name="TextBox 5"/>
          <p:cNvSpPr txBox="1"/>
          <p:nvPr/>
        </p:nvSpPr>
        <p:spPr>
          <a:xfrm>
            <a:off x="685800" y="2377440"/>
            <a:ext cx="5029200" cy="320040"/>
          </a:xfrm>
          <a:prstGeom prst="rect">
            <a:avLst/>
          </a:prstGeom>
          <a:noFill/>
        </p:spPr>
        <p:txBody>
          <a:bodyPr wrap="square">
            <a:spAutoFit/>
          </a:bodyPr>
          <a:lstStyle/>
          <a:p>
            <a:pPr algn="l">
              <a:defRPr sz="1400" b="1">
                <a:solidFill>
                  <a:srgbClr val="1A1A2E"/>
                </a:solidFill>
                <a:latin typeface="Calibri"/>
              </a:defRPr>
            </a:pPr>
            <a:r>
              <a:t>How It Works</a:t>
            </a:r>
          </a:p>
        </p:txBody>
      </p:sp>
      <p:sp>
        <p:nvSpPr>
          <p:cNvPr id="7" name="TextBox 6"/>
          <p:cNvSpPr txBox="1"/>
          <p:nvPr/>
        </p:nvSpPr>
        <p:spPr>
          <a:xfrm>
            <a:off x="685800" y="2743200"/>
            <a:ext cx="5029200" cy="320040"/>
          </a:xfrm>
          <a:prstGeom prst="rect">
            <a:avLst/>
          </a:prstGeom>
          <a:noFill/>
        </p:spPr>
        <p:txBody>
          <a:bodyPr wrap="square">
            <a:spAutoFit/>
          </a:bodyPr>
          <a:lstStyle/>
          <a:p>
            <a:pPr algn="l">
              <a:defRPr sz="1200" b="0">
                <a:solidFill>
                  <a:srgbClr val="333333"/>
                </a:solidFill>
                <a:latin typeface="Calibri"/>
              </a:defRPr>
            </a:pPr>
            <a:r>
              <a:t>•  Vehicle carrier route optimization using constraint-based algorithms</a:t>
            </a:r>
          </a:p>
        </p:txBody>
      </p:sp>
      <p:sp>
        <p:nvSpPr>
          <p:cNvPr id="8" name="TextBox 7"/>
          <p:cNvSpPr txBox="1"/>
          <p:nvPr/>
        </p:nvSpPr>
        <p:spPr>
          <a:xfrm>
            <a:off x="685800" y="3035808"/>
            <a:ext cx="5029200" cy="320040"/>
          </a:xfrm>
          <a:prstGeom prst="rect">
            <a:avLst/>
          </a:prstGeom>
          <a:noFill/>
        </p:spPr>
        <p:txBody>
          <a:bodyPr wrap="square">
            <a:spAutoFit/>
          </a:bodyPr>
          <a:lstStyle/>
          <a:p>
            <a:pPr algn="l">
              <a:defRPr sz="1200" b="0">
                <a:solidFill>
                  <a:srgbClr val="333333"/>
                </a:solidFill>
                <a:latin typeface="Calibri"/>
              </a:defRPr>
            </a:pPr>
            <a:r>
              <a:t>•  Parts consolidation: combine dealer orders to maximize truck utilization</a:t>
            </a:r>
          </a:p>
        </p:txBody>
      </p:sp>
      <p:sp>
        <p:nvSpPr>
          <p:cNvPr id="9" name="TextBox 8"/>
          <p:cNvSpPr txBox="1"/>
          <p:nvPr/>
        </p:nvSpPr>
        <p:spPr>
          <a:xfrm>
            <a:off x="685800" y="3328416"/>
            <a:ext cx="5029200" cy="320040"/>
          </a:xfrm>
          <a:prstGeom prst="rect">
            <a:avLst/>
          </a:prstGeom>
          <a:noFill/>
        </p:spPr>
        <p:txBody>
          <a:bodyPr wrap="square">
            <a:spAutoFit/>
          </a:bodyPr>
          <a:lstStyle/>
          <a:p>
            <a:pPr algn="l">
              <a:defRPr sz="1200" b="0">
                <a:solidFill>
                  <a:srgbClr val="333333"/>
                </a:solidFill>
                <a:latin typeface="Calibri"/>
              </a:defRPr>
            </a:pPr>
            <a:r>
              <a:t>•  Dynamic routing: adjust routes based on real-time traffic and constraints</a:t>
            </a:r>
          </a:p>
        </p:txBody>
      </p:sp>
      <p:sp>
        <p:nvSpPr>
          <p:cNvPr id="10" name="TextBox 9"/>
          <p:cNvSpPr txBox="1"/>
          <p:nvPr/>
        </p:nvSpPr>
        <p:spPr>
          <a:xfrm>
            <a:off x="685800" y="3621024"/>
            <a:ext cx="5029200" cy="320040"/>
          </a:xfrm>
          <a:prstGeom prst="rect">
            <a:avLst/>
          </a:prstGeom>
          <a:noFill/>
        </p:spPr>
        <p:txBody>
          <a:bodyPr wrap="square">
            <a:spAutoFit/>
          </a:bodyPr>
          <a:lstStyle/>
          <a:p>
            <a:pPr algn="l">
              <a:defRPr sz="1200" b="0">
                <a:solidFill>
                  <a:srgbClr val="333333"/>
                </a:solidFill>
                <a:latin typeface="Calibri"/>
              </a:defRPr>
            </a:pPr>
            <a:r>
              <a:t>•  Load optimization: maximize container/truck fill rates</a:t>
            </a:r>
          </a:p>
        </p:txBody>
      </p:sp>
      <p:sp>
        <p:nvSpPr>
          <p:cNvPr id="11" name="TextBox 10"/>
          <p:cNvSpPr txBox="1"/>
          <p:nvPr/>
        </p:nvSpPr>
        <p:spPr>
          <a:xfrm>
            <a:off x="685800" y="3913632"/>
            <a:ext cx="5029200" cy="320040"/>
          </a:xfrm>
          <a:prstGeom prst="rect">
            <a:avLst/>
          </a:prstGeom>
          <a:noFill/>
        </p:spPr>
        <p:txBody>
          <a:bodyPr wrap="square">
            <a:spAutoFit/>
          </a:bodyPr>
          <a:lstStyle/>
          <a:p>
            <a:pPr algn="l">
              <a:defRPr sz="1200" b="0">
                <a:solidFill>
                  <a:srgbClr val="333333"/>
                </a:solidFill>
                <a:latin typeface="Calibri"/>
              </a:defRPr>
            </a:pPr>
            <a:r>
              <a:t>•  Delivery window optimization aligned with dealer receiving capacity</a:t>
            </a:r>
          </a:p>
        </p:txBody>
      </p:sp>
      <p:sp>
        <p:nvSpPr>
          <p:cNvPr id="12" name="TextBox 11"/>
          <p:cNvSpPr txBox="1"/>
          <p:nvPr/>
        </p:nvSpPr>
        <p:spPr>
          <a:xfrm>
            <a:off x="685800" y="4206240"/>
            <a:ext cx="5029200" cy="320040"/>
          </a:xfrm>
          <a:prstGeom prst="rect">
            <a:avLst/>
          </a:prstGeom>
          <a:noFill/>
        </p:spPr>
        <p:txBody>
          <a:bodyPr wrap="square">
            <a:spAutoFit/>
          </a:bodyPr>
          <a:lstStyle/>
          <a:p>
            <a:pPr algn="l">
              <a:defRPr sz="1200" b="0">
                <a:solidFill>
                  <a:srgbClr val="333333"/>
                </a:solidFill>
                <a:latin typeface="Calibri"/>
              </a:defRPr>
            </a:pPr>
            <a:r>
              <a:t>•  Carbon footprint tracking and green logistics recommendations</a:t>
            </a:r>
          </a:p>
        </p:txBody>
      </p:sp>
      <p:sp>
        <p:nvSpPr>
          <p:cNvPr id="13" name="TextBox 12"/>
          <p:cNvSpPr txBox="1"/>
          <p:nvPr/>
        </p:nvSpPr>
        <p:spPr>
          <a:xfrm>
            <a:off x="6400800" y="2377440"/>
            <a:ext cx="5029200" cy="320040"/>
          </a:xfrm>
          <a:prstGeom prst="rect">
            <a:avLst/>
          </a:prstGeom>
          <a:noFill/>
        </p:spPr>
        <p:txBody>
          <a:bodyPr wrap="square">
            <a:spAutoFit/>
          </a:bodyPr>
          <a:lstStyle/>
          <a:p>
            <a:pPr algn="l">
              <a:defRPr sz="1400" b="1">
                <a:solidFill>
                  <a:srgbClr val="1A1A2E"/>
                </a:solidFill>
                <a:latin typeface="Calibri"/>
              </a:defRPr>
            </a:pPr>
            <a:r>
              <a:t>S/4 HANA Integration</a:t>
            </a:r>
          </a:p>
        </p:txBody>
      </p:sp>
      <p:sp>
        <p:nvSpPr>
          <p:cNvPr id="14" name="TextBox 13"/>
          <p:cNvSpPr txBox="1"/>
          <p:nvPr/>
        </p:nvSpPr>
        <p:spPr>
          <a:xfrm>
            <a:off x="6400800" y="2743200"/>
            <a:ext cx="5029200" cy="320040"/>
          </a:xfrm>
          <a:prstGeom prst="rect">
            <a:avLst/>
          </a:prstGeom>
          <a:noFill/>
        </p:spPr>
        <p:txBody>
          <a:bodyPr wrap="square">
            <a:spAutoFit/>
          </a:bodyPr>
          <a:lstStyle/>
          <a:p>
            <a:pPr algn="l">
              <a:defRPr sz="1200" b="0">
                <a:solidFill>
                  <a:srgbClr val="333333"/>
                </a:solidFill>
                <a:latin typeface="Calibri"/>
              </a:defRPr>
            </a:pPr>
            <a:r>
              <a:t>•  SD: Delivery creation, shipping point determination</a:t>
            </a:r>
          </a:p>
        </p:txBody>
      </p:sp>
      <p:sp>
        <p:nvSpPr>
          <p:cNvPr id="15" name="TextBox 14"/>
          <p:cNvSpPr txBox="1"/>
          <p:nvPr/>
        </p:nvSpPr>
        <p:spPr>
          <a:xfrm>
            <a:off x="6400800" y="3035808"/>
            <a:ext cx="5029200" cy="320040"/>
          </a:xfrm>
          <a:prstGeom prst="rect">
            <a:avLst/>
          </a:prstGeom>
          <a:noFill/>
        </p:spPr>
        <p:txBody>
          <a:bodyPr wrap="square">
            <a:spAutoFit/>
          </a:bodyPr>
          <a:lstStyle/>
          <a:p>
            <a:pPr algn="l">
              <a:defRPr sz="1200" b="0">
                <a:solidFill>
                  <a:srgbClr val="333333"/>
                </a:solidFill>
                <a:latin typeface="Calibri"/>
              </a:defRPr>
            </a:pPr>
            <a:r>
              <a:t>•  EWM: Outbound processing, wave management, loading</a:t>
            </a:r>
          </a:p>
        </p:txBody>
      </p:sp>
      <p:sp>
        <p:nvSpPr>
          <p:cNvPr id="16" name="TextBox 15"/>
          <p:cNvSpPr txBox="1"/>
          <p:nvPr/>
        </p:nvSpPr>
        <p:spPr>
          <a:xfrm>
            <a:off x="6400800" y="3328416"/>
            <a:ext cx="5029200" cy="320040"/>
          </a:xfrm>
          <a:prstGeom prst="rect">
            <a:avLst/>
          </a:prstGeom>
          <a:noFill/>
        </p:spPr>
        <p:txBody>
          <a:bodyPr wrap="square">
            <a:spAutoFit/>
          </a:bodyPr>
          <a:lstStyle/>
          <a:p>
            <a:pPr algn="l">
              <a:defRPr sz="1200" b="0">
                <a:solidFill>
                  <a:srgbClr val="333333"/>
                </a:solidFill>
                <a:latin typeface="Calibri"/>
              </a:defRPr>
            </a:pPr>
            <a:r>
              <a:t>•  SAP TM: Transportation management and carrier selection</a:t>
            </a:r>
          </a:p>
        </p:txBody>
      </p:sp>
      <p:sp>
        <p:nvSpPr>
          <p:cNvPr id="17" name="TextBox 16"/>
          <p:cNvSpPr txBox="1"/>
          <p:nvPr/>
        </p:nvSpPr>
        <p:spPr>
          <a:xfrm>
            <a:off x="6400800" y="3621024"/>
            <a:ext cx="5029200" cy="320040"/>
          </a:xfrm>
          <a:prstGeom prst="rect">
            <a:avLst/>
          </a:prstGeom>
          <a:noFill/>
        </p:spPr>
        <p:txBody>
          <a:bodyPr wrap="square">
            <a:spAutoFit/>
          </a:bodyPr>
          <a:lstStyle/>
          <a:p>
            <a:pPr algn="l">
              <a:defRPr sz="1200" b="0">
                <a:solidFill>
                  <a:srgbClr val="333333"/>
                </a:solidFill>
                <a:latin typeface="Calibri"/>
              </a:defRPr>
            </a:pPr>
            <a:r>
              <a:t>•  SAP BN4L: Business Network for Logistics visibility</a:t>
            </a:r>
          </a:p>
        </p:txBody>
      </p:sp>
      <p:sp>
        <p:nvSpPr>
          <p:cNvPr id="18" name="TextBox 17"/>
          <p:cNvSpPr txBox="1"/>
          <p:nvPr/>
        </p:nvSpPr>
        <p:spPr>
          <a:xfrm>
            <a:off x="6400800" y="3913632"/>
            <a:ext cx="5029200" cy="320040"/>
          </a:xfrm>
          <a:prstGeom prst="rect">
            <a:avLst/>
          </a:prstGeom>
          <a:noFill/>
        </p:spPr>
        <p:txBody>
          <a:bodyPr wrap="square">
            <a:spAutoFit/>
          </a:bodyPr>
          <a:lstStyle/>
          <a:p>
            <a:pPr algn="l">
              <a:defRPr sz="1200" b="0">
                <a:solidFill>
                  <a:srgbClr val="333333"/>
                </a:solidFill>
                <a:latin typeface="Calibri"/>
              </a:defRPr>
            </a:pPr>
            <a:r>
              <a:t>•  Yard Management: Vehicle staging and carrier scheduling</a:t>
            </a:r>
          </a:p>
        </p:txBody>
      </p:sp>
      <p:sp>
        <p:nvSpPr>
          <p:cNvPr id="19" name="TextBox 18"/>
          <p:cNvSpPr txBox="1"/>
          <p:nvPr/>
        </p:nvSpPr>
        <p:spPr>
          <a:xfrm>
            <a:off x="6400800" y="4206240"/>
            <a:ext cx="5029200" cy="320040"/>
          </a:xfrm>
          <a:prstGeom prst="rect">
            <a:avLst/>
          </a:prstGeom>
          <a:noFill/>
        </p:spPr>
        <p:txBody>
          <a:bodyPr wrap="square">
            <a:spAutoFit/>
          </a:bodyPr>
          <a:lstStyle/>
          <a:p>
            <a:pPr algn="l">
              <a:defRPr sz="1200" b="0">
                <a:solidFill>
                  <a:srgbClr val="333333"/>
                </a:solidFill>
                <a:latin typeface="Calibri"/>
              </a:defRPr>
            </a:pPr>
            <a:r>
              <a:t>•  Fiori: Transport cockpit with real-time tracking</a:t>
            </a:r>
          </a:p>
        </p:txBody>
      </p:sp>
      <p:sp>
        <p:nvSpPr>
          <p:cNvPr id="20" name="TextBox 19"/>
          <p:cNvSpPr txBox="1"/>
          <p:nvPr/>
        </p:nvSpPr>
        <p:spPr>
          <a:xfrm>
            <a:off x="685800" y="4937760"/>
            <a:ext cx="10058400" cy="320040"/>
          </a:xfrm>
          <a:prstGeom prst="rect">
            <a:avLst/>
          </a:prstGeom>
          <a:noFill/>
        </p:spPr>
        <p:txBody>
          <a:bodyPr wrap="square">
            <a:spAutoFit/>
          </a:bodyPr>
          <a:lstStyle/>
          <a:p>
            <a:pPr algn="l">
              <a:defRPr sz="1400" b="1">
                <a:solidFill>
                  <a:srgbClr val="1A1A2E"/>
                </a:solidFill>
                <a:latin typeface="Calibri"/>
              </a:defRPr>
            </a:pPr>
            <a:r>
              <a:t>Target KPIs</a:t>
            </a:r>
          </a:p>
        </p:txBody>
      </p:sp>
      <p:sp>
        <p:nvSpPr>
          <p:cNvPr id="21" name="Rounded Rectangle 20"/>
          <p:cNvSpPr/>
          <p:nvPr/>
        </p:nvSpPr>
        <p:spPr>
          <a:xfrm>
            <a:off x="685800" y="5349240"/>
            <a:ext cx="2560320" cy="822960"/>
          </a:xfrm>
          <a:prstGeom prst="roundRect">
            <a:avLst/>
          </a:prstGeom>
          <a:solidFill>
            <a:srgbClr val="F5F5F5"/>
          </a:solidFill>
          <a:ln w="19050">
            <a:solidFill>
              <a:srgbClr val="00899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960" y="5394960"/>
            <a:ext cx="2286000" cy="365760"/>
          </a:xfrm>
          <a:prstGeom prst="rect">
            <a:avLst/>
          </a:prstGeom>
          <a:noFill/>
        </p:spPr>
        <p:txBody>
          <a:bodyPr wrap="square">
            <a:spAutoFit/>
          </a:bodyPr>
          <a:lstStyle/>
          <a:p>
            <a:pPr algn="l">
              <a:defRPr sz="2000" b="1">
                <a:solidFill>
                  <a:srgbClr val="00899B"/>
                </a:solidFill>
                <a:latin typeface="Calibri"/>
              </a:defRPr>
            </a:pPr>
            <a:r>
              <a:t>10-15% ↓</a:t>
            </a:r>
          </a:p>
        </p:txBody>
      </p:sp>
      <p:sp>
        <p:nvSpPr>
          <p:cNvPr id="23" name="TextBox 22"/>
          <p:cNvSpPr txBox="1"/>
          <p:nvPr/>
        </p:nvSpPr>
        <p:spPr>
          <a:xfrm>
            <a:off x="822960" y="5760720"/>
            <a:ext cx="2286000" cy="320040"/>
          </a:xfrm>
          <a:prstGeom prst="rect">
            <a:avLst/>
          </a:prstGeom>
          <a:noFill/>
        </p:spPr>
        <p:txBody>
          <a:bodyPr wrap="square">
            <a:spAutoFit/>
          </a:bodyPr>
          <a:lstStyle/>
          <a:p>
            <a:pPr algn="l">
              <a:defRPr sz="1000" b="0">
                <a:solidFill>
                  <a:srgbClr val="888888"/>
                </a:solidFill>
                <a:latin typeface="Calibri"/>
              </a:defRPr>
            </a:pPr>
            <a:r>
              <a:t>Transport Cost</a:t>
            </a:r>
          </a:p>
        </p:txBody>
      </p:sp>
      <p:sp>
        <p:nvSpPr>
          <p:cNvPr id="24" name="Rounded Rectangle 23"/>
          <p:cNvSpPr/>
          <p:nvPr/>
        </p:nvSpPr>
        <p:spPr>
          <a:xfrm>
            <a:off x="3429000" y="5349240"/>
            <a:ext cx="2560320" cy="822960"/>
          </a:xfrm>
          <a:prstGeom prst="roundRect">
            <a:avLst/>
          </a:prstGeom>
          <a:solidFill>
            <a:srgbClr val="F5F5F5"/>
          </a:solidFill>
          <a:ln w="19050">
            <a:solidFill>
              <a:srgbClr val="00899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566160" y="5394960"/>
            <a:ext cx="2286000" cy="365760"/>
          </a:xfrm>
          <a:prstGeom prst="rect">
            <a:avLst/>
          </a:prstGeom>
          <a:noFill/>
        </p:spPr>
        <p:txBody>
          <a:bodyPr wrap="square">
            <a:spAutoFit/>
          </a:bodyPr>
          <a:lstStyle/>
          <a:p>
            <a:pPr algn="l">
              <a:defRPr sz="2000" b="1">
                <a:solidFill>
                  <a:srgbClr val="00899B"/>
                </a:solidFill>
                <a:latin typeface="Calibri"/>
              </a:defRPr>
            </a:pPr>
            <a:r>
              <a:t>&gt; 85%</a:t>
            </a:r>
          </a:p>
        </p:txBody>
      </p:sp>
      <p:sp>
        <p:nvSpPr>
          <p:cNvPr id="26" name="TextBox 25"/>
          <p:cNvSpPr txBox="1"/>
          <p:nvPr/>
        </p:nvSpPr>
        <p:spPr>
          <a:xfrm>
            <a:off x="3566160" y="5760720"/>
            <a:ext cx="2286000" cy="320040"/>
          </a:xfrm>
          <a:prstGeom prst="rect">
            <a:avLst/>
          </a:prstGeom>
          <a:noFill/>
        </p:spPr>
        <p:txBody>
          <a:bodyPr wrap="square">
            <a:spAutoFit/>
          </a:bodyPr>
          <a:lstStyle/>
          <a:p>
            <a:pPr algn="l">
              <a:defRPr sz="1000" b="0">
                <a:solidFill>
                  <a:srgbClr val="888888"/>
                </a:solidFill>
                <a:latin typeface="Calibri"/>
              </a:defRPr>
            </a:pPr>
            <a:r>
              <a:t>Truck Utilization</a:t>
            </a:r>
          </a:p>
        </p:txBody>
      </p:sp>
      <p:sp>
        <p:nvSpPr>
          <p:cNvPr id="27" name="Rounded Rectangle 26"/>
          <p:cNvSpPr/>
          <p:nvPr/>
        </p:nvSpPr>
        <p:spPr>
          <a:xfrm>
            <a:off x="6172200" y="5349240"/>
            <a:ext cx="2560320" cy="822960"/>
          </a:xfrm>
          <a:prstGeom prst="roundRect">
            <a:avLst/>
          </a:prstGeom>
          <a:solidFill>
            <a:srgbClr val="F5F5F5"/>
          </a:solidFill>
          <a:ln w="19050">
            <a:solidFill>
              <a:srgbClr val="00899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09360" y="5394960"/>
            <a:ext cx="2286000" cy="365760"/>
          </a:xfrm>
          <a:prstGeom prst="rect">
            <a:avLst/>
          </a:prstGeom>
          <a:noFill/>
        </p:spPr>
        <p:txBody>
          <a:bodyPr wrap="square">
            <a:spAutoFit/>
          </a:bodyPr>
          <a:lstStyle/>
          <a:p>
            <a:pPr algn="l">
              <a:defRPr sz="2000" b="1">
                <a:solidFill>
                  <a:srgbClr val="00899B"/>
                </a:solidFill>
                <a:latin typeface="Calibri"/>
              </a:defRPr>
            </a:pPr>
            <a:r>
              <a:t>20-30% ↓</a:t>
            </a:r>
          </a:p>
        </p:txBody>
      </p:sp>
      <p:sp>
        <p:nvSpPr>
          <p:cNvPr id="29" name="TextBox 28"/>
          <p:cNvSpPr txBox="1"/>
          <p:nvPr/>
        </p:nvSpPr>
        <p:spPr>
          <a:xfrm>
            <a:off x="6309360" y="5760720"/>
            <a:ext cx="2286000" cy="320040"/>
          </a:xfrm>
          <a:prstGeom prst="rect">
            <a:avLst/>
          </a:prstGeom>
          <a:noFill/>
        </p:spPr>
        <p:txBody>
          <a:bodyPr wrap="square">
            <a:spAutoFit/>
          </a:bodyPr>
          <a:lstStyle/>
          <a:p>
            <a:pPr algn="l">
              <a:defRPr sz="1000" b="0">
                <a:solidFill>
                  <a:srgbClr val="888888"/>
                </a:solidFill>
                <a:latin typeface="Calibri"/>
              </a:defRPr>
            </a:pPr>
            <a:r>
              <a:t>Delivery Lead Time</a:t>
            </a:r>
          </a:p>
        </p:txBody>
      </p:sp>
      <p:sp>
        <p:nvSpPr>
          <p:cNvPr id="30" name="Rounded Rectangle 29"/>
          <p:cNvSpPr/>
          <p:nvPr/>
        </p:nvSpPr>
        <p:spPr>
          <a:xfrm>
            <a:off x="8915400" y="5349240"/>
            <a:ext cx="2560320" cy="822960"/>
          </a:xfrm>
          <a:prstGeom prst="roundRect">
            <a:avLst/>
          </a:prstGeom>
          <a:solidFill>
            <a:srgbClr val="F5F5F5"/>
          </a:solidFill>
          <a:ln w="19050">
            <a:solidFill>
              <a:srgbClr val="00899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52560" y="5394960"/>
            <a:ext cx="2286000" cy="365760"/>
          </a:xfrm>
          <a:prstGeom prst="rect">
            <a:avLst/>
          </a:prstGeom>
          <a:noFill/>
        </p:spPr>
        <p:txBody>
          <a:bodyPr wrap="square">
            <a:spAutoFit/>
          </a:bodyPr>
          <a:lstStyle/>
          <a:p>
            <a:pPr algn="l">
              <a:defRPr sz="2000" b="1">
                <a:solidFill>
                  <a:srgbClr val="00899B"/>
                </a:solidFill>
                <a:latin typeface="Calibri"/>
              </a:defRPr>
            </a:pPr>
            <a:r>
              <a:t>12-18% ↓</a:t>
            </a:r>
          </a:p>
        </p:txBody>
      </p:sp>
      <p:sp>
        <p:nvSpPr>
          <p:cNvPr id="32" name="TextBox 31"/>
          <p:cNvSpPr txBox="1"/>
          <p:nvPr/>
        </p:nvSpPr>
        <p:spPr>
          <a:xfrm>
            <a:off x="9052560" y="5760720"/>
            <a:ext cx="2286000" cy="320040"/>
          </a:xfrm>
          <a:prstGeom prst="rect">
            <a:avLst/>
          </a:prstGeom>
          <a:noFill/>
        </p:spPr>
        <p:txBody>
          <a:bodyPr wrap="square">
            <a:spAutoFit/>
          </a:bodyPr>
          <a:lstStyle/>
          <a:p>
            <a:pPr algn="l">
              <a:defRPr sz="1000" b="0">
                <a:solidFill>
                  <a:srgbClr val="888888"/>
                </a:solidFill>
                <a:latin typeface="Calibri"/>
              </a:defRPr>
            </a:pPr>
            <a:r>
              <a:t>Carbon Emissions</a:t>
            </a:r>
          </a:p>
        </p:txBody>
      </p:sp>
      <p:sp>
        <p:nvSpPr>
          <p:cNvPr id="33" name="TextBox 32"/>
          <p:cNvSpPr txBox="1"/>
          <p:nvPr/>
        </p:nvSpPr>
        <p:spPr>
          <a:xfrm>
            <a:off x="685800" y="6400800"/>
            <a:ext cx="10515600" cy="274320"/>
          </a:xfrm>
          <a:prstGeom prst="rect">
            <a:avLst/>
          </a:prstGeom>
          <a:noFill/>
        </p:spPr>
        <p:txBody>
          <a:bodyPr wrap="square">
            <a:spAutoFit/>
          </a:bodyPr>
          <a:lstStyle/>
          <a:p>
            <a:pPr algn="r">
              <a:defRPr sz="900" b="0">
                <a:solidFill>
                  <a:srgbClr val="888888"/>
                </a:solidFill>
                <a:latin typeface="Calibri"/>
              </a:defRPr>
            </a:pPr>
            <a:r>
              <a:t>Toyota Motors Australia  |  AI-Powered S/4 HANA Transformation  |  Confidential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6213E"/>
        </a:solidFill>
        <a:effectLst/>
      </p:bgPr>
    </p:bg>
    <p:spTree>
      <p:nvGrpSpPr>
        <p:cNvPr id="1" name=""/>
        <p:cNvGrpSpPr/>
        <p:nvPr/>
      </p:nvGrpSpPr>
      <p:grpSpPr/>
      <p:sp>
        <p:nvSpPr>
          <p:cNvPr id="2" name="TextBox 1"/>
          <p:cNvSpPr txBox="1"/>
          <p:nvPr/>
        </p:nvSpPr>
        <p:spPr>
          <a:xfrm>
            <a:off x="914400" y="2011680"/>
            <a:ext cx="10058400" cy="731520"/>
          </a:xfrm>
          <a:prstGeom prst="rect">
            <a:avLst/>
          </a:prstGeom>
          <a:noFill/>
        </p:spPr>
        <p:txBody>
          <a:bodyPr wrap="square">
            <a:spAutoFit/>
          </a:bodyPr>
          <a:lstStyle/>
          <a:p>
            <a:pPr algn="l">
              <a:defRPr sz="1600" b="1">
                <a:solidFill>
                  <a:srgbClr val="F0AB00"/>
                </a:solidFill>
                <a:latin typeface="Calibri"/>
              </a:defRPr>
            </a:pPr>
            <a:r>
              <a:t>SECTION 6</a:t>
            </a:r>
          </a:p>
        </p:txBody>
      </p:sp>
      <p:sp>
        <p:nvSpPr>
          <p:cNvPr id="3" name="Rectangle 2"/>
          <p:cNvSpPr/>
          <p:nvPr/>
        </p:nvSpPr>
        <p:spPr>
          <a:xfrm>
            <a:off x="914400" y="2743200"/>
            <a:ext cx="1828800" cy="38100"/>
          </a:xfrm>
          <a:prstGeom prst="rect">
            <a:avLst/>
          </a:prstGeom>
          <a:solidFill>
            <a:srgbClr val="EB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3017520"/>
            <a:ext cx="10058400" cy="1097280"/>
          </a:xfrm>
          <a:prstGeom prst="rect">
            <a:avLst/>
          </a:prstGeom>
          <a:noFill/>
        </p:spPr>
        <p:txBody>
          <a:bodyPr wrap="square">
            <a:spAutoFit/>
          </a:bodyPr>
          <a:lstStyle/>
          <a:p>
            <a:pPr algn="l">
              <a:defRPr sz="3600" b="1">
                <a:solidFill>
                  <a:srgbClr val="FFFFFF"/>
                </a:solidFill>
                <a:latin typeface="Calibri"/>
              </a:defRPr>
            </a:pPr>
            <a:r>
              <a:t>Benefits &amp; ROI</a:t>
            </a:r>
          </a:p>
        </p:txBody>
      </p:sp>
      <p:sp>
        <p:nvSpPr>
          <p:cNvPr id="5" name="TextBox 4"/>
          <p:cNvSpPr txBox="1"/>
          <p:nvPr/>
        </p:nvSpPr>
        <p:spPr>
          <a:xfrm>
            <a:off x="914400" y="4114800"/>
            <a:ext cx="10058400" cy="731520"/>
          </a:xfrm>
          <a:prstGeom prst="rect">
            <a:avLst/>
          </a:prstGeom>
          <a:noFill/>
        </p:spPr>
        <p:txBody>
          <a:bodyPr wrap="square">
            <a:spAutoFit/>
          </a:bodyPr>
          <a:lstStyle/>
          <a:p>
            <a:pPr algn="l">
              <a:defRPr sz="1800" b="0">
                <a:solidFill>
                  <a:srgbClr val="F0AB00"/>
                </a:solidFill>
                <a:latin typeface="Calibri"/>
              </a:defRPr>
            </a:pPr>
            <a:r>
              <a:t>Quantified Business Outcomes</a:t>
            </a:r>
          </a:p>
        </p:txBody>
      </p:sp>
      <p:sp>
        <p:nvSpPr>
          <p:cNvPr id="6" name="TextBox 5"/>
          <p:cNvSpPr txBox="1"/>
          <p:nvPr/>
        </p:nvSpPr>
        <p:spPr>
          <a:xfrm>
            <a:off x="685800" y="6400800"/>
            <a:ext cx="10515600" cy="274320"/>
          </a:xfrm>
          <a:prstGeom prst="rect">
            <a:avLst/>
          </a:prstGeom>
          <a:noFill/>
        </p:spPr>
        <p:txBody>
          <a:bodyPr wrap="square">
            <a:spAutoFit/>
          </a:bodyPr>
          <a:lstStyle/>
          <a:p>
            <a:pPr algn="r">
              <a:defRPr sz="900" b="0">
                <a:solidFill>
                  <a:srgbClr val="FFFFFF"/>
                </a:solidFill>
                <a:latin typeface="Calibri"/>
              </a:defRPr>
            </a:pPr>
            <a:r>
              <a:t>Toyota Motors Australia  |  AI-Powered S/4 HANA Transformation  |  Confidential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164592"/>
            <a:ext cx="10515600" cy="640080"/>
          </a:xfrm>
          <a:prstGeom prst="rect">
            <a:avLst/>
          </a:prstGeom>
          <a:noFill/>
        </p:spPr>
        <p:txBody>
          <a:bodyPr wrap="square">
            <a:spAutoFit/>
          </a:bodyPr>
          <a:lstStyle/>
          <a:p>
            <a:pPr algn="l">
              <a:defRPr sz="2800" b="1">
                <a:solidFill>
                  <a:srgbClr val="FFFFFF"/>
                </a:solidFill>
                <a:latin typeface="Calibri"/>
              </a:defRPr>
            </a:pPr>
            <a:r>
              <a:t>Benefits &amp; Business Impact</a:t>
            </a:r>
          </a:p>
        </p:txBody>
      </p:sp>
      <p:sp>
        <p:nvSpPr>
          <p:cNvPr id="4" name="Rounded Rectangle 3"/>
          <p:cNvSpPr/>
          <p:nvPr/>
        </p:nvSpPr>
        <p:spPr>
          <a:xfrm>
            <a:off x="685800" y="1280160"/>
            <a:ext cx="2926080" cy="411480"/>
          </a:xfrm>
          <a:prstGeom prst="roundRect">
            <a:avLst/>
          </a:prstGeom>
          <a:solidFill>
            <a:srgbClr val="EB002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defRPr sz="1300" b="1">
                <a:solidFill>
                  <a:srgbClr val="FFFFFF"/>
                </a:solidFill>
                <a:latin typeface="Calibri"/>
              </a:defRPr>
            </a:pPr>
            <a:r>
              <a:t>Financial Benefits</a:t>
            </a:r>
          </a:p>
        </p:txBody>
      </p:sp>
      <p:sp>
        <p:nvSpPr>
          <p:cNvPr id="5" name="TextBox 4"/>
          <p:cNvSpPr txBox="1"/>
          <p:nvPr/>
        </p:nvSpPr>
        <p:spPr>
          <a:xfrm>
            <a:off x="3840480" y="1325880"/>
            <a:ext cx="7772400" cy="274320"/>
          </a:xfrm>
          <a:prstGeom prst="rect">
            <a:avLst/>
          </a:prstGeom>
          <a:noFill/>
        </p:spPr>
        <p:txBody>
          <a:bodyPr wrap="square">
            <a:spAutoFit/>
          </a:bodyPr>
          <a:lstStyle/>
          <a:p>
            <a:pPr algn="l">
              <a:defRPr sz="1100" b="0">
                <a:solidFill>
                  <a:srgbClr val="333333"/>
                </a:solidFill>
                <a:latin typeface="Calibri"/>
              </a:defRPr>
            </a:pPr>
            <a:r>
              <a:t>•  15-25% reduction in inventory carrying costs ($15-25M annual savings potential)</a:t>
            </a:r>
          </a:p>
        </p:txBody>
      </p:sp>
      <p:sp>
        <p:nvSpPr>
          <p:cNvPr id="6" name="TextBox 5"/>
          <p:cNvSpPr txBox="1"/>
          <p:nvPr/>
        </p:nvSpPr>
        <p:spPr>
          <a:xfrm>
            <a:off x="3840480" y="1600200"/>
            <a:ext cx="7772400" cy="274320"/>
          </a:xfrm>
          <a:prstGeom prst="rect">
            <a:avLst/>
          </a:prstGeom>
          <a:noFill/>
        </p:spPr>
        <p:txBody>
          <a:bodyPr wrap="square">
            <a:spAutoFit/>
          </a:bodyPr>
          <a:lstStyle/>
          <a:p>
            <a:pPr algn="l">
              <a:defRPr sz="1100" b="0">
                <a:solidFill>
                  <a:srgbClr val="333333"/>
                </a:solidFill>
                <a:latin typeface="Calibri"/>
              </a:defRPr>
            </a:pPr>
            <a:r>
              <a:t>•  10-15% reduction in logistics and transport costs</a:t>
            </a:r>
          </a:p>
        </p:txBody>
      </p:sp>
      <p:sp>
        <p:nvSpPr>
          <p:cNvPr id="7" name="TextBox 6"/>
          <p:cNvSpPr txBox="1"/>
          <p:nvPr/>
        </p:nvSpPr>
        <p:spPr>
          <a:xfrm>
            <a:off x="3840480" y="1874520"/>
            <a:ext cx="7772400" cy="274320"/>
          </a:xfrm>
          <a:prstGeom prst="rect">
            <a:avLst/>
          </a:prstGeom>
          <a:noFill/>
        </p:spPr>
        <p:txBody>
          <a:bodyPr wrap="square">
            <a:spAutoFit/>
          </a:bodyPr>
          <a:lstStyle/>
          <a:p>
            <a:pPr algn="l">
              <a:defRPr sz="1100" b="0">
                <a:solidFill>
                  <a:srgbClr val="333333"/>
                </a:solidFill>
                <a:latin typeface="Calibri"/>
              </a:defRPr>
            </a:pPr>
            <a:r>
              <a:t>•  8-12% procurement cost avoidance through better planning</a:t>
            </a:r>
          </a:p>
        </p:txBody>
      </p:sp>
      <p:sp>
        <p:nvSpPr>
          <p:cNvPr id="8" name="TextBox 7"/>
          <p:cNvSpPr txBox="1"/>
          <p:nvPr/>
        </p:nvSpPr>
        <p:spPr>
          <a:xfrm>
            <a:off x="3840480" y="2148840"/>
            <a:ext cx="7772400" cy="274320"/>
          </a:xfrm>
          <a:prstGeom prst="rect">
            <a:avLst/>
          </a:prstGeom>
          <a:noFill/>
        </p:spPr>
        <p:txBody>
          <a:bodyPr wrap="square">
            <a:spAutoFit/>
          </a:bodyPr>
          <a:lstStyle/>
          <a:p>
            <a:pPr algn="l">
              <a:defRPr sz="1100" b="0">
                <a:solidFill>
                  <a:srgbClr val="333333"/>
                </a:solidFill>
                <a:latin typeface="Calibri"/>
              </a:defRPr>
            </a:pPr>
            <a:r>
              <a:t>•  30-40% reduction in emergency/expedited orders premium</a:t>
            </a:r>
          </a:p>
        </p:txBody>
      </p:sp>
      <p:sp>
        <p:nvSpPr>
          <p:cNvPr id="9" name="Rounded Rectangle 8"/>
          <p:cNvSpPr/>
          <p:nvPr/>
        </p:nvSpPr>
        <p:spPr>
          <a:xfrm>
            <a:off x="685800" y="2560320"/>
            <a:ext cx="2926080" cy="411480"/>
          </a:xfrm>
          <a:prstGeom prst="roundRect">
            <a:avLst/>
          </a:prstGeom>
          <a:solidFill>
            <a:srgbClr val="0070F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defRPr sz="1300" b="1">
                <a:solidFill>
                  <a:srgbClr val="FFFFFF"/>
                </a:solidFill>
                <a:latin typeface="Calibri"/>
              </a:defRPr>
            </a:pPr>
            <a:r>
              <a:t>Operational Benefits</a:t>
            </a:r>
          </a:p>
        </p:txBody>
      </p:sp>
      <p:sp>
        <p:nvSpPr>
          <p:cNvPr id="10" name="TextBox 9"/>
          <p:cNvSpPr txBox="1"/>
          <p:nvPr/>
        </p:nvSpPr>
        <p:spPr>
          <a:xfrm>
            <a:off x="3840480" y="2606040"/>
            <a:ext cx="7772400" cy="274320"/>
          </a:xfrm>
          <a:prstGeom prst="rect">
            <a:avLst/>
          </a:prstGeom>
          <a:noFill/>
        </p:spPr>
        <p:txBody>
          <a:bodyPr wrap="square">
            <a:spAutoFit/>
          </a:bodyPr>
          <a:lstStyle/>
          <a:p>
            <a:pPr algn="l">
              <a:defRPr sz="1100" b="0">
                <a:solidFill>
                  <a:srgbClr val="333333"/>
                </a:solidFill>
                <a:latin typeface="Calibri"/>
              </a:defRPr>
            </a:pPr>
            <a:r>
              <a:t>•  20-30% improvement in forecast accuracy driving better decisions</a:t>
            </a:r>
          </a:p>
        </p:txBody>
      </p:sp>
      <p:sp>
        <p:nvSpPr>
          <p:cNvPr id="11" name="TextBox 10"/>
          <p:cNvSpPr txBox="1"/>
          <p:nvPr/>
        </p:nvSpPr>
        <p:spPr>
          <a:xfrm>
            <a:off x="3840480" y="2880360"/>
            <a:ext cx="7772400" cy="274320"/>
          </a:xfrm>
          <a:prstGeom prst="rect">
            <a:avLst/>
          </a:prstGeom>
          <a:noFill/>
        </p:spPr>
        <p:txBody>
          <a:bodyPr wrap="square">
            <a:spAutoFit/>
          </a:bodyPr>
          <a:lstStyle/>
          <a:p>
            <a:pPr algn="l">
              <a:defRPr sz="1100" b="0">
                <a:solidFill>
                  <a:srgbClr val="333333"/>
                </a:solidFill>
                <a:latin typeface="Calibri"/>
              </a:defRPr>
            </a:pPr>
            <a:r>
              <a:t>•  97%+ On-Time-In-Full (OTIF) delivery to dealerships</a:t>
            </a:r>
          </a:p>
        </p:txBody>
      </p:sp>
      <p:sp>
        <p:nvSpPr>
          <p:cNvPr id="12" name="TextBox 11"/>
          <p:cNvSpPr txBox="1"/>
          <p:nvPr/>
        </p:nvSpPr>
        <p:spPr>
          <a:xfrm>
            <a:off x="3840480" y="3154680"/>
            <a:ext cx="7772400" cy="274320"/>
          </a:xfrm>
          <a:prstGeom prst="rect">
            <a:avLst/>
          </a:prstGeom>
          <a:noFill/>
        </p:spPr>
        <p:txBody>
          <a:bodyPr wrap="square">
            <a:spAutoFit/>
          </a:bodyPr>
          <a:lstStyle/>
          <a:p>
            <a:pPr algn="l">
              <a:defRPr sz="1100" b="0">
                <a:solidFill>
                  <a:srgbClr val="333333"/>
                </a:solidFill>
                <a:latin typeface="Calibri"/>
              </a:defRPr>
            </a:pPr>
            <a:r>
              <a:t>•  60% faster demand planning cycles (weeks to days)</a:t>
            </a:r>
          </a:p>
        </p:txBody>
      </p:sp>
      <p:sp>
        <p:nvSpPr>
          <p:cNvPr id="13" name="TextBox 12"/>
          <p:cNvSpPr txBox="1"/>
          <p:nvPr/>
        </p:nvSpPr>
        <p:spPr>
          <a:xfrm>
            <a:off x="3840480" y="3429000"/>
            <a:ext cx="7772400" cy="274320"/>
          </a:xfrm>
          <a:prstGeom prst="rect">
            <a:avLst/>
          </a:prstGeom>
          <a:noFill/>
        </p:spPr>
        <p:txBody>
          <a:bodyPr wrap="square">
            <a:spAutoFit/>
          </a:bodyPr>
          <a:lstStyle/>
          <a:p>
            <a:pPr algn="l">
              <a:defRPr sz="1100" b="0">
                <a:solidFill>
                  <a:srgbClr val="333333"/>
                </a:solidFill>
                <a:latin typeface="Calibri"/>
              </a:defRPr>
            </a:pPr>
            <a:r>
              <a:t>•  50% reduction in manual planning effort through automation</a:t>
            </a:r>
          </a:p>
        </p:txBody>
      </p:sp>
      <p:sp>
        <p:nvSpPr>
          <p:cNvPr id="14" name="Rounded Rectangle 13"/>
          <p:cNvSpPr/>
          <p:nvPr/>
        </p:nvSpPr>
        <p:spPr>
          <a:xfrm>
            <a:off x="685800" y="3840480"/>
            <a:ext cx="2926080" cy="411480"/>
          </a:xfrm>
          <a:prstGeom prst="roundRect">
            <a:avLst/>
          </a:prstGeom>
          <a:solidFill>
            <a:srgbClr val="00964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defRPr sz="1300" b="1">
                <a:solidFill>
                  <a:srgbClr val="FFFFFF"/>
                </a:solidFill>
                <a:latin typeface="Calibri"/>
              </a:defRPr>
            </a:pPr>
            <a:r>
              <a:t>Strategic Benefits</a:t>
            </a:r>
          </a:p>
        </p:txBody>
      </p:sp>
      <p:sp>
        <p:nvSpPr>
          <p:cNvPr id="15" name="TextBox 14"/>
          <p:cNvSpPr txBox="1"/>
          <p:nvPr/>
        </p:nvSpPr>
        <p:spPr>
          <a:xfrm>
            <a:off x="3840480" y="3886200"/>
            <a:ext cx="7772400" cy="274320"/>
          </a:xfrm>
          <a:prstGeom prst="rect">
            <a:avLst/>
          </a:prstGeom>
          <a:noFill/>
        </p:spPr>
        <p:txBody>
          <a:bodyPr wrap="square">
            <a:spAutoFit/>
          </a:bodyPr>
          <a:lstStyle/>
          <a:p>
            <a:pPr algn="l">
              <a:defRPr sz="1100" b="0">
                <a:solidFill>
                  <a:srgbClr val="333333"/>
                </a:solidFill>
                <a:latin typeface="Calibri"/>
              </a:defRPr>
            </a:pPr>
            <a:r>
              <a:t>•  Data-driven decision culture across the supply chain</a:t>
            </a:r>
          </a:p>
        </p:txBody>
      </p:sp>
      <p:sp>
        <p:nvSpPr>
          <p:cNvPr id="16" name="TextBox 15"/>
          <p:cNvSpPr txBox="1"/>
          <p:nvPr/>
        </p:nvSpPr>
        <p:spPr>
          <a:xfrm>
            <a:off x="3840480" y="4160520"/>
            <a:ext cx="7772400" cy="274320"/>
          </a:xfrm>
          <a:prstGeom prst="rect">
            <a:avLst/>
          </a:prstGeom>
          <a:noFill/>
        </p:spPr>
        <p:txBody>
          <a:bodyPr wrap="square">
            <a:spAutoFit/>
          </a:bodyPr>
          <a:lstStyle/>
          <a:p>
            <a:pPr algn="l">
              <a:defRPr sz="1100" b="0">
                <a:solidFill>
                  <a:srgbClr val="333333"/>
                </a:solidFill>
                <a:latin typeface="Calibri"/>
              </a:defRPr>
            </a:pPr>
            <a:r>
              <a:t>•  Competitive advantage through predictive operations</a:t>
            </a:r>
          </a:p>
        </p:txBody>
      </p:sp>
      <p:sp>
        <p:nvSpPr>
          <p:cNvPr id="17" name="TextBox 16"/>
          <p:cNvSpPr txBox="1"/>
          <p:nvPr/>
        </p:nvSpPr>
        <p:spPr>
          <a:xfrm>
            <a:off x="3840480" y="4434840"/>
            <a:ext cx="7772400" cy="274320"/>
          </a:xfrm>
          <a:prstGeom prst="rect">
            <a:avLst/>
          </a:prstGeom>
          <a:noFill/>
        </p:spPr>
        <p:txBody>
          <a:bodyPr wrap="square">
            <a:spAutoFit/>
          </a:bodyPr>
          <a:lstStyle/>
          <a:p>
            <a:pPr algn="l">
              <a:defRPr sz="1100" b="0">
                <a:solidFill>
                  <a:srgbClr val="333333"/>
                </a:solidFill>
                <a:latin typeface="Calibri"/>
              </a:defRPr>
            </a:pPr>
            <a:r>
              <a:t>•  Enhanced dealer satisfaction with improved part availability</a:t>
            </a:r>
          </a:p>
        </p:txBody>
      </p:sp>
      <p:sp>
        <p:nvSpPr>
          <p:cNvPr id="18" name="TextBox 17"/>
          <p:cNvSpPr txBox="1"/>
          <p:nvPr/>
        </p:nvSpPr>
        <p:spPr>
          <a:xfrm>
            <a:off x="3840480" y="4709160"/>
            <a:ext cx="7772400" cy="274320"/>
          </a:xfrm>
          <a:prstGeom prst="rect">
            <a:avLst/>
          </a:prstGeom>
          <a:noFill/>
        </p:spPr>
        <p:txBody>
          <a:bodyPr wrap="square">
            <a:spAutoFit/>
          </a:bodyPr>
          <a:lstStyle/>
          <a:p>
            <a:pPr algn="l">
              <a:defRPr sz="1100" b="0">
                <a:solidFill>
                  <a:srgbClr val="333333"/>
                </a:solidFill>
                <a:latin typeface="Calibri"/>
              </a:defRPr>
            </a:pPr>
            <a:r>
              <a:t>•  Foundation for autonomous supply chain operations</a:t>
            </a:r>
          </a:p>
        </p:txBody>
      </p:sp>
      <p:sp>
        <p:nvSpPr>
          <p:cNvPr id="19" name="TextBox 18"/>
          <p:cNvSpPr txBox="1"/>
          <p:nvPr/>
        </p:nvSpPr>
        <p:spPr>
          <a:xfrm>
            <a:off x="685800" y="5303520"/>
            <a:ext cx="10515600" cy="320040"/>
          </a:xfrm>
          <a:prstGeom prst="rect">
            <a:avLst/>
          </a:prstGeom>
          <a:noFill/>
        </p:spPr>
        <p:txBody>
          <a:bodyPr wrap="square">
            <a:spAutoFit/>
          </a:bodyPr>
          <a:lstStyle/>
          <a:p>
            <a:pPr algn="l">
              <a:defRPr sz="1400" b="1">
                <a:solidFill>
                  <a:srgbClr val="EB0023"/>
                </a:solidFill>
                <a:latin typeface="Calibri"/>
              </a:defRPr>
            </a:pPr>
            <a:r>
              <a:t>Estimated ROI: 3-5x return within 24 months of full deployment</a:t>
            </a:r>
          </a:p>
        </p:txBody>
      </p:sp>
      <p:sp>
        <p:nvSpPr>
          <p:cNvPr id="20" name="TextBox 19"/>
          <p:cNvSpPr txBox="1"/>
          <p:nvPr/>
        </p:nvSpPr>
        <p:spPr>
          <a:xfrm>
            <a:off x="685800" y="6400800"/>
            <a:ext cx="10515600" cy="274320"/>
          </a:xfrm>
          <a:prstGeom prst="rect">
            <a:avLst/>
          </a:prstGeom>
          <a:noFill/>
        </p:spPr>
        <p:txBody>
          <a:bodyPr wrap="square">
            <a:spAutoFit/>
          </a:bodyPr>
          <a:lstStyle/>
          <a:p>
            <a:pPr algn="r">
              <a:defRPr sz="900" b="0">
                <a:solidFill>
                  <a:srgbClr val="888888"/>
                </a:solidFill>
                <a:latin typeface="Calibri"/>
              </a:defRPr>
            </a:pPr>
            <a:r>
              <a:t>Toyota Motors Australia  |  AI-Powered S/4 HANA Transformation  |  Confidential</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6213E"/>
        </a:solidFill>
        <a:effectLst/>
      </p:bgPr>
    </p:bg>
    <p:spTree>
      <p:nvGrpSpPr>
        <p:cNvPr id="1" name=""/>
        <p:cNvGrpSpPr/>
        <p:nvPr/>
      </p:nvGrpSpPr>
      <p:grpSpPr/>
      <p:sp>
        <p:nvSpPr>
          <p:cNvPr id="2" name="TextBox 1"/>
          <p:cNvSpPr txBox="1"/>
          <p:nvPr/>
        </p:nvSpPr>
        <p:spPr>
          <a:xfrm>
            <a:off x="914400" y="2011680"/>
            <a:ext cx="10058400" cy="731520"/>
          </a:xfrm>
          <a:prstGeom prst="rect">
            <a:avLst/>
          </a:prstGeom>
          <a:noFill/>
        </p:spPr>
        <p:txBody>
          <a:bodyPr wrap="square">
            <a:spAutoFit/>
          </a:bodyPr>
          <a:lstStyle/>
          <a:p>
            <a:pPr algn="l">
              <a:defRPr sz="1600" b="1">
                <a:solidFill>
                  <a:srgbClr val="F0AB00"/>
                </a:solidFill>
                <a:latin typeface="Calibri"/>
              </a:defRPr>
            </a:pPr>
            <a:r>
              <a:t>SECTION 7</a:t>
            </a:r>
          </a:p>
        </p:txBody>
      </p:sp>
      <p:sp>
        <p:nvSpPr>
          <p:cNvPr id="3" name="Rectangle 2"/>
          <p:cNvSpPr/>
          <p:nvPr/>
        </p:nvSpPr>
        <p:spPr>
          <a:xfrm>
            <a:off x="914400" y="2743200"/>
            <a:ext cx="1828800" cy="38100"/>
          </a:xfrm>
          <a:prstGeom prst="rect">
            <a:avLst/>
          </a:prstGeom>
          <a:solidFill>
            <a:srgbClr val="EB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3017520"/>
            <a:ext cx="10058400" cy="1097280"/>
          </a:xfrm>
          <a:prstGeom prst="rect">
            <a:avLst/>
          </a:prstGeom>
          <a:noFill/>
        </p:spPr>
        <p:txBody>
          <a:bodyPr wrap="square">
            <a:spAutoFit/>
          </a:bodyPr>
          <a:lstStyle/>
          <a:p>
            <a:pPr algn="l">
              <a:defRPr sz="3600" b="1">
                <a:solidFill>
                  <a:srgbClr val="FFFFFF"/>
                </a:solidFill>
                <a:latin typeface="Calibri"/>
              </a:defRPr>
            </a:pPr>
            <a:r>
              <a:t>Challenges &amp; Mitigations</a:t>
            </a:r>
          </a:p>
        </p:txBody>
      </p:sp>
      <p:sp>
        <p:nvSpPr>
          <p:cNvPr id="5" name="TextBox 4"/>
          <p:cNvSpPr txBox="1"/>
          <p:nvPr/>
        </p:nvSpPr>
        <p:spPr>
          <a:xfrm>
            <a:off x="914400" y="4114800"/>
            <a:ext cx="10058400" cy="731520"/>
          </a:xfrm>
          <a:prstGeom prst="rect">
            <a:avLst/>
          </a:prstGeom>
          <a:noFill/>
        </p:spPr>
        <p:txBody>
          <a:bodyPr wrap="square">
            <a:spAutoFit/>
          </a:bodyPr>
          <a:lstStyle/>
          <a:p>
            <a:pPr algn="l">
              <a:defRPr sz="1800" b="0">
                <a:solidFill>
                  <a:srgbClr val="F0AB00"/>
                </a:solidFill>
                <a:latin typeface="Calibri"/>
              </a:defRPr>
            </a:pPr>
            <a:r>
              <a:t>Implementation Risks &amp; Strategies</a:t>
            </a:r>
          </a:p>
        </p:txBody>
      </p:sp>
      <p:sp>
        <p:nvSpPr>
          <p:cNvPr id="6" name="TextBox 5"/>
          <p:cNvSpPr txBox="1"/>
          <p:nvPr/>
        </p:nvSpPr>
        <p:spPr>
          <a:xfrm>
            <a:off x="685800" y="6400800"/>
            <a:ext cx="10515600" cy="274320"/>
          </a:xfrm>
          <a:prstGeom prst="rect">
            <a:avLst/>
          </a:prstGeom>
          <a:noFill/>
        </p:spPr>
        <p:txBody>
          <a:bodyPr wrap="square">
            <a:spAutoFit/>
          </a:bodyPr>
          <a:lstStyle/>
          <a:p>
            <a:pPr algn="r">
              <a:defRPr sz="900" b="0">
                <a:solidFill>
                  <a:srgbClr val="FFFFFF"/>
                </a:solidFill>
                <a:latin typeface="Calibri"/>
              </a:defRPr>
            </a:pPr>
            <a:r>
              <a:t>Toyota Motors Australia  |  AI-Powered S/4 HANA Transformation  |  Confidential</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164592"/>
            <a:ext cx="10515600" cy="640080"/>
          </a:xfrm>
          <a:prstGeom prst="rect">
            <a:avLst/>
          </a:prstGeom>
          <a:noFill/>
        </p:spPr>
        <p:txBody>
          <a:bodyPr wrap="square">
            <a:spAutoFit/>
          </a:bodyPr>
          <a:lstStyle/>
          <a:p>
            <a:pPr algn="l">
              <a:defRPr sz="2800" b="1">
                <a:solidFill>
                  <a:srgbClr val="FFFFFF"/>
                </a:solidFill>
                <a:latin typeface="Calibri"/>
              </a:defRPr>
            </a:pPr>
            <a:r>
              <a:t>Challenges &amp; Mitigation Strategies</a:t>
            </a:r>
          </a:p>
        </p:txBody>
      </p:sp>
      <p:sp>
        <p:nvSpPr>
          <p:cNvPr id="4" name="Rounded Rectangle 3"/>
          <p:cNvSpPr/>
          <p:nvPr/>
        </p:nvSpPr>
        <p:spPr>
          <a:xfrm>
            <a:off x="457200" y="1234440"/>
            <a:ext cx="2286000" cy="411480"/>
          </a:xfrm>
          <a:prstGeom prst="roundRect">
            <a:avLst/>
          </a:prstGeom>
          <a:solidFill>
            <a:srgbClr val="C8001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defRPr sz="1000" b="1">
                <a:solidFill>
                  <a:srgbClr val="FFFFFF"/>
                </a:solidFill>
                <a:latin typeface="Calibri"/>
              </a:defRPr>
            </a:pPr>
            <a:r>
              <a:t>Data Quality &amp; Integration</a:t>
            </a:r>
          </a:p>
        </p:txBody>
      </p:sp>
      <p:sp>
        <p:nvSpPr>
          <p:cNvPr id="5" name="TextBox 4"/>
          <p:cNvSpPr txBox="1"/>
          <p:nvPr/>
        </p:nvSpPr>
        <p:spPr>
          <a:xfrm>
            <a:off x="2926080" y="1252728"/>
            <a:ext cx="4114800" cy="384048"/>
          </a:xfrm>
          <a:prstGeom prst="rect">
            <a:avLst/>
          </a:prstGeom>
          <a:noFill/>
        </p:spPr>
        <p:txBody>
          <a:bodyPr wrap="square">
            <a:spAutoFit/>
          </a:bodyPr>
          <a:lstStyle/>
          <a:p>
            <a:pPr algn="l">
              <a:defRPr sz="1000" b="0">
                <a:solidFill>
                  <a:srgbClr val="333333"/>
                </a:solidFill>
                <a:latin typeface="Calibri"/>
              </a:defRPr>
            </a:pPr>
            <a:r>
              <a:t>Inconsistent data across dealer systems, legacy data gaps, varying data standards across 280+ dealerships</a:t>
            </a:r>
          </a:p>
        </p:txBody>
      </p:sp>
      <p:sp>
        <p:nvSpPr>
          <p:cNvPr id="6" name="TextBox 5"/>
          <p:cNvSpPr txBox="1"/>
          <p:nvPr/>
        </p:nvSpPr>
        <p:spPr>
          <a:xfrm>
            <a:off x="7223760" y="1252728"/>
            <a:ext cx="4572000" cy="384048"/>
          </a:xfrm>
          <a:prstGeom prst="rect">
            <a:avLst/>
          </a:prstGeom>
          <a:noFill/>
        </p:spPr>
        <p:txBody>
          <a:bodyPr wrap="square">
            <a:spAutoFit/>
          </a:bodyPr>
          <a:lstStyle/>
          <a:p>
            <a:pPr algn="l">
              <a:defRPr sz="1000" b="0">
                <a:solidFill>
                  <a:srgbClr val="00964B"/>
                </a:solidFill>
                <a:latin typeface="Calibri"/>
              </a:defRPr>
            </a:pPr>
            <a:r>
              <a:t>✓ Implement data governance framework, MDM (Master Data Management), phased data cleansing program, SAP Data Intelligence for quality monitoring</a:t>
            </a:r>
          </a:p>
        </p:txBody>
      </p:sp>
      <p:sp>
        <p:nvSpPr>
          <p:cNvPr id="7" name="Rounded Rectangle 6"/>
          <p:cNvSpPr/>
          <p:nvPr/>
        </p:nvSpPr>
        <p:spPr>
          <a:xfrm>
            <a:off x="457200" y="1764792"/>
            <a:ext cx="2286000" cy="411480"/>
          </a:xfrm>
          <a:prstGeom prst="roundRect">
            <a:avLst/>
          </a:prstGeom>
          <a:solidFill>
            <a:srgbClr val="C8001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defRPr sz="1000" b="1">
                <a:solidFill>
                  <a:srgbClr val="FFFFFF"/>
                </a:solidFill>
                <a:latin typeface="Calibri"/>
              </a:defRPr>
            </a:pPr>
            <a:r>
              <a:t>Change Management</a:t>
            </a:r>
          </a:p>
        </p:txBody>
      </p:sp>
      <p:sp>
        <p:nvSpPr>
          <p:cNvPr id="8" name="TextBox 7"/>
          <p:cNvSpPr txBox="1"/>
          <p:nvPr/>
        </p:nvSpPr>
        <p:spPr>
          <a:xfrm>
            <a:off x="2926080" y="1783080"/>
            <a:ext cx="4114800" cy="384048"/>
          </a:xfrm>
          <a:prstGeom prst="rect">
            <a:avLst/>
          </a:prstGeom>
          <a:noFill/>
        </p:spPr>
        <p:txBody>
          <a:bodyPr wrap="square">
            <a:spAutoFit/>
          </a:bodyPr>
          <a:lstStyle/>
          <a:p>
            <a:pPr algn="l">
              <a:defRPr sz="1000" b="0">
                <a:solidFill>
                  <a:srgbClr val="333333"/>
                </a:solidFill>
                <a:latin typeface="Calibri"/>
              </a:defRPr>
            </a:pPr>
            <a:r>
              <a:t>Resistance from planning teams accustomed to manual processes, dealer adoption of new digital tools and processes</a:t>
            </a:r>
          </a:p>
        </p:txBody>
      </p:sp>
      <p:sp>
        <p:nvSpPr>
          <p:cNvPr id="9" name="TextBox 8"/>
          <p:cNvSpPr txBox="1"/>
          <p:nvPr/>
        </p:nvSpPr>
        <p:spPr>
          <a:xfrm>
            <a:off x="7223760" y="1783080"/>
            <a:ext cx="4572000" cy="384048"/>
          </a:xfrm>
          <a:prstGeom prst="rect">
            <a:avLst/>
          </a:prstGeom>
          <a:noFill/>
        </p:spPr>
        <p:txBody>
          <a:bodyPr wrap="square">
            <a:spAutoFit/>
          </a:bodyPr>
          <a:lstStyle/>
          <a:p>
            <a:pPr algn="l">
              <a:defRPr sz="1000" b="0">
                <a:solidFill>
                  <a:srgbClr val="00964B"/>
                </a:solidFill>
                <a:latin typeface="Calibri"/>
              </a:defRPr>
            </a:pPr>
            <a:r>
              <a:t>✓ Executive sponsorship, phased rollout starting with pilot dealers, comprehensive training program, early wins to build momentum</a:t>
            </a:r>
          </a:p>
        </p:txBody>
      </p:sp>
      <p:sp>
        <p:nvSpPr>
          <p:cNvPr id="10" name="Rounded Rectangle 9"/>
          <p:cNvSpPr/>
          <p:nvPr/>
        </p:nvSpPr>
        <p:spPr>
          <a:xfrm>
            <a:off x="457200" y="2295144"/>
            <a:ext cx="2286000" cy="411480"/>
          </a:xfrm>
          <a:prstGeom prst="roundRect">
            <a:avLst/>
          </a:prstGeom>
          <a:solidFill>
            <a:srgbClr val="C8001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defRPr sz="1000" b="1">
                <a:solidFill>
                  <a:srgbClr val="FFFFFF"/>
                </a:solidFill>
                <a:latin typeface="Calibri"/>
              </a:defRPr>
            </a:pPr>
            <a:r>
              <a:t>Model Accuracy &amp; Trust</a:t>
            </a:r>
          </a:p>
        </p:txBody>
      </p:sp>
      <p:sp>
        <p:nvSpPr>
          <p:cNvPr id="11" name="TextBox 10"/>
          <p:cNvSpPr txBox="1"/>
          <p:nvPr/>
        </p:nvSpPr>
        <p:spPr>
          <a:xfrm>
            <a:off x="2926080" y="2313432"/>
            <a:ext cx="4114800" cy="384048"/>
          </a:xfrm>
          <a:prstGeom prst="rect">
            <a:avLst/>
          </a:prstGeom>
          <a:noFill/>
        </p:spPr>
        <p:txBody>
          <a:bodyPr wrap="square">
            <a:spAutoFit/>
          </a:bodyPr>
          <a:lstStyle/>
          <a:p>
            <a:pPr algn="l">
              <a:defRPr sz="1000" b="0">
                <a:solidFill>
                  <a:srgbClr val="333333"/>
                </a:solidFill>
                <a:latin typeface="Calibri"/>
              </a:defRPr>
            </a:pPr>
            <a:r>
              <a:t>ML models need sufficient historical data to be reliable, black-box concerns from business users</a:t>
            </a:r>
          </a:p>
        </p:txBody>
      </p:sp>
      <p:sp>
        <p:nvSpPr>
          <p:cNvPr id="12" name="TextBox 11"/>
          <p:cNvSpPr txBox="1"/>
          <p:nvPr/>
        </p:nvSpPr>
        <p:spPr>
          <a:xfrm>
            <a:off x="7223760" y="2313432"/>
            <a:ext cx="4572000" cy="384048"/>
          </a:xfrm>
          <a:prstGeom prst="rect">
            <a:avLst/>
          </a:prstGeom>
          <a:noFill/>
        </p:spPr>
        <p:txBody>
          <a:bodyPr wrap="square">
            <a:spAutoFit/>
          </a:bodyPr>
          <a:lstStyle/>
          <a:p>
            <a:pPr algn="l">
              <a:defRPr sz="1000" b="0">
                <a:solidFill>
                  <a:srgbClr val="00964B"/>
                </a:solidFill>
                <a:latin typeface="Calibri"/>
              </a:defRPr>
            </a:pPr>
            <a:r>
              <a:t>✓ Start with hybrid human+AI approach, explainable AI dashboards, gradual autonomy increase as trust builds, continuous validation</a:t>
            </a:r>
          </a:p>
        </p:txBody>
      </p:sp>
      <p:sp>
        <p:nvSpPr>
          <p:cNvPr id="13" name="Rounded Rectangle 12"/>
          <p:cNvSpPr/>
          <p:nvPr/>
        </p:nvSpPr>
        <p:spPr>
          <a:xfrm>
            <a:off x="457200" y="2825496"/>
            <a:ext cx="2286000" cy="411480"/>
          </a:xfrm>
          <a:prstGeom prst="roundRect">
            <a:avLst/>
          </a:prstGeom>
          <a:solidFill>
            <a:srgbClr val="C8001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defRPr sz="1000" b="1">
                <a:solidFill>
                  <a:srgbClr val="FFFFFF"/>
                </a:solidFill>
                <a:latin typeface="Calibri"/>
              </a:defRPr>
            </a:pPr>
            <a:r>
              <a:t>Technical Complexity</a:t>
            </a:r>
          </a:p>
        </p:txBody>
      </p:sp>
      <p:sp>
        <p:nvSpPr>
          <p:cNvPr id="14" name="TextBox 13"/>
          <p:cNvSpPr txBox="1"/>
          <p:nvPr/>
        </p:nvSpPr>
        <p:spPr>
          <a:xfrm>
            <a:off x="2926080" y="2843784"/>
            <a:ext cx="4114800" cy="384048"/>
          </a:xfrm>
          <a:prstGeom prst="rect">
            <a:avLst/>
          </a:prstGeom>
          <a:noFill/>
        </p:spPr>
        <p:txBody>
          <a:bodyPr wrap="square">
            <a:spAutoFit/>
          </a:bodyPr>
          <a:lstStyle/>
          <a:p>
            <a:pPr algn="l">
              <a:defRPr sz="1000" b="0">
                <a:solidFill>
                  <a:srgbClr val="333333"/>
                </a:solidFill>
                <a:latin typeface="Calibri"/>
              </a:defRPr>
            </a:pPr>
            <a:r>
              <a:t>Real-time integration across multiple S/4 HANA modules, ML model deployment and monitoring at scale</a:t>
            </a:r>
          </a:p>
        </p:txBody>
      </p:sp>
      <p:sp>
        <p:nvSpPr>
          <p:cNvPr id="15" name="TextBox 14"/>
          <p:cNvSpPr txBox="1"/>
          <p:nvPr/>
        </p:nvSpPr>
        <p:spPr>
          <a:xfrm>
            <a:off x="7223760" y="2843784"/>
            <a:ext cx="4572000" cy="384048"/>
          </a:xfrm>
          <a:prstGeom prst="rect">
            <a:avLst/>
          </a:prstGeom>
          <a:noFill/>
        </p:spPr>
        <p:txBody>
          <a:bodyPr wrap="square">
            <a:spAutoFit/>
          </a:bodyPr>
          <a:lstStyle/>
          <a:p>
            <a:pPr algn="l">
              <a:defRPr sz="1000" b="0">
                <a:solidFill>
                  <a:srgbClr val="00964B"/>
                </a:solidFill>
                <a:latin typeface="Calibri"/>
              </a:defRPr>
            </a:pPr>
            <a:r>
              <a:t>✓ SAP BTP as integration platform, microservices architecture, MLOps framework for model lifecycle, SAP AI Core for deployment</a:t>
            </a:r>
          </a:p>
        </p:txBody>
      </p:sp>
      <p:sp>
        <p:nvSpPr>
          <p:cNvPr id="16" name="Rounded Rectangle 15"/>
          <p:cNvSpPr/>
          <p:nvPr/>
        </p:nvSpPr>
        <p:spPr>
          <a:xfrm>
            <a:off x="457200" y="3355848"/>
            <a:ext cx="2286000" cy="411480"/>
          </a:xfrm>
          <a:prstGeom prst="roundRect">
            <a:avLst/>
          </a:prstGeom>
          <a:solidFill>
            <a:srgbClr val="C8001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defRPr sz="1000" b="1">
                <a:solidFill>
                  <a:srgbClr val="FFFFFF"/>
                </a:solidFill>
                <a:latin typeface="Calibri"/>
              </a:defRPr>
            </a:pPr>
            <a:r>
              <a:t>Cost &amp; Timeline</a:t>
            </a:r>
          </a:p>
        </p:txBody>
      </p:sp>
      <p:sp>
        <p:nvSpPr>
          <p:cNvPr id="17" name="TextBox 16"/>
          <p:cNvSpPr txBox="1"/>
          <p:nvPr/>
        </p:nvSpPr>
        <p:spPr>
          <a:xfrm>
            <a:off x="2926080" y="3374136"/>
            <a:ext cx="4114800" cy="384048"/>
          </a:xfrm>
          <a:prstGeom prst="rect">
            <a:avLst/>
          </a:prstGeom>
          <a:noFill/>
        </p:spPr>
        <p:txBody>
          <a:bodyPr wrap="square">
            <a:spAutoFit/>
          </a:bodyPr>
          <a:lstStyle/>
          <a:p>
            <a:pPr algn="l">
              <a:defRPr sz="1000" b="0">
                <a:solidFill>
                  <a:srgbClr val="333333"/>
                </a:solidFill>
                <a:latin typeface="Calibri"/>
              </a:defRPr>
            </a:pPr>
            <a:r>
              <a:t>Significant investment required for AI infrastructure, data prep, and organizational change management</a:t>
            </a:r>
          </a:p>
        </p:txBody>
      </p:sp>
      <p:sp>
        <p:nvSpPr>
          <p:cNvPr id="18" name="TextBox 17"/>
          <p:cNvSpPr txBox="1"/>
          <p:nvPr/>
        </p:nvSpPr>
        <p:spPr>
          <a:xfrm>
            <a:off x="7223760" y="3374136"/>
            <a:ext cx="4572000" cy="384048"/>
          </a:xfrm>
          <a:prstGeom prst="rect">
            <a:avLst/>
          </a:prstGeom>
          <a:noFill/>
        </p:spPr>
        <p:txBody>
          <a:bodyPr wrap="square">
            <a:spAutoFit/>
          </a:bodyPr>
          <a:lstStyle/>
          <a:p>
            <a:pPr algn="l">
              <a:defRPr sz="1000" b="0">
                <a:solidFill>
                  <a:srgbClr val="00964B"/>
                </a:solidFill>
                <a:latin typeface="Calibri"/>
              </a:defRPr>
            </a:pPr>
            <a:r>
              <a:t>✓ Phased approach with quick wins first, start with highest-ROI use case (demand forecasting), reinvest savings into subsequent phases</a:t>
            </a:r>
          </a:p>
        </p:txBody>
      </p:sp>
      <p:sp>
        <p:nvSpPr>
          <p:cNvPr id="19" name="TextBox 18"/>
          <p:cNvSpPr txBox="1"/>
          <p:nvPr/>
        </p:nvSpPr>
        <p:spPr>
          <a:xfrm>
            <a:off x="2926080" y="3931920"/>
            <a:ext cx="3657600" cy="274320"/>
          </a:xfrm>
          <a:prstGeom prst="rect">
            <a:avLst/>
          </a:prstGeom>
          <a:noFill/>
        </p:spPr>
        <p:txBody>
          <a:bodyPr wrap="square">
            <a:spAutoFit/>
          </a:bodyPr>
          <a:lstStyle/>
          <a:p>
            <a:pPr algn="l">
              <a:defRPr sz="100" b="0">
                <a:solidFill>
                  <a:srgbClr val="333333"/>
                </a:solidFill>
                <a:latin typeface="Calibri"/>
              </a:defRPr>
            </a:pPr>
          </a:p>
        </p:txBody>
      </p:sp>
      <p:sp>
        <p:nvSpPr>
          <p:cNvPr id="20" name="TextBox 19"/>
          <p:cNvSpPr txBox="1"/>
          <p:nvPr/>
        </p:nvSpPr>
        <p:spPr>
          <a:xfrm>
            <a:off x="457200" y="4114800"/>
            <a:ext cx="10972800" cy="548640"/>
          </a:xfrm>
          <a:prstGeom prst="rect">
            <a:avLst/>
          </a:prstGeom>
          <a:noFill/>
        </p:spPr>
        <p:txBody>
          <a:bodyPr wrap="square">
            <a:spAutoFit/>
          </a:bodyPr>
          <a:lstStyle/>
          <a:p>
            <a:pPr algn="l">
              <a:defRPr sz="1200" b="0">
                <a:solidFill>
                  <a:srgbClr val="333333"/>
                </a:solidFill>
                <a:latin typeface="Calibri"/>
              </a:defRPr>
            </a:pPr>
            <a:r>
              <a:t>Risk Management Approach: Each challenge is assigned a risk owner, monitored via monthly steering committee reviews, and tracked through a RAID log integrated with the project management office.</a:t>
            </a:r>
          </a:p>
        </p:txBody>
      </p:sp>
      <p:sp>
        <p:nvSpPr>
          <p:cNvPr id="21" name="TextBox 20"/>
          <p:cNvSpPr txBox="1"/>
          <p:nvPr/>
        </p:nvSpPr>
        <p:spPr>
          <a:xfrm>
            <a:off x="685800" y="6400800"/>
            <a:ext cx="10515600" cy="274320"/>
          </a:xfrm>
          <a:prstGeom prst="rect">
            <a:avLst/>
          </a:prstGeom>
          <a:noFill/>
        </p:spPr>
        <p:txBody>
          <a:bodyPr wrap="square">
            <a:spAutoFit/>
          </a:bodyPr>
          <a:lstStyle/>
          <a:p>
            <a:pPr algn="r">
              <a:defRPr sz="900" b="0">
                <a:solidFill>
                  <a:srgbClr val="888888"/>
                </a:solidFill>
                <a:latin typeface="Calibri"/>
              </a:defRPr>
            </a:pPr>
            <a:r>
              <a:t>Toyota Motors Australia  |  AI-Powered S/4 HANA Transformation  |  Confidential</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6213E"/>
        </a:solidFill>
        <a:effectLst/>
      </p:bgPr>
    </p:bg>
    <p:spTree>
      <p:nvGrpSpPr>
        <p:cNvPr id="1" name=""/>
        <p:cNvGrpSpPr/>
        <p:nvPr/>
      </p:nvGrpSpPr>
      <p:grpSpPr/>
      <p:sp>
        <p:nvSpPr>
          <p:cNvPr id="2" name="TextBox 1"/>
          <p:cNvSpPr txBox="1"/>
          <p:nvPr/>
        </p:nvSpPr>
        <p:spPr>
          <a:xfrm>
            <a:off x="914400" y="2011680"/>
            <a:ext cx="10058400" cy="731520"/>
          </a:xfrm>
          <a:prstGeom prst="rect">
            <a:avLst/>
          </a:prstGeom>
          <a:noFill/>
        </p:spPr>
        <p:txBody>
          <a:bodyPr wrap="square">
            <a:spAutoFit/>
          </a:bodyPr>
          <a:lstStyle/>
          <a:p>
            <a:pPr algn="l">
              <a:defRPr sz="1600" b="1">
                <a:solidFill>
                  <a:srgbClr val="F0AB00"/>
                </a:solidFill>
                <a:latin typeface="Calibri"/>
              </a:defRPr>
            </a:pPr>
            <a:r>
              <a:t>SECTION 8</a:t>
            </a:r>
          </a:p>
        </p:txBody>
      </p:sp>
      <p:sp>
        <p:nvSpPr>
          <p:cNvPr id="3" name="Rectangle 2"/>
          <p:cNvSpPr/>
          <p:nvPr/>
        </p:nvSpPr>
        <p:spPr>
          <a:xfrm>
            <a:off x="914400" y="2743200"/>
            <a:ext cx="1828800" cy="38100"/>
          </a:xfrm>
          <a:prstGeom prst="rect">
            <a:avLst/>
          </a:prstGeom>
          <a:solidFill>
            <a:srgbClr val="EB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3017520"/>
            <a:ext cx="10058400" cy="1097280"/>
          </a:xfrm>
          <a:prstGeom prst="rect">
            <a:avLst/>
          </a:prstGeom>
          <a:noFill/>
        </p:spPr>
        <p:txBody>
          <a:bodyPr wrap="square">
            <a:spAutoFit/>
          </a:bodyPr>
          <a:lstStyle/>
          <a:p>
            <a:pPr algn="l">
              <a:defRPr sz="3600" b="1">
                <a:solidFill>
                  <a:srgbClr val="FFFFFF"/>
                </a:solidFill>
                <a:latin typeface="Calibri"/>
              </a:defRPr>
            </a:pPr>
            <a:r>
              <a:t>Roadmap &amp; Next Steps</a:t>
            </a:r>
          </a:p>
        </p:txBody>
      </p:sp>
      <p:sp>
        <p:nvSpPr>
          <p:cNvPr id="5" name="TextBox 4"/>
          <p:cNvSpPr txBox="1"/>
          <p:nvPr/>
        </p:nvSpPr>
        <p:spPr>
          <a:xfrm>
            <a:off x="914400" y="4114800"/>
            <a:ext cx="10058400" cy="731520"/>
          </a:xfrm>
          <a:prstGeom prst="rect">
            <a:avLst/>
          </a:prstGeom>
          <a:noFill/>
        </p:spPr>
        <p:txBody>
          <a:bodyPr wrap="square">
            <a:spAutoFit/>
          </a:bodyPr>
          <a:lstStyle/>
          <a:p>
            <a:pPr algn="l">
              <a:defRPr sz="1800" b="0">
                <a:solidFill>
                  <a:srgbClr val="F0AB00"/>
                </a:solidFill>
                <a:latin typeface="Calibri"/>
              </a:defRPr>
            </a:pPr>
            <a:r>
              <a:t>Phased Implementation Approach</a:t>
            </a:r>
          </a:p>
        </p:txBody>
      </p:sp>
      <p:sp>
        <p:nvSpPr>
          <p:cNvPr id="6" name="TextBox 5"/>
          <p:cNvSpPr txBox="1"/>
          <p:nvPr/>
        </p:nvSpPr>
        <p:spPr>
          <a:xfrm>
            <a:off x="685800" y="6400800"/>
            <a:ext cx="10515600" cy="274320"/>
          </a:xfrm>
          <a:prstGeom prst="rect">
            <a:avLst/>
          </a:prstGeom>
          <a:noFill/>
        </p:spPr>
        <p:txBody>
          <a:bodyPr wrap="square">
            <a:spAutoFit/>
          </a:bodyPr>
          <a:lstStyle/>
          <a:p>
            <a:pPr algn="r">
              <a:defRPr sz="900" b="0">
                <a:solidFill>
                  <a:srgbClr val="FFFFFF"/>
                </a:solidFill>
                <a:latin typeface="Calibri"/>
              </a:defRPr>
            </a:pPr>
            <a:r>
              <a:t>Toyota Motors Australia  |  AI-Powered S/4 HANA Transformation  |  Confidential</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164592"/>
            <a:ext cx="10515600" cy="640080"/>
          </a:xfrm>
          <a:prstGeom prst="rect">
            <a:avLst/>
          </a:prstGeom>
          <a:noFill/>
        </p:spPr>
        <p:txBody>
          <a:bodyPr wrap="square">
            <a:spAutoFit/>
          </a:bodyPr>
          <a:lstStyle/>
          <a:p>
            <a:pPr algn="l">
              <a:defRPr sz="2800" b="1">
                <a:solidFill>
                  <a:srgbClr val="FFFFFF"/>
                </a:solidFill>
                <a:latin typeface="Calibri"/>
              </a:defRPr>
            </a:pPr>
            <a:r>
              <a:t>Implementation Roadmap — Phased Approach</a:t>
            </a:r>
          </a:p>
        </p:txBody>
      </p:sp>
      <p:sp>
        <p:nvSpPr>
          <p:cNvPr id="4" name="Rounded Rectangle 3"/>
          <p:cNvSpPr/>
          <p:nvPr/>
        </p:nvSpPr>
        <p:spPr>
          <a:xfrm>
            <a:off x="457200" y="1280160"/>
            <a:ext cx="2560320" cy="914400"/>
          </a:xfrm>
          <a:prstGeom prst="roundRect">
            <a:avLst/>
          </a:prstGeom>
          <a:solidFill>
            <a:srgbClr val="0070F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defRPr sz="1200" b="1">
                <a:solidFill>
                  <a:srgbClr val="FFFFFF"/>
                </a:solidFill>
                <a:latin typeface="Calibri"/>
              </a:defRPr>
            </a:pPr>
            <a:r>
              <a:t>Phase 1</a:t>
            </a:r>
            <a:br/>
            <a:r>
              <a:t>Foundation</a:t>
            </a:r>
            <a:br/>
            <a:r>
              <a:t>(Months 1-4)</a:t>
            </a:r>
          </a:p>
        </p:txBody>
      </p:sp>
      <p:sp>
        <p:nvSpPr>
          <p:cNvPr id="5" name="TextBox 4"/>
          <p:cNvSpPr txBox="1"/>
          <p:nvPr/>
        </p:nvSpPr>
        <p:spPr>
          <a:xfrm>
            <a:off x="548640" y="2331720"/>
            <a:ext cx="2377440" cy="256032"/>
          </a:xfrm>
          <a:prstGeom prst="rect">
            <a:avLst/>
          </a:prstGeom>
          <a:noFill/>
        </p:spPr>
        <p:txBody>
          <a:bodyPr wrap="square">
            <a:spAutoFit/>
          </a:bodyPr>
          <a:lstStyle/>
          <a:p>
            <a:pPr algn="l">
              <a:defRPr sz="1000" b="0">
                <a:solidFill>
                  <a:srgbClr val="333333"/>
                </a:solidFill>
                <a:latin typeface="Calibri"/>
              </a:defRPr>
            </a:pPr>
            <a:r>
              <a:t>• Data assessment &amp; cleansing</a:t>
            </a:r>
          </a:p>
        </p:txBody>
      </p:sp>
      <p:sp>
        <p:nvSpPr>
          <p:cNvPr id="6" name="TextBox 5"/>
          <p:cNvSpPr txBox="1"/>
          <p:nvPr/>
        </p:nvSpPr>
        <p:spPr>
          <a:xfrm>
            <a:off x="548640" y="2606040"/>
            <a:ext cx="2377440" cy="256032"/>
          </a:xfrm>
          <a:prstGeom prst="rect">
            <a:avLst/>
          </a:prstGeom>
          <a:noFill/>
        </p:spPr>
        <p:txBody>
          <a:bodyPr wrap="square">
            <a:spAutoFit/>
          </a:bodyPr>
          <a:lstStyle/>
          <a:p>
            <a:pPr algn="l">
              <a:defRPr sz="1000" b="0">
                <a:solidFill>
                  <a:srgbClr val="333333"/>
                </a:solidFill>
                <a:latin typeface="Calibri"/>
              </a:defRPr>
            </a:pPr>
            <a:r>
              <a:t>• SAP BTP setup &amp; integration</a:t>
            </a:r>
          </a:p>
        </p:txBody>
      </p:sp>
      <p:sp>
        <p:nvSpPr>
          <p:cNvPr id="7" name="TextBox 6"/>
          <p:cNvSpPr txBox="1"/>
          <p:nvPr/>
        </p:nvSpPr>
        <p:spPr>
          <a:xfrm>
            <a:off x="548640" y="2880360"/>
            <a:ext cx="2377440" cy="256032"/>
          </a:xfrm>
          <a:prstGeom prst="rect">
            <a:avLst/>
          </a:prstGeom>
          <a:noFill/>
        </p:spPr>
        <p:txBody>
          <a:bodyPr wrap="square">
            <a:spAutoFit/>
          </a:bodyPr>
          <a:lstStyle/>
          <a:p>
            <a:pPr algn="l">
              <a:defRPr sz="1000" b="0">
                <a:solidFill>
                  <a:srgbClr val="333333"/>
                </a:solidFill>
                <a:latin typeface="Calibri"/>
              </a:defRPr>
            </a:pPr>
            <a:r>
              <a:t>• Demand forecasting MVP</a:t>
            </a:r>
          </a:p>
        </p:txBody>
      </p:sp>
      <p:sp>
        <p:nvSpPr>
          <p:cNvPr id="8" name="TextBox 7"/>
          <p:cNvSpPr txBox="1"/>
          <p:nvPr/>
        </p:nvSpPr>
        <p:spPr>
          <a:xfrm>
            <a:off x="548640" y="3154680"/>
            <a:ext cx="2377440" cy="256032"/>
          </a:xfrm>
          <a:prstGeom prst="rect">
            <a:avLst/>
          </a:prstGeom>
          <a:noFill/>
        </p:spPr>
        <p:txBody>
          <a:bodyPr wrap="square">
            <a:spAutoFit/>
          </a:bodyPr>
          <a:lstStyle/>
          <a:p>
            <a:pPr algn="l">
              <a:defRPr sz="1000" b="0">
                <a:solidFill>
                  <a:srgbClr val="333333"/>
                </a:solidFill>
                <a:latin typeface="Calibri"/>
              </a:defRPr>
            </a:pPr>
            <a:r>
              <a:t>• Pilot with 20 dealers</a:t>
            </a:r>
          </a:p>
        </p:txBody>
      </p:sp>
      <p:sp>
        <p:nvSpPr>
          <p:cNvPr id="9" name="Rounded Rectangle 8"/>
          <p:cNvSpPr/>
          <p:nvPr/>
        </p:nvSpPr>
        <p:spPr>
          <a:xfrm>
            <a:off x="3291840" y="1280160"/>
            <a:ext cx="2560320" cy="914400"/>
          </a:xfrm>
          <a:prstGeom prst="roundRect">
            <a:avLst/>
          </a:prstGeom>
          <a:solidFill>
            <a:srgbClr val="00964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defRPr sz="1200" b="1">
                <a:solidFill>
                  <a:srgbClr val="FFFFFF"/>
                </a:solidFill>
                <a:latin typeface="Calibri"/>
              </a:defRPr>
            </a:pPr>
            <a:r>
              <a:t>Phase 2</a:t>
            </a:r>
            <a:br/>
            <a:r>
              <a:t>Expansion</a:t>
            </a:r>
            <a:br/>
            <a:r>
              <a:t>(Months 5-8)</a:t>
            </a:r>
          </a:p>
        </p:txBody>
      </p:sp>
      <p:sp>
        <p:nvSpPr>
          <p:cNvPr id="10" name="TextBox 9"/>
          <p:cNvSpPr txBox="1"/>
          <p:nvPr/>
        </p:nvSpPr>
        <p:spPr>
          <a:xfrm>
            <a:off x="3383280" y="2331720"/>
            <a:ext cx="2377440" cy="256032"/>
          </a:xfrm>
          <a:prstGeom prst="rect">
            <a:avLst/>
          </a:prstGeom>
          <a:noFill/>
        </p:spPr>
        <p:txBody>
          <a:bodyPr wrap="square">
            <a:spAutoFit/>
          </a:bodyPr>
          <a:lstStyle/>
          <a:p>
            <a:pPr algn="l">
              <a:defRPr sz="1000" b="0">
                <a:solidFill>
                  <a:srgbClr val="333333"/>
                </a:solidFill>
                <a:latin typeface="Calibri"/>
              </a:defRPr>
            </a:pPr>
            <a:r>
              <a:t>• Inventory optimization rollout</a:t>
            </a:r>
          </a:p>
        </p:txBody>
      </p:sp>
      <p:sp>
        <p:nvSpPr>
          <p:cNvPr id="11" name="TextBox 10"/>
          <p:cNvSpPr txBox="1"/>
          <p:nvPr/>
        </p:nvSpPr>
        <p:spPr>
          <a:xfrm>
            <a:off x="3383280" y="2606040"/>
            <a:ext cx="2377440" cy="256032"/>
          </a:xfrm>
          <a:prstGeom prst="rect">
            <a:avLst/>
          </a:prstGeom>
          <a:noFill/>
        </p:spPr>
        <p:txBody>
          <a:bodyPr wrap="square">
            <a:spAutoFit/>
          </a:bodyPr>
          <a:lstStyle/>
          <a:p>
            <a:pPr algn="l">
              <a:defRPr sz="1000" b="0">
                <a:solidFill>
                  <a:srgbClr val="333333"/>
                </a:solidFill>
                <a:latin typeface="Calibri"/>
              </a:defRPr>
            </a:pPr>
            <a:r>
              <a:t>• Supply planning automation</a:t>
            </a:r>
          </a:p>
        </p:txBody>
      </p:sp>
      <p:sp>
        <p:nvSpPr>
          <p:cNvPr id="12" name="TextBox 11"/>
          <p:cNvSpPr txBox="1"/>
          <p:nvPr/>
        </p:nvSpPr>
        <p:spPr>
          <a:xfrm>
            <a:off x="3383280" y="2880360"/>
            <a:ext cx="2377440" cy="256032"/>
          </a:xfrm>
          <a:prstGeom prst="rect">
            <a:avLst/>
          </a:prstGeom>
          <a:noFill/>
        </p:spPr>
        <p:txBody>
          <a:bodyPr wrap="square">
            <a:spAutoFit/>
          </a:bodyPr>
          <a:lstStyle/>
          <a:p>
            <a:pPr algn="l">
              <a:defRPr sz="1000" b="0">
                <a:solidFill>
                  <a:srgbClr val="333333"/>
                </a:solidFill>
                <a:latin typeface="Calibri"/>
              </a:defRPr>
            </a:pPr>
            <a:r>
              <a:t>• Expand to 100 dealers</a:t>
            </a:r>
          </a:p>
        </p:txBody>
      </p:sp>
      <p:sp>
        <p:nvSpPr>
          <p:cNvPr id="13" name="TextBox 12"/>
          <p:cNvSpPr txBox="1"/>
          <p:nvPr/>
        </p:nvSpPr>
        <p:spPr>
          <a:xfrm>
            <a:off x="3383280" y="3154680"/>
            <a:ext cx="2377440" cy="256032"/>
          </a:xfrm>
          <a:prstGeom prst="rect">
            <a:avLst/>
          </a:prstGeom>
          <a:noFill/>
        </p:spPr>
        <p:txBody>
          <a:bodyPr wrap="square">
            <a:spAutoFit/>
          </a:bodyPr>
          <a:lstStyle/>
          <a:p>
            <a:pPr algn="l">
              <a:defRPr sz="1000" b="0">
                <a:solidFill>
                  <a:srgbClr val="333333"/>
                </a:solidFill>
                <a:latin typeface="Calibri"/>
              </a:defRPr>
            </a:pPr>
            <a:r>
              <a:t>• Model refinement</a:t>
            </a:r>
          </a:p>
        </p:txBody>
      </p:sp>
      <p:sp>
        <p:nvSpPr>
          <p:cNvPr id="14" name="Rounded Rectangle 13"/>
          <p:cNvSpPr/>
          <p:nvPr/>
        </p:nvSpPr>
        <p:spPr>
          <a:xfrm>
            <a:off x="6126480" y="1280160"/>
            <a:ext cx="2560320" cy="914400"/>
          </a:xfrm>
          <a:prstGeom prst="round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defRPr sz="1200" b="1">
                <a:solidFill>
                  <a:srgbClr val="FFFFFF"/>
                </a:solidFill>
                <a:latin typeface="Calibri"/>
              </a:defRPr>
            </a:pPr>
            <a:r>
              <a:t>Phase 3</a:t>
            </a:r>
            <a:br/>
            <a:r>
              <a:t>Optimization</a:t>
            </a:r>
            <a:br/>
            <a:r>
              <a:t>(Months 9-12)</a:t>
            </a:r>
          </a:p>
        </p:txBody>
      </p:sp>
      <p:sp>
        <p:nvSpPr>
          <p:cNvPr id="15" name="TextBox 14"/>
          <p:cNvSpPr txBox="1"/>
          <p:nvPr/>
        </p:nvSpPr>
        <p:spPr>
          <a:xfrm>
            <a:off x="6217920" y="2331720"/>
            <a:ext cx="2377440" cy="256032"/>
          </a:xfrm>
          <a:prstGeom prst="rect">
            <a:avLst/>
          </a:prstGeom>
          <a:noFill/>
        </p:spPr>
        <p:txBody>
          <a:bodyPr wrap="square">
            <a:spAutoFit/>
          </a:bodyPr>
          <a:lstStyle/>
          <a:p>
            <a:pPr algn="l">
              <a:defRPr sz="1000" b="0">
                <a:solidFill>
                  <a:srgbClr val="333333"/>
                </a:solidFill>
                <a:latin typeface="Calibri"/>
              </a:defRPr>
            </a:pPr>
            <a:r>
              <a:t>• Logistics optimization go-live</a:t>
            </a:r>
          </a:p>
        </p:txBody>
      </p:sp>
      <p:sp>
        <p:nvSpPr>
          <p:cNvPr id="16" name="TextBox 15"/>
          <p:cNvSpPr txBox="1"/>
          <p:nvPr/>
        </p:nvSpPr>
        <p:spPr>
          <a:xfrm>
            <a:off x="6217920" y="2606040"/>
            <a:ext cx="2377440" cy="256032"/>
          </a:xfrm>
          <a:prstGeom prst="rect">
            <a:avLst/>
          </a:prstGeom>
          <a:noFill/>
        </p:spPr>
        <p:txBody>
          <a:bodyPr wrap="square">
            <a:spAutoFit/>
          </a:bodyPr>
          <a:lstStyle/>
          <a:p>
            <a:pPr algn="l">
              <a:defRPr sz="1000" b="0">
                <a:solidFill>
                  <a:srgbClr val="333333"/>
                </a:solidFill>
                <a:latin typeface="Calibri"/>
              </a:defRPr>
            </a:pPr>
            <a:r>
              <a:t>• Full dealer network rollout</a:t>
            </a:r>
          </a:p>
        </p:txBody>
      </p:sp>
      <p:sp>
        <p:nvSpPr>
          <p:cNvPr id="17" name="TextBox 16"/>
          <p:cNvSpPr txBox="1"/>
          <p:nvPr/>
        </p:nvSpPr>
        <p:spPr>
          <a:xfrm>
            <a:off x="6217920" y="2880360"/>
            <a:ext cx="2377440" cy="256032"/>
          </a:xfrm>
          <a:prstGeom prst="rect">
            <a:avLst/>
          </a:prstGeom>
          <a:noFill/>
        </p:spPr>
        <p:txBody>
          <a:bodyPr wrap="square">
            <a:spAutoFit/>
          </a:bodyPr>
          <a:lstStyle/>
          <a:p>
            <a:pPr algn="l">
              <a:defRPr sz="1000" b="0">
                <a:solidFill>
                  <a:srgbClr val="333333"/>
                </a:solidFill>
                <a:latin typeface="Calibri"/>
              </a:defRPr>
            </a:pPr>
            <a:r>
              <a:t>• Advanced analytics &amp; reporting</a:t>
            </a:r>
          </a:p>
        </p:txBody>
      </p:sp>
      <p:sp>
        <p:nvSpPr>
          <p:cNvPr id="18" name="TextBox 17"/>
          <p:cNvSpPr txBox="1"/>
          <p:nvPr/>
        </p:nvSpPr>
        <p:spPr>
          <a:xfrm>
            <a:off x="6217920" y="3154680"/>
            <a:ext cx="2377440" cy="256032"/>
          </a:xfrm>
          <a:prstGeom prst="rect">
            <a:avLst/>
          </a:prstGeom>
          <a:noFill/>
        </p:spPr>
        <p:txBody>
          <a:bodyPr wrap="square">
            <a:spAutoFit/>
          </a:bodyPr>
          <a:lstStyle/>
          <a:p>
            <a:pPr algn="l">
              <a:defRPr sz="1000" b="0">
                <a:solidFill>
                  <a:srgbClr val="333333"/>
                </a:solidFill>
                <a:latin typeface="Calibri"/>
              </a:defRPr>
            </a:pPr>
            <a:r>
              <a:t>• Autonomous decision loops</a:t>
            </a:r>
          </a:p>
        </p:txBody>
      </p:sp>
      <p:sp>
        <p:nvSpPr>
          <p:cNvPr id="19" name="Rounded Rectangle 18"/>
          <p:cNvSpPr/>
          <p:nvPr/>
        </p:nvSpPr>
        <p:spPr>
          <a:xfrm>
            <a:off x="8961120" y="1280160"/>
            <a:ext cx="2560320" cy="914400"/>
          </a:xfrm>
          <a:prstGeom prst="roundRect">
            <a:avLst/>
          </a:prstGeom>
          <a:solidFill>
            <a:srgbClr val="00899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defRPr sz="1200" b="1">
                <a:solidFill>
                  <a:srgbClr val="FFFFFF"/>
                </a:solidFill>
                <a:latin typeface="Calibri"/>
              </a:defRPr>
            </a:pPr>
            <a:r>
              <a:t>Phase 4</a:t>
            </a:r>
            <a:br/>
            <a:r>
              <a:t>Scale</a:t>
            </a:r>
            <a:br/>
            <a:r>
              <a:t>(Months 13-18)</a:t>
            </a:r>
          </a:p>
        </p:txBody>
      </p:sp>
      <p:sp>
        <p:nvSpPr>
          <p:cNvPr id="20" name="TextBox 19"/>
          <p:cNvSpPr txBox="1"/>
          <p:nvPr/>
        </p:nvSpPr>
        <p:spPr>
          <a:xfrm>
            <a:off x="9052560" y="2331720"/>
            <a:ext cx="2377440" cy="256032"/>
          </a:xfrm>
          <a:prstGeom prst="rect">
            <a:avLst/>
          </a:prstGeom>
          <a:noFill/>
        </p:spPr>
        <p:txBody>
          <a:bodyPr wrap="square">
            <a:spAutoFit/>
          </a:bodyPr>
          <a:lstStyle/>
          <a:p>
            <a:pPr algn="l">
              <a:defRPr sz="1000" b="0">
                <a:solidFill>
                  <a:srgbClr val="333333"/>
                </a:solidFill>
                <a:latin typeface="Calibri"/>
              </a:defRPr>
            </a:pPr>
            <a:r>
              <a:t>• Self-learning optimization</a:t>
            </a:r>
          </a:p>
        </p:txBody>
      </p:sp>
      <p:sp>
        <p:nvSpPr>
          <p:cNvPr id="21" name="TextBox 20"/>
          <p:cNvSpPr txBox="1"/>
          <p:nvPr/>
        </p:nvSpPr>
        <p:spPr>
          <a:xfrm>
            <a:off x="9052560" y="2606040"/>
            <a:ext cx="2377440" cy="256032"/>
          </a:xfrm>
          <a:prstGeom prst="rect">
            <a:avLst/>
          </a:prstGeom>
          <a:noFill/>
        </p:spPr>
        <p:txBody>
          <a:bodyPr wrap="square">
            <a:spAutoFit/>
          </a:bodyPr>
          <a:lstStyle/>
          <a:p>
            <a:pPr algn="l">
              <a:defRPr sz="1000" b="0">
                <a:solidFill>
                  <a:srgbClr val="333333"/>
                </a:solidFill>
                <a:latin typeface="Calibri"/>
              </a:defRPr>
            </a:pPr>
            <a:r>
              <a:t>• Predictive maintenance integration</a:t>
            </a:r>
          </a:p>
        </p:txBody>
      </p:sp>
      <p:sp>
        <p:nvSpPr>
          <p:cNvPr id="22" name="TextBox 21"/>
          <p:cNvSpPr txBox="1"/>
          <p:nvPr/>
        </p:nvSpPr>
        <p:spPr>
          <a:xfrm>
            <a:off x="9052560" y="2880360"/>
            <a:ext cx="2377440" cy="256032"/>
          </a:xfrm>
          <a:prstGeom prst="rect">
            <a:avLst/>
          </a:prstGeom>
          <a:noFill/>
        </p:spPr>
        <p:txBody>
          <a:bodyPr wrap="square">
            <a:spAutoFit/>
          </a:bodyPr>
          <a:lstStyle/>
          <a:p>
            <a:pPr algn="l">
              <a:defRPr sz="1000" b="0">
                <a:solidFill>
                  <a:srgbClr val="333333"/>
                </a:solidFill>
                <a:latin typeface="Calibri"/>
              </a:defRPr>
            </a:pPr>
            <a:r>
              <a:t>• Dealer self-service analytics</a:t>
            </a:r>
          </a:p>
        </p:txBody>
      </p:sp>
      <p:sp>
        <p:nvSpPr>
          <p:cNvPr id="23" name="TextBox 22"/>
          <p:cNvSpPr txBox="1"/>
          <p:nvPr/>
        </p:nvSpPr>
        <p:spPr>
          <a:xfrm>
            <a:off x="9052560" y="3154680"/>
            <a:ext cx="2377440" cy="256032"/>
          </a:xfrm>
          <a:prstGeom prst="rect">
            <a:avLst/>
          </a:prstGeom>
          <a:noFill/>
        </p:spPr>
        <p:txBody>
          <a:bodyPr wrap="square">
            <a:spAutoFit/>
          </a:bodyPr>
          <a:lstStyle/>
          <a:p>
            <a:pPr algn="l">
              <a:defRPr sz="1000" b="0">
                <a:solidFill>
                  <a:srgbClr val="333333"/>
                </a:solidFill>
                <a:latin typeface="Calibri"/>
              </a:defRPr>
            </a:pPr>
            <a:r>
              <a:t>• Continuous improvement</a:t>
            </a:r>
          </a:p>
        </p:txBody>
      </p:sp>
      <p:sp>
        <p:nvSpPr>
          <p:cNvPr id="24" name="Right Arrow 23"/>
          <p:cNvSpPr/>
          <p:nvPr/>
        </p:nvSpPr>
        <p:spPr>
          <a:xfrm>
            <a:off x="3108960" y="1600200"/>
            <a:ext cx="457200" cy="274320"/>
          </a:xfrm>
          <a:prstGeom prst="rightArrow">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ight Arrow 24"/>
          <p:cNvSpPr/>
          <p:nvPr/>
        </p:nvSpPr>
        <p:spPr>
          <a:xfrm>
            <a:off x="5943600" y="1600200"/>
            <a:ext cx="457200" cy="274320"/>
          </a:xfrm>
          <a:prstGeom prst="rightArrow">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ight Arrow 25"/>
          <p:cNvSpPr/>
          <p:nvPr/>
        </p:nvSpPr>
        <p:spPr>
          <a:xfrm>
            <a:off x="8778240" y="1600200"/>
            <a:ext cx="457200" cy="274320"/>
          </a:xfrm>
          <a:prstGeom prst="rightArrow">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7200" y="3840480"/>
            <a:ext cx="10972800" cy="320040"/>
          </a:xfrm>
          <a:prstGeom prst="rect">
            <a:avLst/>
          </a:prstGeom>
          <a:noFill/>
        </p:spPr>
        <p:txBody>
          <a:bodyPr wrap="square">
            <a:spAutoFit/>
          </a:bodyPr>
          <a:lstStyle/>
          <a:p>
            <a:pPr algn="l">
              <a:defRPr sz="1400" b="1">
                <a:solidFill>
                  <a:srgbClr val="1A1A2E"/>
                </a:solidFill>
                <a:latin typeface="Calibri"/>
              </a:defRPr>
            </a:pPr>
            <a:r>
              <a:t>Key Milestones &amp; Gates</a:t>
            </a:r>
          </a:p>
        </p:txBody>
      </p:sp>
      <p:sp>
        <p:nvSpPr>
          <p:cNvPr id="28" name="TextBox 27"/>
          <p:cNvSpPr txBox="1"/>
          <p:nvPr/>
        </p:nvSpPr>
        <p:spPr>
          <a:xfrm>
            <a:off x="457200" y="4251960"/>
            <a:ext cx="1371600" cy="256032"/>
          </a:xfrm>
          <a:prstGeom prst="rect">
            <a:avLst/>
          </a:prstGeom>
          <a:noFill/>
        </p:spPr>
        <p:txBody>
          <a:bodyPr wrap="square">
            <a:spAutoFit/>
          </a:bodyPr>
          <a:lstStyle/>
          <a:p>
            <a:pPr algn="l">
              <a:defRPr sz="1100" b="1">
                <a:solidFill>
                  <a:srgbClr val="EB0023"/>
                </a:solidFill>
                <a:latin typeface="Calibri"/>
              </a:defRPr>
            </a:pPr>
            <a:r>
              <a:t>Month 2</a:t>
            </a:r>
          </a:p>
        </p:txBody>
      </p:sp>
      <p:sp>
        <p:nvSpPr>
          <p:cNvPr id="29" name="TextBox 28"/>
          <p:cNvSpPr txBox="1"/>
          <p:nvPr/>
        </p:nvSpPr>
        <p:spPr>
          <a:xfrm>
            <a:off x="1828800" y="4251960"/>
            <a:ext cx="9144000" cy="256032"/>
          </a:xfrm>
          <a:prstGeom prst="rect">
            <a:avLst/>
          </a:prstGeom>
          <a:noFill/>
        </p:spPr>
        <p:txBody>
          <a:bodyPr wrap="square">
            <a:spAutoFit/>
          </a:bodyPr>
          <a:lstStyle/>
          <a:p>
            <a:pPr algn="l">
              <a:defRPr sz="1100" b="0">
                <a:solidFill>
                  <a:srgbClr val="333333"/>
                </a:solidFill>
                <a:latin typeface="Calibri"/>
              </a:defRPr>
            </a:pPr>
            <a:r>
              <a:t>Data readiness sign-off</a:t>
            </a:r>
          </a:p>
        </p:txBody>
      </p:sp>
      <p:sp>
        <p:nvSpPr>
          <p:cNvPr id="30" name="TextBox 29"/>
          <p:cNvSpPr txBox="1"/>
          <p:nvPr/>
        </p:nvSpPr>
        <p:spPr>
          <a:xfrm>
            <a:off x="457200" y="4526280"/>
            <a:ext cx="1371600" cy="256032"/>
          </a:xfrm>
          <a:prstGeom prst="rect">
            <a:avLst/>
          </a:prstGeom>
          <a:noFill/>
        </p:spPr>
        <p:txBody>
          <a:bodyPr wrap="square">
            <a:spAutoFit/>
          </a:bodyPr>
          <a:lstStyle/>
          <a:p>
            <a:pPr algn="l">
              <a:defRPr sz="1100" b="1">
                <a:solidFill>
                  <a:srgbClr val="EB0023"/>
                </a:solidFill>
                <a:latin typeface="Calibri"/>
              </a:defRPr>
            </a:pPr>
            <a:r>
              <a:t>Month 4</a:t>
            </a:r>
          </a:p>
        </p:txBody>
      </p:sp>
      <p:sp>
        <p:nvSpPr>
          <p:cNvPr id="31" name="TextBox 30"/>
          <p:cNvSpPr txBox="1"/>
          <p:nvPr/>
        </p:nvSpPr>
        <p:spPr>
          <a:xfrm>
            <a:off x="1828800" y="4526280"/>
            <a:ext cx="9144000" cy="256032"/>
          </a:xfrm>
          <a:prstGeom prst="rect">
            <a:avLst/>
          </a:prstGeom>
          <a:noFill/>
        </p:spPr>
        <p:txBody>
          <a:bodyPr wrap="square">
            <a:spAutoFit/>
          </a:bodyPr>
          <a:lstStyle/>
          <a:p>
            <a:pPr algn="l">
              <a:defRPr sz="1100" b="0">
                <a:solidFill>
                  <a:srgbClr val="333333"/>
                </a:solidFill>
                <a:latin typeface="Calibri"/>
              </a:defRPr>
            </a:pPr>
            <a:r>
              <a:t>Demand forecasting MVP go-live with pilot dealers</a:t>
            </a:r>
          </a:p>
        </p:txBody>
      </p:sp>
      <p:sp>
        <p:nvSpPr>
          <p:cNvPr id="32" name="TextBox 31"/>
          <p:cNvSpPr txBox="1"/>
          <p:nvPr/>
        </p:nvSpPr>
        <p:spPr>
          <a:xfrm>
            <a:off x="457200" y="4800600"/>
            <a:ext cx="1371600" cy="256032"/>
          </a:xfrm>
          <a:prstGeom prst="rect">
            <a:avLst/>
          </a:prstGeom>
          <a:noFill/>
        </p:spPr>
        <p:txBody>
          <a:bodyPr wrap="square">
            <a:spAutoFit/>
          </a:bodyPr>
          <a:lstStyle/>
          <a:p>
            <a:pPr algn="l">
              <a:defRPr sz="1100" b="1">
                <a:solidFill>
                  <a:srgbClr val="EB0023"/>
                </a:solidFill>
                <a:latin typeface="Calibri"/>
              </a:defRPr>
            </a:pPr>
            <a:r>
              <a:t>Month 8</a:t>
            </a:r>
          </a:p>
        </p:txBody>
      </p:sp>
      <p:sp>
        <p:nvSpPr>
          <p:cNvPr id="33" name="TextBox 32"/>
          <p:cNvSpPr txBox="1"/>
          <p:nvPr/>
        </p:nvSpPr>
        <p:spPr>
          <a:xfrm>
            <a:off x="1828800" y="4800600"/>
            <a:ext cx="9144000" cy="256032"/>
          </a:xfrm>
          <a:prstGeom prst="rect">
            <a:avLst/>
          </a:prstGeom>
          <a:noFill/>
        </p:spPr>
        <p:txBody>
          <a:bodyPr wrap="square">
            <a:spAutoFit/>
          </a:bodyPr>
          <a:lstStyle/>
          <a:p>
            <a:pPr algn="l">
              <a:defRPr sz="1100" b="0">
                <a:solidFill>
                  <a:srgbClr val="333333"/>
                </a:solidFill>
                <a:latin typeface="Calibri"/>
              </a:defRPr>
            </a:pPr>
            <a:r>
              <a:t>Inventory + Supply planning live for 100 dealers</a:t>
            </a:r>
          </a:p>
        </p:txBody>
      </p:sp>
      <p:sp>
        <p:nvSpPr>
          <p:cNvPr id="34" name="TextBox 33"/>
          <p:cNvSpPr txBox="1"/>
          <p:nvPr/>
        </p:nvSpPr>
        <p:spPr>
          <a:xfrm>
            <a:off x="457200" y="5074920"/>
            <a:ext cx="1371600" cy="256032"/>
          </a:xfrm>
          <a:prstGeom prst="rect">
            <a:avLst/>
          </a:prstGeom>
          <a:noFill/>
        </p:spPr>
        <p:txBody>
          <a:bodyPr wrap="square">
            <a:spAutoFit/>
          </a:bodyPr>
          <a:lstStyle/>
          <a:p>
            <a:pPr algn="l">
              <a:defRPr sz="1100" b="1">
                <a:solidFill>
                  <a:srgbClr val="EB0023"/>
                </a:solidFill>
                <a:latin typeface="Calibri"/>
              </a:defRPr>
            </a:pPr>
            <a:r>
              <a:t>Month 12</a:t>
            </a:r>
          </a:p>
        </p:txBody>
      </p:sp>
      <p:sp>
        <p:nvSpPr>
          <p:cNvPr id="35" name="TextBox 34"/>
          <p:cNvSpPr txBox="1"/>
          <p:nvPr/>
        </p:nvSpPr>
        <p:spPr>
          <a:xfrm>
            <a:off x="1828800" y="5074920"/>
            <a:ext cx="9144000" cy="256032"/>
          </a:xfrm>
          <a:prstGeom prst="rect">
            <a:avLst/>
          </a:prstGeom>
          <a:noFill/>
        </p:spPr>
        <p:txBody>
          <a:bodyPr wrap="square">
            <a:spAutoFit/>
          </a:bodyPr>
          <a:lstStyle/>
          <a:p>
            <a:pPr algn="l">
              <a:defRPr sz="1100" b="0">
                <a:solidFill>
                  <a:srgbClr val="333333"/>
                </a:solidFill>
                <a:latin typeface="Calibri"/>
              </a:defRPr>
            </a:pPr>
            <a:r>
              <a:t>Full network live with all 4 AI use cases</a:t>
            </a:r>
          </a:p>
        </p:txBody>
      </p:sp>
      <p:sp>
        <p:nvSpPr>
          <p:cNvPr id="36" name="TextBox 35"/>
          <p:cNvSpPr txBox="1"/>
          <p:nvPr/>
        </p:nvSpPr>
        <p:spPr>
          <a:xfrm>
            <a:off x="457200" y="5349240"/>
            <a:ext cx="1371600" cy="256032"/>
          </a:xfrm>
          <a:prstGeom prst="rect">
            <a:avLst/>
          </a:prstGeom>
          <a:noFill/>
        </p:spPr>
        <p:txBody>
          <a:bodyPr wrap="square">
            <a:spAutoFit/>
          </a:bodyPr>
          <a:lstStyle/>
          <a:p>
            <a:pPr algn="l">
              <a:defRPr sz="1100" b="1">
                <a:solidFill>
                  <a:srgbClr val="EB0023"/>
                </a:solidFill>
                <a:latin typeface="Calibri"/>
              </a:defRPr>
            </a:pPr>
            <a:r>
              <a:t>Month 18</a:t>
            </a:r>
          </a:p>
        </p:txBody>
      </p:sp>
      <p:sp>
        <p:nvSpPr>
          <p:cNvPr id="37" name="TextBox 36"/>
          <p:cNvSpPr txBox="1"/>
          <p:nvPr/>
        </p:nvSpPr>
        <p:spPr>
          <a:xfrm>
            <a:off x="1828800" y="5349240"/>
            <a:ext cx="9144000" cy="256032"/>
          </a:xfrm>
          <a:prstGeom prst="rect">
            <a:avLst/>
          </a:prstGeom>
          <a:noFill/>
        </p:spPr>
        <p:txBody>
          <a:bodyPr wrap="square">
            <a:spAutoFit/>
          </a:bodyPr>
          <a:lstStyle/>
          <a:p>
            <a:pPr algn="l">
              <a:defRPr sz="1100" b="0">
                <a:solidFill>
                  <a:srgbClr val="333333"/>
                </a:solidFill>
                <a:latin typeface="Calibri"/>
              </a:defRPr>
            </a:pPr>
            <a:r>
              <a:t>Autonomous supply chain operations achieved</a:t>
            </a:r>
          </a:p>
        </p:txBody>
      </p:sp>
      <p:sp>
        <p:nvSpPr>
          <p:cNvPr id="38" name="TextBox 37"/>
          <p:cNvSpPr txBox="1"/>
          <p:nvPr/>
        </p:nvSpPr>
        <p:spPr>
          <a:xfrm>
            <a:off x="685800" y="6400800"/>
            <a:ext cx="10515600" cy="274320"/>
          </a:xfrm>
          <a:prstGeom prst="rect">
            <a:avLst/>
          </a:prstGeom>
          <a:noFill/>
        </p:spPr>
        <p:txBody>
          <a:bodyPr wrap="square">
            <a:spAutoFit/>
          </a:bodyPr>
          <a:lstStyle/>
          <a:p>
            <a:pPr algn="r">
              <a:defRPr sz="900" b="0">
                <a:solidFill>
                  <a:srgbClr val="888888"/>
                </a:solidFill>
                <a:latin typeface="Calibri"/>
              </a:defRPr>
            </a:pPr>
            <a:r>
              <a:t>Toyota Motors Australia  |  AI-Powered S/4 HANA Transformation  |  Confidential</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164592"/>
            <a:ext cx="10515600" cy="640080"/>
          </a:xfrm>
          <a:prstGeom prst="rect">
            <a:avLst/>
          </a:prstGeom>
          <a:noFill/>
        </p:spPr>
        <p:txBody>
          <a:bodyPr wrap="square">
            <a:spAutoFit/>
          </a:bodyPr>
          <a:lstStyle/>
          <a:p>
            <a:pPr algn="l">
              <a:defRPr sz="2800" b="1">
                <a:solidFill>
                  <a:srgbClr val="FFFFFF"/>
                </a:solidFill>
                <a:latin typeface="Calibri"/>
              </a:defRPr>
            </a:pPr>
            <a:r>
              <a:t>Next Steps &amp; Recommendations</a:t>
            </a:r>
          </a:p>
        </p:txBody>
      </p:sp>
      <p:sp>
        <p:nvSpPr>
          <p:cNvPr id="4" name="TextBox 3"/>
          <p:cNvSpPr txBox="1"/>
          <p:nvPr/>
        </p:nvSpPr>
        <p:spPr>
          <a:xfrm>
            <a:off x="685800" y="1280160"/>
            <a:ext cx="10058400" cy="320040"/>
          </a:xfrm>
          <a:prstGeom prst="rect">
            <a:avLst/>
          </a:prstGeom>
          <a:noFill/>
        </p:spPr>
        <p:txBody>
          <a:bodyPr wrap="square">
            <a:spAutoFit/>
          </a:bodyPr>
          <a:lstStyle/>
          <a:p>
            <a:pPr algn="l">
              <a:defRPr sz="1600" b="1">
                <a:solidFill>
                  <a:srgbClr val="1A1A2E"/>
                </a:solidFill>
                <a:latin typeface="Calibri"/>
              </a:defRPr>
            </a:pPr>
            <a:r>
              <a:t>Immediate Actions (Next 4 Weeks)</a:t>
            </a:r>
          </a:p>
        </p:txBody>
      </p:sp>
      <p:sp>
        <p:nvSpPr>
          <p:cNvPr id="5" name="TextBox 4"/>
          <p:cNvSpPr txBox="1"/>
          <p:nvPr/>
        </p:nvSpPr>
        <p:spPr>
          <a:xfrm>
            <a:off x="685800" y="1691640"/>
            <a:ext cx="10058400" cy="320040"/>
          </a:xfrm>
          <a:prstGeom prst="rect">
            <a:avLst/>
          </a:prstGeom>
          <a:noFill/>
        </p:spPr>
        <p:txBody>
          <a:bodyPr wrap="square">
            <a:spAutoFit/>
          </a:bodyPr>
          <a:lstStyle/>
          <a:p>
            <a:pPr algn="l">
              <a:defRPr sz="1300" b="0">
                <a:solidFill>
                  <a:srgbClr val="333333"/>
                </a:solidFill>
                <a:latin typeface="Calibri"/>
              </a:defRPr>
            </a:pPr>
            <a:r>
              <a:t>•  Conduct data readiness assessment across S/4 HANA modules and dealer systems</a:t>
            </a:r>
          </a:p>
        </p:txBody>
      </p:sp>
      <p:sp>
        <p:nvSpPr>
          <p:cNvPr id="6" name="TextBox 5"/>
          <p:cNvSpPr txBox="1"/>
          <p:nvPr/>
        </p:nvSpPr>
        <p:spPr>
          <a:xfrm>
            <a:off x="685800" y="1984248"/>
            <a:ext cx="10058400" cy="320040"/>
          </a:xfrm>
          <a:prstGeom prst="rect">
            <a:avLst/>
          </a:prstGeom>
          <a:noFill/>
        </p:spPr>
        <p:txBody>
          <a:bodyPr wrap="square">
            <a:spAutoFit/>
          </a:bodyPr>
          <a:lstStyle/>
          <a:p>
            <a:pPr algn="l">
              <a:defRPr sz="1300" b="0">
                <a:solidFill>
                  <a:srgbClr val="333333"/>
                </a:solidFill>
                <a:latin typeface="Calibri"/>
              </a:defRPr>
            </a:pPr>
            <a:r>
              <a:t>•  Define success criteria and KPIs with Toyota supply chain leadership</a:t>
            </a:r>
          </a:p>
        </p:txBody>
      </p:sp>
      <p:sp>
        <p:nvSpPr>
          <p:cNvPr id="7" name="TextBox 6"/>
          <p:cNvSpPr txBox="1"/>
          <p:nvPr/>
        </p:nvSpPr>
        <p:spPr>
          <a:xfrm>
            <a:off x="685800" y="2276856"/>
            <a:ext cx="10058400" cy="320040"/>
          </a:xfrm>
          <a:prstGeom prst="rect">
            <a:avLst/>
          </a:prstGeom>
          <a:noFill/>
        </p:spPr>
        <p:txBody>
          <a:bodyPr wrap="square">
            <a:spAutoFit/>
          </a:bodyPr>
          <a:lstStyle/>
          <a:p>
            <a:pPr algn="l">
              <a:defRPr sz="1300" b="0">
                <a:solidFill>
                  <a:srgbClr val="333333"/>
                </a:solidFill>
                <a:latin typeface="Calibri"/>
              </a:defRPr>
            </a:pPr>
            <a:r>
              <a:t>•  Identify pilot dealership group (20 dealers) for Phase 1</a:t>
            </a:r>
          </a:p>
        </p:txBody>
      </p:sp>
      <p:sp>
        <p:nvSpPr>
          <p:cNvPr id="8" name="TextBox 7"/>
          <p:cNvSpPr txBox="1"/>
          <p:nvPr/>
        </p:nvSpPr>
        <p:spPr>
          <a:xfrm>
            <a:off x="685800" y="2569464"/>
            <a:ext cx="10058400" cy="320040"/>
          </a:xfrm>
          <a:prstGeom prst="rect">
            <a:avLst/>
          </a:prstGeom>
          <a:noFill/>
        </p:spPr>
        <p:txBody>
          <a:bodyPr wrap="square">
            <a:spAutoFit/>
          </a:bodyPr>
          <a:lstStyle/>
          <a:p>
            <a:pPr algn="l">
              <a:defRPr sz="1300" b="0">
                <a:solidFill>
                  <a:srgbClr val="333333"/>
                </a:solidFill>
                <a:latin typeface="Calibri"/>
              </a:defRPr>
            </a:pPr>
            <a:r>
              <a:t>•  Set up SAP BTP environment and confirm AI Core licensing</a:t>
            </a:r>
          </a:p>
        </p:txBody>
      </p:sp>
      <p:sp>
        <p:nvSpPr>
          <p:cNvPr id="9" name="TextBox 8"/>
          <p:cNvSpPr txBox="1"/>
          <p:nvPr/>
        </p:nvSpPr>
        <p:spPr>
          <a:xfrm>
            <a:off x="685800" y="2862072"/>
            <a:ext cx="10058400" cy="320040"/>
          </a:xfrm>
          <a:prstGeom prst="rect">
            <a:avLst/>
          </a:prstGeom>
          <a:noFill/>
        </p:spPr>
        <p:txBody>
          <a:bodyPr wrap="square">
            <a:spAutoFit/>
          </a:bodyPr>
          <a:lstStyle/>
          <a:p>
            <a:pPr algn="l">
              <a:defRPr sz="1300" b="0">
                <a:solidFill>
                  <a:srgbClr val="333333"/>
                </a:solidFill>
                <a:latin typeface="Calibri"/>
              </a:defRPr>
            </a:pPr>
            <a:r>
              <a:t>•  Establish project governance: steering committee, PMO, RAID log</a:t>
            </a:r>
          </a:p>
        </p:txBody>
      </p:sp>
      <p:sp>
        <p:nvSpPr>
          <p:cNvPr id="10" name="TextBox 9"/>
          <p:cNvSpPr txBox="1"/>
          <p:nvPr/>
        </p:nvSpPr>
        <p:spPr>
          <a:xfrm>
            <a:off x="685800" y="3383280"/>
            <a:ext cx="10058400" cy="320040"/>
          </a:xfrm>
          <a:prstGeom prst="rect">
            <a:avLst/>
          </a:prstGeom>
          <a:noFill/>
        </p:spPr>
        <p:txBody>
          <a:bodyPr wrap="square">
            <a:spAutoFit/>
          </a:bodyPr>
          <a:lstStyle/>
          <a:p>
            <a:pPr algn="l">
              <a:defRPr sz="1600" b="1">
                <a:solidFill>
                  <a:srgbClr val="1A1A2E"/>
                </a:solidFill>
                <a:latin typeface="Calibri"/>
              </a:defRPr>
            </a:pPr>
            <a:r>
              <a:t>Recommended Engagement Model</a:t>
            </a:r>
          </a:p>
        </p:txBody>
      </p:sp>
      <p:sp>
        <p:nvSpPr>
          <p:cNvPr id="11" name="TextBox 10"/>
          <p:cNvSpPr txBox="1"/>
          <p:nvPr/>
        </p:nvSpPr>
        <p:spPr>
          <a:xfrm>
            <a:off x="685800" y="3794760"/>
            <a:ext cx="10058400" cy="320040"/>
          </a:xfrm>
          <a:prstGeom prst="rect">
            <a:avLst/>
          </a:prstGeom>
          <a:noFill/>
        </p:spPr>
        <p:txBody>
          <a:bodyPr wrap="square">
            <a:spAutoFit/>
          </a:bodyPr>
          <a:lstStyle/>
          <a:p>
            <a:pPr algn="l">
              <a:defRPr sz="1300" b="0">
                <a:solidFill>
                  <a:srgbClr val="333333"/>
                </a:solidFill>
                <a:latin typeface="Calibri"/>
              </a:defRPr>
            </a:pPr>
            <a:r>
              <a:t>•  Phase 1 Discovery Workshop: 2-day workshop to deep-dive into current processes and pain points</a:t>
            </a:r>
          </a:p>
        </p:txBody>
      </p:sp>
      <p:sp>
        <p:nvSpPr>
          <p:cNvPr id="12" name="TextBox 11"/>
          <p:cNvSpPr txBox="1"/>
          <p:nvPr/>
        </p:nvSpPr>
        <p:spPr>
          <a:xfrm>
            <a:off x="685800" y="4087368"/>
            <a:ext cx="10058400" cy="320040"/>
          </a:xfrm>
          <a:prstGeom prst="rect">
            <a:avLst/>
          </a:prstGeom>
          <a:noFill/>
        </p:spPr>
        <p:txBody>
          <a:bodyPr wrap="square">
            <a:spAutoFit/>
          </a:bodyPr>
          <a:lstStyle/>
          <a:p>
            <a:pPr algn="l">
              <a:defRPr sz="1300" b="0">
                <a:solidFill>
                  <a:srgbClr val="333333"/>
                </a:solidFill>
                <a:latin typeface="Calibri"/>
              </a:defRPr>
            </a:pPr>
            <a:r>
              <a:t>•  Proof of Concept: 8-week demand forecasting PoC with real Toyota data</a:t>
            </a:r>
          </a:p>
        </p:txBody>
      </p:sp>
      <p:sp>
        <p:nvSpPr>
          <p:cNvPr id="13" name="TextBox 12"/>
          <p:cNvSpPr txBox="1"/>
          <p:nvPr/>
        </p:nvSpPr>
        <p:spPr>
          <a:xfrm>
            <a:off x="685800" y="4379976"/>
            <a:ext cx="10058400" cy="320040"/>
          </a:xfrm>
          <a:prstGeom prst="rect">
            <a:avLst/>
          </a:prstGeom>
          <a:noFill/>
        </p:spPr>
        <p:txBody>
          <a:bodyPr wrap="square">
            <a:spAutoFit/>
          </a:bodyPr>
          <a:lstStyle/>
          <a:p>
            <a:pPr algn="l">
              <a:defRPr sz="1300" b="0">
                <a:solidFill>
                  <a:srgbClr val="333333"/>
                </a:solidFill>
                <a:latin typeface="Calibri"/>
              </a:defRPr>
            </a:pPr>
            <a:r>
              <a:t>•  Business Case Refinement: Update ROI model with PoC results</a:t>
            </a:r>
          </a:p>
        </p:txBody>
      </p:sp>
      <p:sp>
        <p:nvSpPr>
          <p:cNvPr id="14" name="TextBox 13"/>
          <p:cNvSpPr txBox="1"/>
          <p:nvPr/>
        </p:nvSpPr>
        <p:spPr>
          <a:xfrm>
            <a:off x="685800" y="4672584"/>
            <a:ext cx="10058400" cy="320040"/>
          </a:xfrm>
          <a:prstGeom prst="rect">
            <a:avLst/>
          </a:prstGeom>
          <a:noFill/>
        </p:spPr>
        <p:txBody>
          <a:bodyPr wrap="square">
            <a:spAutoFit/>
          </a:bodyPr>
          <a:lstStyle/>
          <a:p>
            <a:pPr algn="l">
              <a:defRPr sz="1300" b="0">
                <a:solidFill>
                  <a:srgbClr val="333333"/>
                </a:solidFill>
                <a:latin typeface="Calibri"/>
              </a:defRPr>
            </a:pPr>
            <a:r>
              <a:t>•  Full Program Launch: Phased delivery aligned with Toyota planning cycles</a:t>
            </a:r>
          </a:p>
        </p:txBody>
      </p:sp>
      <p:sp>
        <p:nvSpPr>
          <p:cNvPr id="15" name="Rounded Rectangle 14"/>
          <p:cNvSpPr/>
          <p:nvPr/>
        </p:nvSpPr>
        <p:spPr>
          <a:xfrm>
            <a:off x="685800" y="5166360"/>
            <a:ext cx="10515600" cy="822960"/>
          </a:xfrm>
          <a:prstGeom prst="roundRect">
            <a:avLst/>
          </a:prstGeom>
          <a:solidFill>
            <a:srgbClr val="1A1A2E"/>
          </a:solidFill>
          <a:ln w="19050">
            <a:solidFill>
              <a:srgbClr val="EB00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5257800"/>
            <a:ext cx="10058400" cy="320040"/>
          </a:xfrm>
          <a:prstGeom prst="rect">
            <a:avLst/>
          </a:prstGeom>
          <a:noFill/>
        </p:spPr>
        <p:txBody>
          <a:bodyPr wrap="square">
            <a:spAutoFit/>
          </a:bodyPr>
          <a:lstStyle/>
          <a:p>
            <a:pPr algn="l">
              <a:defRPr sz="1400" b="1">
                <a:solidFill>
                  <a:srgbClr val="FFFFFF"/>
                </a:solidFill>
                <a:latin typeface="Calibri"/>
              </a:defRPr>
            </a:pPr>
            <a:r>
              <a:t>Ready to begin? Let's schedule a Discovery Workshop to validate these AI use cases against Toyota Australia's specific data landscape.</a:t>
            </a:r>
          </a:p>
        </p:txBody>
      </p:sp>
      <p:sp>
        <p:nvSpPr>
          <p:cNvPr id="17" name="TextBox 16"/>
          <p:cNvSpPr txBox="1"/>
          <p:nvPr/>
        </p:nvSpPr>
        <p:spPr>
          <a:xfrm>
            <a:off x="914400" y="5623560"/>
            <a:ext cx="10058400" cy="274320"/>
          </a:xfrm>
          <a:prstGeom prst="rect">
            <a:avLst/>
          </a:prstGeom>
          <a:noFill/>
        </p:spPr>
        <p:txBody>
          <a:bodyPr wrap="square">
            <a:spAutoFit/>
          </a:bodyPr>
          <a:lstStyle/>
          <a:p>
            <a:pPr algn="l">
              <a:defRPr sz="1200" b="0">
                <a:solidFill>
                  <a:srgbClr val="F0AB00"/>
                </a:solidFill>
                <a:latin typeface="Calibri"/>
              </a:defRPr>
            </a:pPr>
            <a:r>
              <a:t>Proposed Start: Q2 2026  |  Duration: 18 months  |  Investment: TBD based on scope confirmation</a:t>
            </a:r>
          </a:p>
        </p:txBody>
      </p:sp>
      <p:sp>
        <p:nvSpPr>
          <p:cNvPr id="18" name="TextBox 17"/>
          <p:cNvSpPr txBox="1"/>
          <p:nvPr/>
        </p:nvSpPr>
        <p:spPr>
          <a:xfrm>
            <a:off x="685800" y="6400800"/>
            <a:ext cx="10515600" cy="274320"/>
          </a:xfrm>
          <a:prstGeom prst="rect">
            <a:avLst/>
          </a:prstGeom>
          <a:noFill/>
        </p:spPr>
        <p:txBody>
          <a:bodyPr wrap="square">
            <a:spAutoFit/>
          </a:bodyPr>
          <a:lstStyle/>
          <a:p>
            <a:pPr algn="r">
              <a:defRPr sz="900" b="0">
                <a:solidFill>
                  <a:srgbClr val="888888"/>
                </a:solidFill>
                <a:latin typeface="Calibri"/>
              </a:defRPr>
            </a:pPr>
            <a:r>
              <a:t>Toyota Motors Australia  |  AI-Powered S/4 HANA Transformation  |  Confidential</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12191695" cy="137160"/>
          </a:xfrm>
          <a:prstGeom prst="rect">
            <a:avLst/>
          </a:prstGeom>
          <a:solidFill>
            <a:srgbClr val="EB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560320"/>
            <a:ext cx="10058400" cy="914400"/>
          </a:xfrm>
          <a:prstGeom prst="rect">
            <a:avLst/>
          </a:prstGeom>
          <a:noFill/>
        </p:spPr>
        <p:txBody>
          <a:bodyPr wrap="square">
            <a:spAutoFit/>
          </a:bodyPr>
          <a:lstStyle/>
          <a:p>
            <a:pPr algn="l">
              <a:defRPr sz="4800" b="1">
                <a:solidFill>
                  <a:srgbClr val="FFFFFF"/>
                </a:solidFill>
                <a:latin typeface="Calibri"/>
              </a:defRPr>
            </a:pPr>
            <a:r>
              <a:t>Thank You</a:t>
            </a:r>
          </a:p>
        </p:txBody>
      </p:sp>
      <p:sp>
        <p:nvSpPr>
          <p:cNvPr id="4" name="Rectangle 3"/>
          <p:cNvSpPr/>
          <p:nvPr/>
        </p:nvSpPr>
        <p:spPr>
          <a:xfrm>
            <a:off x="914400" y="3566160"/>
            <a:ext cx="1828800" cy="38100"/>
          </a:xfrm>
          <a:prstGeom prst="rect">
            <a:avLst/>
          </a:prstGeom>
          <a:solidFill>
            <a:srgbClr val="EB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3840480"/>
            <a:ext cx="10058400" cy="548640"/>
          </a:xfrm>
          <a:prstGeom prst="rect">
            <a:avLst/>
          </a:prstGeom>
          <a:noFill/>
        </p:spPr>
        <p:txBody>
          <a:bodyPr wrap="square">
            <a:spAutoFit/>
          </a:bodyPr>
          <a:lstStyle/>
          <a:p>
            <a:pPr algn="l">
              <a:defRPr sz="1800" b="0">
                <a:solidFill>
                  <a:srgbClr val="F0AB00"/>
                </a:solidFill>
                <a:latin typeface="Calibri"/>
              </a:defRPr>
            </a:pPr>
            <a:r>
              <a:t>Toyota Motors Australia  |  AI-Powered S/4 HANA Transformation</a:t>
            </a:r>
          </a:p>
        </p:txBody>
      </p:sp>
      <p:sp>
        <p:nvSpPr>
          <p:cNvPr id="6" name="TextBox 5"/>
          <p:cNvSpPr txBox="1"/>
          <p:nvPr/>
        </p:nvSpPr>
        <p:spPr>
          <a:xfrm>
            <a:off x="914400" y="4754880"/>
            <a:ext cx="10058400" cy="365760"/>
          </a:xfrm>
          <a:prstGeom prst="rect">
            <a:avLst/>
          </a:prstGeom>
          <a:noFill/>
        </p:spPr>
        <p:txBody>
          <a:bodyPr wrap="square">
            <a:spAutoFit/>
          </a:bodyPr>
          <a:lstStyle/>
          <a:p>
            <a:pPr algn="l">
              <a:defRPr sz="1200" b="0">
                <a:solidFill>
                  <a:srgbClr val="888888"/>
                </a:solidFill>
                <a:latin typeface="Calibri"/>
              </a:defRPr>
            </a:pPr>
            <a:r>
              <a:t>Confidential — For Discussion Purposes Only</a:t>
            </a:r>
          </a:p>
        </p:txBody>
      </p:sp>
      <p:sp>
        <p:nvSpPr>
          <p:cNvPr id="7" name="TextBox 6"/>
          <p:cNvSpPr txBox="1"/>
          <p:nvPr/>
        </p:nvSpPr>
        <p:spPr>
          <a:xfrm>
            <a:off x="685800" y="6400800"/>
            <a:ext cx="10515600" cy="274320"/>
          </a:xfrm>
          <a:prstGeom prst="rect">
            <a:avLst/>
          </a:prstGeom>
          <a:noFill/>
        </p:spPr>
        <p:txBody>
          <a:bodyPr wrap="square">
            <a:spAutoFit/>
          </a:bodyPr>
          <a:lstStyle/>
          <a:p>
            <a:pPr algn="r">
              <a:defRPr sz="900" b="0">
                <a:solidFill>
                  <a:srgbClr val="FFFFFF"/>
                </a:solidFill>
                <a:latin typeface="Calibri"/>
              </a:defRPr>
            </a:pPr>
            <a:r>
              <a:t>Toyota Motors Australia  |  AI-Powered S/4 HANA Transformation  |  Confidential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