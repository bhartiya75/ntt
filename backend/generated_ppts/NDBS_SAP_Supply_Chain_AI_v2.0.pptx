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5.svg" ContentType="image/svg+xml"/>
  <Override PartName="/ppt/media/image3.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38" r:id="rId5"/>
  </p:sldMasterIdLst>
  <p:notesMasterIdLst>
    <p:notesMasterId r:id="rId17"/>
  </p:notesMasterIdLst>
  <p:handoutMasterIdLst>
    <p:handoutMasterId r:id="rId18"/>
  </p:handoutMasterIdLst>
  <p:sldIdLst>
    <p:sldId id="2147481607" r:id="rId6"/>
    <p:sldId id="2147481617" r:id="rId25"/>
    <p:sldId id="2147481608" r:id="rId7"/>
    <p:sldId id="2147481618" r:id="rId26"/>
    <p:sldId id="2147481609" r:id="rId8"/>
    <p:sldId id="2147481610" r:id="rId9"/>
    <p:sldId id="2147481619" r:id="rId27"/>
    <p:sldId id="2147481611" r:id="rId10"/>
    <p:sldId id="2147481612" r:id="rId11"/>
    <p:sldId id="2147481613" r:id="rId12"/>
    <p:sldId id="2147481614" r:id="rId13"/>
    <p:sldId id="2147481616" r:id="rId14"/>
    <p:sldId id="2147481620" r:id="rId28"/>
    <p:sldId id="2147481621" r:id="rId29"/>
    <p:sldId id="2147481622" r:id="rId30"/>
    <p:sldId id="2147481409" r:id="rId16"/>
  </p:sldIdLst>
  <p:sldSz cx="12192000" cy="6858000"/>
  <p:notesSz cx="6858000" cy="9144000"/>
  <p:custDataLst>
    <p:tags r:id="rId19"/>
  </p:custDataLst>
  <p:defaultTextStyle>
    <a:defPPr>
      <a:defRPr lang="en-US"/>
    </a:defPPr>
    <a:lvl1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1pPr>
    <a:lvl2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2pPr>
    <a:lvl3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3pPr>
    <a:lvl4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defaultTextStyle>
  <p:extLst>
    <p:ext uri="{EFAFB233-063F-42B5-8137-9DF3F51BA10A}">
      <p15:sldGuideLst xmlns:p15="http://schemas.microsoft.com/office/powerpoint/2012/main">
        <p15:guide id="1" orient="horz" pos="210" userDrawn="1">
          <p15:clr>
            <a:srgbClr val="A4A3A4"/>
          </p15:clr>
        </p15:guide>
        <p15:guide id="4" orient="horz" pos="890" userDrawn="1">
          <p15:clr>
            <a:srgbClr val="A4A3A4"/>
          </p15:clr>
        </p15:guide>
        <p15:guide id="6"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n Sztuka" initials="MS" lastIdx="1" clrIdx="0">
    <p:extLst>
      <p:ext uri="{19B8F6BF-5375-455C-9EA6-DF929625EA0E}">
        <p15:presenceInfo xmlns:p15="http://schemas.microsoft.com/office/powerpoint/2012/main" userId="S::marion.sztuka@strategy-compass.com::486c4479-caac-4d16-a015-cb07c99f9db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C37E"/>
    <a:srgbClr val="0072BC"/>
    <a:srgbClr val="0A1637"/>
    <a:srgbClr val="6B6B6B"/>
    <a:srgbClr val="0F205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401A4AF6-95C6-4AA6-A552-55ACE4769191}">
  <a:tblStyle styleId="{401A4AF6-95C6-4AA6-A552-55ACE4769191}" styleName="NTT table">
    <a:wholeTbl>
      <a:tcTxStyle>
        <a:fontRef idx="minor">
          <a:prstClr val="black"/>
        </a:fontRef>
        <a:schemeClr val="dk2"/>
      </a:tcTxStyle>
      <a:tcStyle>
        <a:tcBdr>
          <a:left>
            <a:ln w="0" cmpd="sng">
              <a:solidFill>
                <a:schemeClr val="lt1"/>
              </a:solidFill>
            </a:ln>
          </a:left>
          <a:right>
            <a:ln w="0" cmpd="sng">
              <a:solidFill>
                <a:schemeClr val="lt1"/>
              </a:solidFill>
            </a:ln>
          </a:right>
          <a:top>
            <a:ln w="12700" cmpd="sng">
              <a:solidFill>
                <a:schemeClr val="dk1"/>
              </a:solidFill>
            </a:ln>
          </a:top>
          <a:bottom>
            <a:ln w="12700" cmpd="sng">
              <a:solidFill>
                <a:schemeClr val="dk1"/>
              </a:solidFill>
            </a:ln>
          </a:bottom>
          <a:insideH>
            <a:ln w="12700" cmpd="sng">
              <a:solidFill>
                <a:schemeClr val="dk1"/>
              </a:solidFill>
            </a:ln>
          </a:insideH>
          <a:insideV>
            <a:ln w="0" cmpd="sng">
              <a:solidFill>
                <a:schemeClr val="lt1"/>
              </a:solidFill>
            </a:ln>
          </a:insideV>
        </a:tcBdr>
      </a:tcStyle>
    </a:wholeTbl>
    <a:band1H>
      <a:tcStyle>
        <a:tcBdr/>
      </a:tcStyle>
    </a:band1H>
    <a:band2H>
      <a:tcStyle>
        <a:tcBdr/>
      </a:tcStyle>
    </a:band2H>
    <a:band1V>
      <a:tcStyle>
        <a:tcBdr/>
      </a:tcStyle>
    </a:band1V>
    <a:band2V>
      <a:tcStyle>
        <a:tcBdr/>
      </a:tcStyle>
    </a:band2V>
    <a:lastCol>
      <a:tcTxStyle b="off">
        <a:fontRef idx="minor">
          <a:prstClr val="black"/>
        </a:fontRef>
        <a:schemeClr val="accent1"/>
      </a:tcTxStyle>
      <a:tcStyle>
        <a:tcBdr/>
      </a:tcStyle>
    </a:lastCol>
    <a:firstCol>
      <a:tcTxStyle b="off">
        <a:fontRef idx="minor">
          <a:prstClr val="black"/>
        </a:fontRef>
        <a:schemeClr val="accent1"/>
      </a:tcTxStyle>
      <a:tcStyle>
        <a:tcBdr/>
      </a:tcStyle>
    </a:firstCol>
    <a:lastRow>
      <a:tcTxStyle b="on">
        <a:fontRef idx="minor">
          <a:prstClr val="black"/>
        </a:fontRef>
        <a:schemeClr val="dk2"/>
      </a:tcTxStyle>
      <a:tcStyle>
        <a:tcBdr>
          <a:top>
            <a:ln w="28575" cmpd="sng">
              <a:solidFill>
                <a:schemeClr val="accent2"/>
              </a:solidFill>
            </a:ln>
          </a:top>
        </a:tcBdr>
      </a:tcStyle>
    </a:lastRow>
    <a:firstRow>
      <a:tcTxStyle b="off">
        <a:fontRef idx="minor">
          <a:prstClr val="black"/>
        </a:fontRef>
        <a:schemeClr val="accent1"/>
      </a:tcTxStyle>
      <a:tcStyle>
        <a:tcBdr>
          <a:bottom>
            <a:ln w="28575" cmpd="sng">
              <a:solidFill>
                <a:schemeClr val="accent2"/>
              </a:solidFill>
            </a:ln>
          </a:bottom>
        </a:tcBdr>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guide orient="horz" pos="210"/>
        <p:guide orient="horz" pos="89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tags" Target="tags/tag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87C71A-58F0-45ED-A413-A81D731C9E4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solidFill>
                <a:schemeClr val="tx2"/>
              </a:solidFill>
            </a:endParaRPr>
          </a:p>
        </p:txBody>
      </p:sp>
      <p:sp>
        <p:nvSpPr>
          <p:cNvPr id="3" name="Date Placeholder 2">
            <a:extLst>
              <a:ext uri="{FF2B5EF4-FFF2-40B4-BE49-F238E27FC236}">
                <a16:creationId xmlns:a16="http://schemas.microsoft.com/office/drawing/2014/main" id="{64F64736-4490-41E5-B8D0-CC0B16AA5B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A11D644-C5F6-4389-814D-7B11F6EE30B8}" type="datetimeFigureOut">
              <a:rPr lang="en-US" smtClean="0">
                <a:solidFill>
                  <a:schemeClr val="tx2"/>
                </a:solidFill>
              </a:rPr>
              <a:t>3/9/2026</a:t>
            </a:fld>
            <a:endParaRPr lang="en-US">
              <a:solidFill>
                <a:schemeClr val="tx2"/>
              </a:solidFill>
            </a:endParaRPr>
          </a:p>
        </p:txBody>
      </p:sp>
      <p:sp>
        <p:nvSpPr>
          <p:cNvPr id="4" name="Footer Placeholder 3">
            <a:extLst>
              <a:ext uri="{FF2B5EF4-FFF2-40B4-BE49-F238E27FC236}">
                <a16:creationId xmlns:a16="http://schemas.microsoft.com/office/drawing/2014/main" id="{719F4704-B844-4B30-8232-A066958C39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solidFill>
                <a:schemeClr val="tx2"/>
              </a:solidFill>
            </a:endParaRPr>
          </a:p>
        </p:txBody>
      </p:sp>
      <p:sp>
        <p:nvSpPr>
          <p:cNvPr id="5" name="Slide Number Placeholder 4">
            <a:extLst>
              <a:ext uri="{FF2B5EF4-FFF2-40B4-BE49-F238E27FC236}">
                <a16:creationId xmlns:a16="http://schemas.microsoft.com/office/drawing/2014/main" id="{CD58174B-A722-4D31-836F-28709BEFBA1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360D7-C980-43CF-BF4A-86160FC365E0}" type="slidenum">
              <a:rPr lang="en-US" smtClean="0">
                <a:solidFill>
                  <a:schemeClr val="tx2"/>
                </a:solidFill>
              </a:rPr>
              <a:t>‹#›</a:t>
            </a:fld>
            <a:endParaRPr lang="en-US">
              <a:solidFill>
                <a:schemeClr val="tx2"/>
              </a:solidFill>
            </a:endParaRPr>
          </a:p>
        </p:txBody>
      </p:sp>
    </p:spTree>
    <p:extLst>
      <p:ext uri="{BB962C8B-B14F-4D97-AF65-F5344CB8AC3E}">
        <p14:creationId xmlns:p14="http://schemas.microsoft.com/office/powerpoint/2010/main" val="2255026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solidFill>
                  <a:schemeClr val="tx2"/>
                </a:solidFill>
                <a:latin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solidFill>
                  <a:schemeClr val="tx2"/>
                </a:solidFill>
                <a:latin typeface="Arial" panose="020B0604020202020204" pitchFamily="34" charset="0"/>
              </a:defRPr>
            </a:lvl1pPr>
          </a:lstStyle>
          <a:p>
            <a:fld id="{58F5D356-0438-4495-B283-C41E12FE4BD0}" type="datetimeFigureOut">
              <a:rPr lang="en-US" smtClean="0"/>
              <a:pPr/>
              <a:t>3/9/2026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noAutofit/>
          </a:bodyPr>
          <a:lstStyle/>
          <a:p>
            <a:pPr lvl="0" indent="0">
              <a:lnSpc>
                <a:spcPct val="110000"/>
              </a:lnSpc>
              <a:spcBef>
                <a:spcPts val="600"/>
              </a:spcBef>
              <a:buFontTx/>
              <a:buNone/>
            </a:pPr>
            <a:r>
              <a:rPr lang="en-US"/>
              <a:t>Click to edit Master text styles</a:t>
            </a:r>
          </a:p>
          <a:p>
            <a:pPr lvl="1" algn="l" defTabSz="914400" rtl="0" eaLnBrk="1" latinLnBrk="0" hangingPunct="1">
              <a:buClr>
                <a:schemeClr val="accent1"/>
              </a:buClr>
            </a:pPr>
            <a:r>
              <a:rPr lang="en-US"/>
              <a:t>Second level</a:t>
            </a:r>
          </a:p>
          <a:p>
            <a:pPr lvl="2" algn="l" defTabSz="914400" rtl="0" eaLnBrk="1" latinLnBrk="0" hangingPunct="1">
              <a:buFont typeface="Roboto" panose="02000000000000000000" pitchFamily="2" charset="0"/>
              <a:buChar char="–"/>
            </a:pPr>
            <a:r>
              <a:rPr lang="en-US"/>
              <a:t>Third level</a:t>
            </a:r>
          </a:p>
          <a:p>
            <a:pPr lvl="3" algn="l" defTabSz="914400" rtl="0" eaLnBrk="1" latinLnBrk="0" hangingPunct="1">
              <a:buFont typeface="Roboto" panose="02000000000000000000" pitchFamily="2" charset="0"/>
              <a:buChar char="–"/>
            </a:pPr>
            <a:r>
              <a:rPr lang="en-US"/>
              <a:t>Fourth level</a:t>
            </a:r>
          </a:p>
          <a:p>
            <a:pPr lvl="4" algn="l" defTabSz="914400" rtl="0" eaLnBrk="1" latinLnBrk="0" hangingPunct="1">
              <a:buFont typeface="Roboto" panose="02000000000000000000" pitchFamily="2" charset="0"/>
              <a:buChar char="–"/>
            </a:pPr>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solidFill>
                  <a:schemeClr val="tx2"/>
                </a:solidFill>
                <a:latin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solidFill>
                  <a:schemeClr val="tx2"/>
                </a:solidFill>
                <a:latin typeface="Arial" panose="020B0604020202020204" pitchFamily="34" charset="0"/>
              </a:defRPr>
            </a:lvl1pPr>
          </a:lstStyle>
          <a:p>
            <a:fld id="{2081FCD0-0B3F-4662-A1E4-AB7FCE2F39E0}" type="slidenum">
              <a:rPr lang="en-US" smtClean="0"/>
              <a:pPr/>
              <a:t>‹#›</a:t>
            </a:fld>
            <a:endParaRPr lang="en-US"/>
          </a:p>
        </p:txBody>
      </p:sp>
    </p:spTree>
    <p:extLst>
      <p:ext uri="{BB962C8B-B14F-4D97-AF65-F5344CB8AC3E}">
        <p14:creationId xmlns:p14="http://schemas.microsoft.com/office/powerpoint/2010/main" val="2837309984"/>
      </p:ext>
    </p:extLst>
  </p:cSld>
  <p:clrMap bg1="lt1" tx1="dk1" bg2="lt2" tx2="dk2" accent1="accent1" accent2="accent2" accent3="accent3" accent4="accent4" accent5="accent5" accent6="accent6" hlink="hlink" folHlink="folHlink"/>
  <p:notesStyle>
    <a:lvl1pPr marL="0" algn="l" defTabSz="914400" rtl="0" eaLnBrk="1" latinLnBrk="0" hangingPunct="1">
      <a:defRPr lang="en-US" sz="1400" kern="1200" dirty="0">
        <a:solidFill>
          <a:schemeClr val="tx2"/>
        </a:solidFill>
        <a:latin typeface="+mn-lt"/>
        <a:ea typeface="+mn-ea"/>
        <a:cs typeface="+mn-cs"/>
      </a:defRPr>
    </a:lvl1pPr>
    <a:lvl2pPr marL="216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2pPr>
    <a:lvl3pPr marL="432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3pPr>
    <a:lvl4pPr marL="648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4pPr>
    <a:lvl5pPr marL="864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5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wmf"/><Relationship Id="rId3" Type="http://schemas.openxmlformats.org/officeDocument/2006/relationships/image" Target="../media/image9.w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wmf"/><Relationship Id="rId3" Type="http://schemas.openxmlformats.org/officeDocument/2006/relationships/image" Target="../media/image9.w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9.w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_Cover_Light_Full Innovation Curve">
    <p:spTree>
      <p:nvGrpSpPr>
        <p:cNvPr id="1" name=""/>
        <p:cNvGrpSpPr/>
        <p:nvPr/>
      </p:nvGrpSpPr>
      <p:grpSpPr>
        <a:xfrm>
          <a:off x="0" y="0"/>
          <a:ext cx="0" cy="0"/>
          <a:chOff x="0" y="0"/>
          <a:chExt cx="0" cy="0"/>
        </a:xfrm>
      </p:grpSpPr>
      <p:pic>
        <p:nvPicPr>
          <p:cNvPr id="14" name="Innovation Curve">
            <a:extLst>
              <a:ext uri="{FF2B5EF4-FFF2-40B4-BE49-F238E27FC236}">
                <a16:creationId xmlns:a16="http://schemas.microsoft.com/office/drawing/2014/main" id="{9211F747-506E-5ED4-9B68-EE6B3F99C90B}"/>
              </a:ext>
              <a:ext uri="{C183D7F6-B498-43B3-948B-1728B52AA6E4}">
                <adec:decorative xmlns:adec="http://schemas.microsoft.com/office/drawing/2017/decorative" val="1"/>
              </a:ext>
            </a:extLst>
          </p:cNvPr>
          <p:cNvPicPr>
            <a:picLocks noChangeAspect="1"/>
          </p:cNvPicPr>
          <p:nvPr userDrawn="1"/>
        </p:nvPicPr>
        <p:blipFill>
          <a:blip r:embed="rId2" cstate="screen">
            <a:alphaModFix amt="30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a:ext>
            </a:extLst>
          </a:blip>
          <a:stretch>
            <a:fillRect/>
          </a:stretch>
        </p:blipFill>
        <p:spPr bwMode="gray">
          <a:xfrm>
            <a:off x="5322983" y="-14748"/>
            <a:ext cx="6872748" cy="6872748"/>
          </a:xfrm>
          <a:prstGeom prst="rect">
            <a:avLst/>
          </a:prstGeom>
        </p:spPr>
      </p:pic>
      <p:sp>
        <p:nvSpPr>
          <p:cNvPr id="16" name="Title 1">
            <a:extLst>
              <a:ext uri="{FF2B5EF4-FFF2-40B4-BE49-F238E27FC236}">
                <a16:creationId xmlns:a16="http://schemas.microsoft.com/office/drawing/2014/main" id="{1506BD0E-4DCD-8BA9-2037-DE975A1F0915}"/>
              </a:ext>
            </a:extLst>
          </p:cNvPr>
          <p:cNvSpPr>
            <a:spLocks noGrp="1"/>
          </p:cNvSpPr>
          <p:nvPr>
            <p:ph type="ctrTitle" hasCustomPrompt="1"/>
          </p:nvPr>
        </p:nvSpPr>
        <p:spPr bwMode="gray">
          <a:xfrm>
            <a:off x="380048" y="2438400"/>
            <a:ext cx="4843462"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DD68B773-8219-9567-613E-7A2F2D4F6C2B}"/>
              </a:ext>
            </a:extLst>
          </p:cNvPr>
          <p:cNvSpPr>
            <a:spLocks noGrp="1"/>
          </p:cNvSpPr>
          <p:nvPr>
            <p:ph type="subTitle" idx="1" hasCustomPrompt="1"/>
          </p:nvPr>
        </p:nvSpPr>
        <p:spPr bwMode="gray">
          <a:xfrm>
            <a:off x="380048" y="3810000"/>
            <a:ext cx="4843462"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2" name="Date Placeholder 3">
            <a:extLst>
              <a:ext uri="{FF2B5EF4-FFF2-40B4-BE49-F238E27FC236}">
                <a16:creationId xmlns:a16="http://schemas.microsoft.com/office/drawing/2014/main" id="{A9B553D8-6E2B-127F-58DE-5165236A2DF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ctr">
              <a:lnSpc>
                <a:spcPct val="100000"/>
              </a:lnSpc>
              <a:defRPr sz="1000">
                <a:solidFill>
                  <a:schemeClr val="accent6"/>
                </a:solidFill>
              </a:defRPr>
            </a:lvl1pPr>
          </a:lstStyle>
          <a:p>
            <a:pPr algn="r"/>
            <a:endParaRPr lang="en-US"/>
          </a:p>
        </p:txBody>
      </p:sp>
      <p:sp>
        <p:nvSpPr>
          <p:cNvPr id="3" name="Footer Placeholder 4">
            <a:extLst>
              <a:ext uri="{FF2B5EF4-FFF2-40B4-BE49-F238E27FC236}">
                <a16:creationId xmlns:a16="http://schemas.microsoft.com/office/drawing/2014/main" id="{0453B208-9097-2E2C-EC03-BD8A67670037}"/>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F90C6874-04AE-4333-9453-60DD690F9E61}" type="datetimeyyyy">
              <a:rPr lang="en-US" smtClean="0"/>
              <a:pPr/>
              <a:t>2026</a:t>
            </a:fld>
            <a:r>
              <a:rPr lang="en-US"/>
              <a:t> NTT DATA Business Solutions</a:t>
            </a:r>
          </a:p>
        </p:txBody>
      </p:sp>
      <p:pic>
        <p:nvPicPr>
          <p:cNvPr id="4" name="NTT DATA Global Logo" descr="NTT DATA Logo">
            <a:extLst>
              <a:ext uri="{FF2B5EF4-FFF2-40B4-BE49-F238E27FC236}">
                <a16:creationId xmlns:a16="http://schemas.microsoft.com/office/drawing/2014/main" id="{07CD756B-D053-7A46-EC8E-FF1D6BF1F701}"/>
              </a:ext>
            </a:extLst>
          </p:cNvPr>
          <p:cNvPicPr>
            <a:picLocks noGrp="1" noRot="1" noChangeAspect="1" noMove="1" noResize="1" noEditPoints="1" noAdjustHandles="1" noChangeArrowheads="1" noChangeShapeType="1" noCrop="1"/>
          </p:cNvPicPr>
          <p:nvPr userDrawn="1"/>
        </p:nvPicPr>
        <p:blipFill>
          <a:blip r:embed="rId4">
            <a:extLst>
              <a:ext uri="{96DAC541-7B7A-43D3-8B79-37D633B846F1}">
                <asvg:svgBlip xmlns:asvg="http://schemas.microsoft.com/office/drawing/2016/SVG/main" r:embed="rId5"/>
              </a:ext>
            </a:extLst>
          </a:blip>
          <a:stretch>
            <a:fillRect/>
          </a:stretch>
        </p:blipFill>
        <p:spPr bwMode="gray">
          <a:xfrm>
            <a:off x="371475" y="320040"/>
            <a:ext cx="1959942" cy="399600"/>
          </a:xfrm>
          <a:prstGeom prst="rect">
            <a:avLst/>
          </a:prstGeom>
        </p:spPr>
      </p:pic>
      <p:sp>
        <p:nvSpPr>
          <p:cNvPr id="6" name="Info box">
            <a:extLst>
              <a:ext uri="{FF2B5EF4-FFF2-40B4-BE49-F238E27FC236}">
                <a16:creationId xmlns:a16="http://schemas.microsoft.com/office/drawing/2014/main" id="{E5857A3D-5E1B-B6B2-6DE4-DAB9237BB2E9}"/>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9519860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_Cover_Light_Partial Innovation Curve">
    <p:spTree>
      <p:nvGrpSpPr>
        <p:cNvPr id="1" name=""/>
        <p:cNvGrpSpPr/>
        <p:nvPr/>
      </p:nvGrpSpPr>
      <p:grpSpPr>
        <a:xfrm>
          <a:off x="0" y="0"/>
          <a:ext cx="0" cy="0"/>
          <a:chOff x="0" y="0"/>
          <a:chExt cx="0" cy="0"/>
        </a:xfrm>
      </p:grpSpPr>
      <p:pic>
        <p:nvPicPr>
          <p:cNvPr id="16" name="Innovation Curve">
            <a:extLst>
              <a:ext uri="{FF2B5EF4-FFF2-40B4-BE49-F238E27FC236}">
                <a16:creationId xmlns:a16="http://schemas.microsoft.com/office/drawing/2014/main" id="{00ADE50C-F63B-648C-9FD0-E0FA384DFD0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screen">
            <a:alphaModFix amt="20000"/>
            <a:extLst>
              <a:ext uri="{28A0092B-C50C-407E-A947-70E740481C1C}">
                <a14:useLocalDpi xmlns:a14="http://schemas.microsoft.com/office/drawing/2010/main"/>
              </a:ext>
            </a:extLst>
          </a:blip>
          <a:stretch>
            <a:fillRect/>
          </a:stretch>
        </p:blipFill>
        <p:spPr bwMode="gray">
          <a:xfrm>
            <a:off x="7616952" y="0"/>
            <a:ext cx="4602549" cy="6876288"/>
          </a:xfrm>
          <a:prstGeom prst="rect">
            <a:avLst/>
          </a:prstGeom>
        </p:spPr>
      </p:pic>
      <p:sp>
        <p:nvSpPr>
          <p:cNvPr id="13" name="Title 1">
            <a:extLst>
              <a:ext uri="{FF2B5EF4-FFF2-40B4-BE49-F238E27FC236}">
                <a16:creationId xmlns:a16="http://schemas.microsoft.com/office/drawing/2014/main" id="{82ADFA92-0E48-355A-2DA8-D40523A9A84F}"/>
              </a:ext>
            </a:extLst>
          </p:cNvPr>
          <p:cNvSpPr>
            <a:spLocks noGrp="1"/>
          </p:cNvSpPr>
          <p:nvPr>
            <p:ph type="ctrTitle" hasCustomPrompt="1"/>
          </p:nvPr>
        </p:nvSpPr>
        <p:spPr bwMode="gray">
          <a:xfrm>
            <a:off x="380048" y="2438400"/>
            <a:ext cx="6969876"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5" name="Subtitle 2">
            <a:extLst>
              <a:ext uri="{FF2B5EF4-FFF2-40B4-BE49-F238E27FC236}">
                <a16:creationId xmlns:a16="http://schemas.microsoft.com/office/drawing/2014/main" id="{48B12889-37ED-D704-59B8-7CECF20BCF23}"/>
              </a:ext>
            </a:extLst>
          </p:cNvPr>
          <p:cNvSpPr>
            <a:spLocks noGrp="1"/>
          </p:cNvSpPr>
          <p:nvPr>
            <p:ph type="subTitle" idx="1" hasCustomPrompt="1"/>
          </p:nvPr>
        </p:nvSpPr>
        <p:spPr bwMode="gray">
          <a:xfrm>
            <a:off x="380048" y="3810000"/>
            <a:ext cx="6969876"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4" name="Footer Placeholder 4">
            <a:extLst>
              <a:ext uri="{FF2B5EF4-FFF2-40B4-BE49-F238E27FC236}">
                <a16:creationId xmlns:a16="http://schemas.microsoft.com/office/drawing/2014/main" id="{655333B3-E5F2-A1A8-F59F-D7085B34A14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E885BCAD-7130-4D6F-8B39-052483685F8F}" type="datetimeyyyy">
              <a:rPr lang="en-US" smtClean="0"/>
              <a:pPr/>
              <a:t>2026</a:t>
            </a:fld>
            <a:r>
              <a:rPr lang="en-US"/>
              <a:t> NTT DATA Business Solutions</a:t>
            </a:r>
          </a:p>
        </p:txBody>
      </p:sp>
      <p:sp>
        <p:nvSpPr>
          <p:cNvPr id="3" name="Date Placeholder 3">
            <a:extLst>
              <a:ext uri="{FF2B5EF4-FFF2-40B4-BE49-F238E27FC236}">
                <a16:creationId xmlns:a16="http://schemas.microsoft.com/office/drawing/2014/main" id="{F00FCC36-8879-E02B-48F4-D31C54AAA166}"/>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pic>
        <p:nvPicPr>
          <p:cNvPr id="5" name="NTT DATA Global Logo">
            <a:extLst>
              <a:ext uri="{FF2B5EF4-FFF2-40B4-BE49-F238E27FC236}">
                <a16:creationId xmlns:a16="http://schemas.microsoft.com/office/drawing/2014/main" id="{6696BBEF-690F-3F5E-4ABD-464267D3697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2" name="Info box">
            <a:extLst>
              <a:ext uri="{FF2B5EF4-FFF2-40B4-BE49-F238E27FC236}">
                <a16:creationId xmlns:a16="http://schemas.microsoft.com/office/drawing/2014/main" id="{329FBFF1-6701-C642-00EB-72165BE63795}"/>
              </a:ext>
            </a:extLst>
          </p:cNvPr>
          <p:cNvSpPr>
            <a:spLocks noGrp="1"/>
          </p:cNvSpPr>
          <p:nvPr>
            <p:ph sz="quarter" idx="18" hasCustomPrompt="1"/>
          </p:nvPr>
        </p:nvSpPr>
        <p:spPr bwMode="gray">
          <a:xfrm>
            <a:off x="371475" y="5875374"/>
            <a:ext cx="2737108"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528794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_Cover_Light_No Innovation Curv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69CCA6BB-2FF1-1F79-CE75-4214597FB511}"/>
              </a:ext>
            </a:extLst>
          </p:cNvPr>
          <p:cNvSpPr>
            <a:spLocks noGrp="1"/>
          </p:cNvSpPr>
          <p:nvPr>
            <p:ph type="ctrTitle" hasCustomPrompt="1"/>
          </p:nvPr>
        </p:nvSpPr>
        <p:spPr bwMode="gray">
          <a:xfrm>
            <a:off x="380048" y="2438400"/>
            <a:ext cx="11440477"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4" name="Subtitle 2">
            <a:extLst>
              <a:ext uri="{FF2B5EF4-FFF2-40B4-BE49-F238E27FC236}">
                <a16:creationId xmlns:a16="http://schemas.microsoft.com/office/drawing/2014/main" id="{FFBC9B23-4469-4B26-BEC9-4E111C2B8F4B}"/>
              </a:ext>
            </a:extLst>
          </p:cNvPr>
          <p:cNvSpPr>
            <a:spLocks noGrp="1"/>
          </p:cNvSpPr>
          <p:nvPr>
            <p:ph type="subTitle" idx="1" hasCustomPrompt="1"/>
          </p:nvPr>
        </p:nvSpPr>
        <p:spPr bwMode="gray">
          <a:xfrm>
            <a:off x="380048" y="3810000"/>
            <a:ext cx="11440477"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3" name="Date Placeholder 3">
            <a:extLst>
              <a:ext uri="{FF2B5EF4-FFF2-40B4-BE49-F238E27FC236}">
                <a16:creationId xmlns:a16="http://schemas.microsoft.com/office/drawing/2014/main" id="{606E1903-FF29-7A88-0707-803367E5E51E}"/>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4" name="Footer Placeholder 4">
            <a:extLst>
              <a:ext uri="{FF2B5EF4-FFF2-40B4-BE49-F238E27FC236}">
                <a16:creationId xmlns:a16="http://schemas.microsoft.com/office/drawing/2014/main" id="{EE186BE1-1DE6-82D8-B7EF-529F2205B840}"/>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AE5AD4D0-20D4-40E1-BBD2-F6C77C99F61E}" type="datetimeyyyy">
              <a:rPr lang="en-US" smtClean="0"/>
              <a:pPr/>
              <a:t>2026</a:t>
            </a:fld>
            <a:r>
              <a:rPr lang="en-US"/>
              <a:t> NTT DATA Business Solutions</a:t>
            </a:r>
          </a:p>
        </p:txBody>
      </p:sp>
      <p:pic>
        <p:nvPicPr>
          <p:cNvPr id="5" name="NTT DATA Global Logo">
            <a:extLst>
              <a:ext uri="{FF2B5EF4-FFF2-40B4-BE49-F238E27FC236}">
                <a16:creationId xmlns:a16="http://schemas.microsoft.com/office/drawing/2014/main" id="{2F900288-9276-0271-5B36-DA597F55D4E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71475" y="320040"/>
            <a:ext cx="1959942" cy="399600"/>
          </a:xfrm>
          <a:prstGeom prst="rect">
            <a:avLst/>
          </a:prstGeom>
        </p:spPr>
      </p:pic>
      <p:sp>
        <p:nvSpPr>
          <p:cNvPr id="7" name="Info box">
            <a:extLst>
              <a:ext uri="{FF2B5EF4-FFF2-40B4-BE49-F238E27FC236}">
                <a16:creationId xmlns:a16="http://schemas.microsoft.com/office/drawing/2014/main" id="{1683A5FA-61CB-0385-8B2C-D15BE457EBD3}"/>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18560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_Cover_Light_Image Bottom">
    <p:bg>
      <p:bgPr>
        <a:solidFill>
          <a:schemeClr val="tx1"/>
        </a:solidFill>
        <a:effectLst/>
      </p:bgPr>
    </p:bg>
    <p:spTree>
      <p:nvGrpSpPr>
        <p:cNvPr id="1" name=""/>
        <p:cNvGrpSpPr/>
        <p:nvPr/>
      </p:nvGrpSpPr>
      <p:grpSpPr>
        <a:xfrm>
          <a:off x="0" y="0"/>
          <a:ext cx="0" cy="0"/>
          <a:chOff x="0" y="0"/>
          <a:chExt cx="0" cy="0"/>
        </a:xfrm>
      </p:grpSpPr>
      <p:sp>
        <p:nvSpPr>
          <p:cNvPr id="11" name="Text Placeholder 20">
            <a:extLst>
              <a:ext uri="{FF2B5EF4-FFF2-40B4-BE49-F238E27FC236}">
                <a16:creationId xmlns:a16="http://schemas.microsoft.com/office/drawing/2014/main" id="{4C066D7D-0D2A-E525-7A09-B865124FD30F}"/>
              </a:ext>
            </a:extLst>
          </p:cNvPr>
          <p:cNvSpPr>
            <a:spLocks noGrp="1"/>
          </p:cNvSpPr>
          <p:nvPr>
            <p:ph type="body" sz="quarter" idx="17"/>
          </p:nvPr>
        </p:nvSpPr>
        <p:spPr bwMode="gray">
          <a:xfrm>
            <a:off x="0" y="3352800"/>
            <a:ext cx="12192000" cy="3505200"/>
          </a:xfrm>
          <a:prstGeom prst="rect">
            <a:avLst/>
          </a:prstGeom>
          <a:solidFill>
            <a:srgbClr val="050D24">
              <a:alpha val="57647"/>
            </a:srgbClr>
          </a:solidFill>
        </p:spPr>
        <p:txBody>
          <a:bodyPr/>
          <a:lstStyle>
            <a:lvl1pPr>
              <a:defRPr>
                <a:noFill/>
              </a:defRPr>
            </a:lvl1pPr>
            <a:lvl2pPr>
              <a:defRPr>
                <a:noFill/>
              </a:defRPr>
            </a:lvl2pPr>
            <a:lvl3pPr marL="914400" indent="0">
              <a:buNone/>
              <a:defRPr>
                <a:noFill/>
              </a:defRPr>
            </a:lvl3pPr>
            <a:lvl4pPr marL="1371600" indent="0">
              <a:buNone/>
              <a:defRPr>
                <a:noFill/>
              </a:defRPr>
            </a:lvl4pPr>
            <a:lvl5pPr marL="1828800" indent="0">
              <a:buNone/>
              <a:defRPr>
                <a:noFill/>
              </a:defRPr>
            </a:lvl5pPr>
          </a:lstStyle>
          <a:p>
            <a:pPr lvl="0"/>
            <a:r>
              <a:rPr lang="en-US"/>
              <a:t>Click to edit Master text styles</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gray">
          <a:xfrm>
            <a:off x="371475" y="2050182"/>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bg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gray">
          <a:xfrm>
            <a:off x="371475" y="1412875"/>
            <a:ext cx="11449050" cy="651610"/>
          </a:xfrm>
        </p:spPr>
        <p:txBody>
          <a:bodyPr/>
          <a:lstStyle>
            <a:lvl1pPr>
              <a:defRPr sz="4400" b="0">
                <a:solidFill>
                  <a:schemeClr val="bg1"/>
                </a:solidFill>
              </a:defRPr>
            </a:lvl1pPr>
          </a:lstStyle>
          <a:p>
            <a:r>
              <a:rPr lang="en-US"/>
              <a:t>Click to edit title</a:t>
            </a:r>
          </a:p>
        </p:txBody>
      </p:sp>
      <p:sp>
        <p:nvSpPr>
          <p:cNvPr id="14" name="Innovation Curve Over">
            <a:extLst>
              <a:ext uri="{FF2B5EF4-FFF2-40B4-BE49-F238E27FC236}">
                <a16:creationId xmlns:a16="http://schemas.microsoft.com/office/drawing/2014/main" id="{0E296AC8-E4D5-3A7F-3C42-CC289AAB1E6B}"/>
              </a:ext>
              <a:ext uri="{C183D7F6-B498-43B3-948B-1728B52AA6E4}">
                <adec:decorative xmlns:adec="http://schemas.microsoft.com/office/drawing/2017/decorative" val="1"/>
              </a:ext>
            </a:extLst>
          </p:cNvPr>
          <p:cNvSpPr>
            <a:spLocks noGrp="1"/>
          </p:cNvSpPr>
          <p:nvPr>
            <p:ph type="body" sz="quarter" idx="22"/>
          </p:nvPr>
        </p:nvSpPr>
        <p:spPr bwMode="gray">
          <a:xfrm>
            <a:off x="9067800" y="3733800"/>
            <a:ext cx="2741663" cy="2743200"/>
          </a:xfrm>
          <a:prstGeom prst="rect">
            <a:avLst/>
          </a:prstGeom>
          <a:blipFill>
            <a:blip r:embed="rId2" cstate="screen">
              <a:extLst>
                <a:ext uri="{28A0092B-C50C-407E-A947-70E740481C1C}">
                  <a14:useLocalDpi xmlns:a14="http://schemas.microsoft.com/office/drawing/2010/main"/>
                </a:ext>
              </a:extLst>
            </a:blip>
            <a:stretch>
              <a:fillRect/>
            </a:stretch>
          </a:blipFill>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gray">
          <a:xfrm>
            <a:off x="11026140" y="3147301"/>
            <a:ext cx="794384"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gray">
          <a:xfrm>
            <a:off x="371475" y="3147301"/>
            <a:ext cx="5123498"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56C83018-F8F2-4A30-A145-7E389ADDE47D}" type="datetimeyyyy">
              <a:rPr lang="en-US" smtClean="0"/>
              <a:pPr/>
              <a:t>2026</a:t>
            </a:fld>
            <a:r>
              <a:rPr lang="en-US"/>
              <a:t> NTT DATA Business Solutions</a:t>
            </a:r>
          </a:p>
        </p:txBody>
      </p:sp>
      <p:pic>
        <p:nvPicPr>
          <p:cNvPr id="4" name="NTT DATA Global Logo">
            <a:extLst>
              <a:ext uri="{FF2B5EF4-FFF2-40B4-BE49-F238E27FC236}">
                <a16:creationId xmlns:a16="http://schemas.microsoft.com/office/drawing/2014/main" id="{93955C0C-38C4-366F-0C4D-7A71C122ED79}"/>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5" name="Info box">
            <a:extLst>
              <a:ext uri="{FF2B5EF4-FFF2-40B4-BE49-F238E27FC236}">
                <a16:creationId xmlns:a16="http://schemas.microsoft.com/office/drawing/2014/main" id="{4219B810-9C7C-888F-0EA9-5DF76A5618C5}"/>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166375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_Divider_Image Left Light">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bg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71BE9290-62D0-4286-852A-07D9B5E08909}"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2BB7E7E5-3EAF-0D6A-4BE7-B4490F5A534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75623"/>
            <a:ext cx="1288971" cy="262800"/>
          </a:xfrm>
          <a:prstGeom prst="rect">
            <a:avLst/>
          </a:prstGeom>
        </p:spPr>
      </p:pic>
    </p:spTree>
    <p:extLst>
      <p:ext uri="{BB962C8B-B14F-4D97-AF65-F5344CB8AC3E}">
        <p14:creationId xmlns:p14="http://schemas.microsoft.com/office/powerpoint/2010/main" val="424211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Light">
    <p:bg>
      <p:bgPr>
        <a:solidFill>
          <a:schemeClr val="tx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bg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EDF392D2-40E0-4EAB-B846-4B19B3613C64}"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7" name="Picture 6">
            <a:extLst>
              <a:ext uri="{FF2B5EF4-FFF2-40B4-BE49-F238E27FC236}">
                <a16:creationId xmlns:a16="http://schemas.microsoft.com/office/drawing/2014/main" id="{8E54CF47-5670-1E36-A01C-CE6BD5FD4ECA}"/>
              </a:ext>
            </a:extLst>
          </p:cNvPr>
          <p:cNvPicPr>
            <a:picLocks noChangeAspect="1"/>
          </p:cNvPicPr>
          <p:nvPr userDrawn="1"/>
        </p:nvPicPr>
        <p:blipFill>
          <a:blip r:embed="rId2" cstate="screen">
            <a:alphaModFix amt="30000"/>
            <a:extLst>
              <a:ext uri="{28A0092B-C50C-407E-A947-70E740481C1C}">
                <a14:useLocalDpi xmlns:a14="http://schemas.microsoft.com/office/drawing/2010/main"/>
              </a:ext>
            </a:extLst>
          </a:blip>
          <a:stretch>
            <a:fillRect/>
          </a:stretch>
        </p:blipFill>
        <p:spPr bwMode="gray">
          <a:xfrm>
            <a:off x="8070773" y="2431973"/>
            <a:ext cx="3740227" cy="3740227"/>
          </a:xfrm>
          <a:prstGeom prst="rect">
            <a:avLst/>
          </a:prstGeom>
        </p:spPr>
      </p:pic>
      <p:pic>
        <p:nvPicPr>
          <p:cNvPr id="2" name="Grafik 1" descr="NTT DATA Logo">
            <a:extLst>
              <a:ext uri="{FF2B5EF4-FFF2-40B4-BE49-F238E27FC236}">
                <a16:creationId xmlns:a16="http://schemas.microsoft.com/office/drawing/2014/main" id="{85A5CA48-7C79-E822-4683-1F80C688BD5D}"/>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482829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bg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4" name="Picture 6">
            <a:extLst>
              <a:ext uri="{FF2B5EF4-FFF2-40B4-BE49-F238E27FC236}">
                <a16:creationId xmlns:a16="http://schemas.microsoft.com/office/drawing/2014/main" id="{AE44EF5E-6648-1398-B4E7-717D749EE98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15" name="Picture Placeholder 9">
            <a:extLst>
              <a:ext uri="{FF2B5EF4-FFF2-40B4-BE49-F238E27FC236}">
                <a16:creationId xmlns:a16="http://schemas.microsoft.com/office/drawing/2014/main" id="{C74CB7FF-BF38-583F-EB84-775D76F699B8}"/>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bg1"/>
                </a:solidFill>
              </a:defRPr>
            </a:lvl1pPr>
          </a:lstStyle>
          <a:p>
            <a:r>
              <a:rPr lang="en-US"/>
              <a:t> </a:t>
            </a:r>
          </a:p>
        </p:txBody>
      </p:sp>
      <p:sp>
        <p:nvSpPr>
          <p:cNvPr id="6" name="Footer Placeholder 4">
            <a:extLst>
              <a:ext uri="{FF2B5EF4-FFF2-40B4-BE49-F238E27FC236}">
                <a16:creationId xmlns:a16="http://schemas.microsoft.com/office/drawing/2014/main" id="{2B94D9BD-B0EA-63BE-7EB0-C414D042F0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5C9482E0-DEC2-42AB-91AB-197D2D13DC20}" type="datetimeyyyy">
              <a:rPr lang="en-US" smtClean="0"/>
              <a:pPr/>
              <a:t>2026</a:t>
            </a:fld>
            <a:r>
              <a:rPr lang="en-US"/>
              <a:t> NTT DATA Business Solutions</a:t>
            </a:r>
          </a:p>
        </p:txBody>
      </p:sp>
      <p:pic>
        <p:nvPicPr>
          <p:cNvPr id="3" name="Grafik 2" descr="NTT DATA Logo">
            <a:extLst>
              <a:ext uri="{FF2B5EF4-FFF2-40B4-BE49-F238E27FC236}">
                <a16:creationId xmlns:a16="http://schemas.microsoft.com/office/drawing/2014/main" id="{244AD14B-3980-C161-8C5E-CD1D2269FA6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6518964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192796B4-C4F7-4470-8D8F-5C8A4441378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5182BA64-AC0B-E577-D566-88A2E0B60E8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5222296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p:txBody>
          <a:bodyPr/>
          <a:lstStyle>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ABB3B0E-C7E0-4094-B056-17C7EBA68B2A}"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672AE677-DE13-CB38-400C-BB3B3D03517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680068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C147E76-634B-4A63-A925-C8C8AD90899A}" type="datetimeyyyy">
              <a:rPr lang="en-US" smtClean="0"/>
              <a:pPr/>
              <a:t>2026</a:t>
            </a:fld>
            <a:r>
              <a:rPr lang="en-US"/>
              <a:t> NTT DATA Business Solutions</a:t>
            </a:r>
            <a:endParaRPr lang="pt-B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92D495D3-B3D2-F553-92F4-6821FF50D81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4837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2026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fik 3" descr="NTT DATA Logo">
            <a:extLst>
              <a:ext uri="{FF2B5EF4-FFF2-40B4-BE49-F238E27FC236}">
                <a16:creationId xmlns:a16="http://schemas.microsoft.com/office/drawing/2014/main" id="{F4899504-8FC1-82E8-E495-2A1FA2E7C67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820380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5416B4F-CB60-47BF-B943-FF9B5487882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Grafik 4" descr="NTT DATA Logo">
            <a:extLst>
              <a:ext uri="{FF2B5EF4-FFF2-40B4-BE49-F238E27FC236}">
                <a16:creationId xmlns:a16="http://schemas.microsoft.com/office/drawing/2014/main" id="{09F75B39-E90C-2362-733D-303662EC6EA7}"/>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870824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_Blank_Light">
    <p:bg bwMode="gray">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2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_Blank_Light with footer">
    <p:bg>
      <p:bgPr>
        <a:solidFill>
          <a:schemeClr val="tx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88C2D77-769E-40EF-8BC4-8E997C1D12AC}"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A84A5BCB-5036-D676-EC1B-3BFB2EB140F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5457465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_Picture Full Light">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solidFill>
            <a:schemeClr val="tx1"/>
          </a:solidFill>
        </p:spPr>
        <p:txBody>
          <a:bodyPr anchor="ctr" anchorCtr="0"/>
          <a:lstStyle>
            <a:lvl1pPr algn="ctr">
              <a:defRPr sz="2000">
                <a:solidFill>
                  <a:srgbClr val="0072BC"/>
                </a:solidFill>
              </a:defRPr>
            </a:lvl1pPr>
          </a:lstStyle>
          <a:p>
            <a:r>
              <a:rPr lang="en-US"/>
              <a:t>Click to add picture</a:t>
            </a:r>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2026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NTT DATA Global Logo" descr="NTT DATA Global Logo">
            <a:extLst>
              <a:ext uri="{FF2B5EF4-FFF2-40B4-BE49-F238E27FC236}">
                <a16:creationId xmlns:a16="http://schemas.microsoft.com/office/drawing/2014/main" id="{AAC9A100-4458-748B-AE62-3E3DB5DF4514}"/>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spTree>
    <p:extLst>
      <p:ext uri="{BB962C8B-B14F-4D97-AF65-F5344CB8AC3E}">
        <p14:creationId xmlns:p14="http://schemas.microsoft.com/office/powerpoint/2010/main" val="23229609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_Picture Right Light">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a:ln>
            <a:noFill/>
          </a:ln>
        </p:spPr>
        <p:txBody>
          <a:bodyPr tIns="2743200"/>
          <a:lstStyle>
            <a:lvl1pPr marL="0" indent="0" algn="ctr">
              <a:buNone/>
              <a:defRPr sz="2000">
                <a:solidFill>
                  <a:schemeClr val="tx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gradFill>
            <a:gsLst>
              <a:gs pos="0">
                <a:schemeClr val="bg1"/>
              </a:gs>
              <a:gs pos="80000">
                <a:schemeClr val="bg1">
                  <a:alpha val="0"/>
                </a:schemeClr>
              </a:gs>
            </a:gsLst>
            <a:lin ang="16200000" scaled="1"/>
          </a:gradFill>
          <a:ln>
            <a:noFill/>
          </a:ln>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10374A0-9588-49F2-89A8-5033A4C269FC}"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7" name="Textplatzhalter 6">
            <a:extLst>
              <a:ext uri="{FF2B5EF4-FFF2-40B4-BE49-F238E27FC236}">
                <a16:creationId xmlns:a16="http://schemas.microsoft.com/office/drawing/2014/main" id="{123A48BA-9053-57A9-84AD-74E47A8839EE}"/>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9610698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_Picture Left Light">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tx1"/>
                </a:solidFill>
              </a:defRPr>
            </a:lvl1pPr>
          </a:lstStyle>
          <a:p>
            <a:r>
              <a:rPr lang="en-US"/>
              <a:t>Click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9" name="Footer Placeholder 4">
            <a:extLst>
              <a:ext uri="{FF2B5EF4-FFF2-40B4-BE49-F238E27FC236}">
                <a16:creationId xmlns:a16="http://schemas.microsoft.com/office/drawing/2014/main" id="{0E1D6E42-CF16-1247-063C-E673C2660B10}"/>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C37A901C-85D6-49E6-8DB8-8BC19CDF54E3}" type="datetimeyyyy">
              <a:rPr lang="en-US" smtClean="0"/>
              <a:pPr/>
              <a:t>2026</a:t>
            </a:fld>
            <a:r>
              <a:rPr lang="en-US"/>
              <a:t> NTT DATA Business Solutions</a:t>
            </a:r>
          </a:p>
        </p:txBody>
      </p:sp>
      <p:pic>
        <p:nvPicPr>
          <p:cNvPr id="2" name="Grafik 1" descr="NTT DATA Logo">
            <a:extLst>
              <a:ext uri="{FF2B5EF4-FFF2-40B4-BE49-F238E27FC236}">
                <a16:creationId xmlns:a16="http://schemas.microsoft.com/office/drawing/2014/main" id="{3C7F81EE-B786-2FB8-3729-E042CEDCA95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796287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_Picture Bottom Light">
    <p:spTree>
      <p:nvGrpSpPr>
        <p:cNvPr id="1" name=""/>
        <p:cNvGrpSpPr/>
        <p:nvPr/>
      </p:nvGrpSpPr>
      <p:grpSpPr>
        <a:xfrm>
          <a:off x="0" y="0"/>
          <a:ext cx="0" cy="0"/>
          <a:chOff x="0" y="0"/>
          <a:chExt cx="0" cy="0"/>
        </a:xfrm>
      </p:grpSpPr>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16" name="Text Placeholder 5">
            <a:extLst>
              <a:ext uri="{FF2B5EF4-FFF2-40B4-BE49-F238E27FC236}">
                <a16:creationId xmlns:a16="http://schemas.microsoft.com/office/drawing/2014/main" id="{D008BF2A-3887-409B-2567-9779543E991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FCE6054-0620-4EC7-B251-A83F474EBDE9}"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3332E3DA-1D9C-AE98-90B7-99F86957B3D1}"/>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183309132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_Pictures Three Ligh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9BDEE66D-A942-4D23-8988-8A9C42147FAB}"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platzhalter 13">
            <a:extLst>
              <a:ext uri="{FF2B5EF4-FFF2-40B4-BE49-F238E27FC236}">
                <a16:creationId xmlns:a16="http://schemas.microsoft.com/office/drawing/2014/main" id="{37810C3F-8126-9187-298C-78C18E4DEC1A}"/>
              </a:ext>
            </a:extLst>
          </p:cNvPr>
          <p:cNvSpPr>
            <a:spLocks noGrp="1"/>
          </p:cNvSpPr>
          <p:nvPr>
            <p:ph type="body" sz="quarter" idx="16"/>
          </p:nvPr>
        </p:nvSpPr>
        <p:spPr bwMode="gray">
          <a:xfrm>
            <a:off x="37147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platzhalter 13">
            <a:extLst>
              <a:ext uri="{FF2B5EF4-FFF2-40B4-BE49-F238E27FC236}">
                <a16:creationId xmlns:a16="http://schemas.microsoft.com/office/drawing/2014/main" id="{9362F217-E245-B1E7-6E7D-C2737EF5C818}"/>
              </a:ext>
            </a:extLst>
          </p:cNvPr>
          <p:cNvSpPr>
            <a:spLocks noGrp="1"/>
          </p:cNvSpPr>
          <p:nvPr>
            <p:ph type="body" sz="quarter" idx="17"/>
          </p:nvPr>
        </p:nvSpPr>
        <p:spPr bwMode="gray">
          <a:xfrm>
            <a:off x="4267201"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platzhalter 13">
            <a:extLst>
              <a:ext uri="{FF2B5EF4-FFF2-40B4-BE49-F238E27FC236}">
                <a16:creationId xmlns:a16="http://schemas.microsoft.com/office/drawing/2014/main" id="{08BFE69C-6456-64E6-6838-D713604E3E3E}"/>
              </a:ext>
            </a:extLst>
          </p:cNvPr>
          <p:cNvSpPr>
            <a:spLocks noGrp="1"/>
          </p:cNvSpPr>
          <p:nvPr>
            <p:ph type="body" sz="quarter" idx="18"/>
          </p:nvPr>
        </p:nvSpPr>
        <p:spPr bwMode="gray">
          <a:xfrm>
            <a:off x="816292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Grafik 1" descr="NTT DATA Logo">
            <a:extLst>
              <a:ext uri="{FF2B5EF4-FFF2-40B4-BE49-F238E27FC236}">
                <a16:creationId xmlns:a16="http://schemas.microsoft.com/office/drawing/2014/main" id="{EE5C3873-EA9A-EDF2-2B96-1E66E7564FC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164461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_Picture Collection Light">
    <p:spTree>
      <p:nvGrpSpPr>
        <p:cNvPr id="1" name=""/>
        <p:cNvGrpSpPr/>
        <p:nvPr/>
      </p:nvGrpSpPr>
      <p:grpSpPr>
        <a:xfrm>
          <a:off x="0" y="0"/>
          <a:ext cx="0" cy="0"/>
          <a:chOff x="0" y="0"/>
          <a:chExt cx="0" cy="0"/>
        </a:xfrm>
      </p:grpSpPr>
      <p:sp>
        <p:nvSpPr>
          <p:cNvPr id="28" name="Picture Placeholder 25">
            <a:extLs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3" name="Rounded Rectangle 12">
            <a:extLs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accent1"/>
              </a:solidFill>
              <a:latin typeface="+mn-lt"/>
            </a:endParaRPr>
          </a:p>
        </p:txBody>
      </p:sp>
      <p:sp>
        <p:nvSpPr>
          <p:cNvPr id="6" name="Picture Placeholder 25">
            <a:extLs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4" name="Picture Placeholder 25">
            <a:extLs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9" name="Text Placeholder 4"/>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19" name="Text Placeholder 4"/>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21" name="Text Placeholder 4"/>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6" name="Text Placeholder 4"/>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4" name="Text Placeholder 4"/>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5" name="Text Placeholder 4"/>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2" name="Text Placeholder 4"/>
          <p:cNvSpPr>
            <a:spLocks noGrp="1"/>
          </p:cNvSpPr>
          <p:nvPr>
            <p:ph type="body" sz="quarter" idx="19" hasCustomPrompt="1"/>
          </p:nvPr>
        </p:nvSpPr>
        <p:spPr bwMode="gray">
          <a:xfrm>
            <a:off x="9349318" y="4926695"/>
            <a:ext cx="2448000" cy="1310593"/>
          </a:xfrm>
          <a:prstGeom prst="roundRect">
            <a:avLst>
              <a:gd name="adj" fmla="val 0"/>
            </a:avLst>
          </a:prstGeom>
          <a:solidFill>
            <a:schemeClr val="bg2"/>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F9396429-A480-4379-AC8D-D62673221764}"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606C5735-0DE1-D835-F22E-85B5242ECC6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657593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5A113EA-7070-4043-8632-2E74A3B33F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9948B5AA-38C9-B8A3-3B71-91B71CEE405B}"/>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3" name="Textplatzhalter 19">
            <a:extLst>
              <a:ext uri="{FF2B5EF4-FFF2-40B4-BE49-F238E27FC236}">
                <a16:creationId xmlns:a16="http://schemas.microsoft.com/office/drawing/2014/main" id="{FA68653F-43DC-95F4-8019-D687C49DF208}"/>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bg1"/>
                </a:solidFill>
              </a:defRPr>
            </a:lvl1pPr>
          </a:lstStyle>
          <a:p>
            <a:pPr lvl="0"/>
            <a:r>
              <a:rPr lang="de-DE"/>
              <a:t>Position</a:t>
            </a:r>
          </a:p>
        </p:txBody>
      </p:sp>
      <p:sp>
        <p:nvSpPr>
          <p:cNvPr id="4" name="Textplatzhalter 19">
            <a:extLst>
              <a:ext uri="{FF2B5EF4-FFF2-40B4-BE49-F238E27FC236}">
                <a16:creationId xmlns:a16="http://schemas.microsoft.com/office/drawing/2014/main" id="{EF2ADD26-2918-0B9D-FD8C-C82739487398}"/>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bg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9EC91858-6461-F85C-95CE-7518EFFFDC02}"/>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7DD02888-CBDA-F97C-A43C-E0268623CAF4}"/>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bg1"/>
                </a:solidFill>
              </a:defRPr>
            </a:lvl1pPr>
          </a:lstStyle>
          <a:p>
            <a:pPr lvl="0"/>
            <a:r>
              <a:rPr lang="de-DE"/>
              <a:t>Web</a:t>
            </a:r>
          </a:p>
        </p:txBody>
      </p:sp>
      <p:sp>
        <p:nvSpPr>
          <p:cNvPr id="8" name="Textplatzhalter 19">
            <a:extLst>
              <a:ext uri="{FF2B5EF4-FFF2-40B4-BE49-F238E27FC236}">
                <a16:creationId xmlns:a16="http://schemas.microsoft.com/office/drawing/2014/main" id="{8D088A0B-0BA4-2E4D-A19C-6319AF5B53ED}"/>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bg1"/>
                </a:solidFill>
              </a:defRPr>
            </a:lvl1pPr>
          </a:lstStyle>
          <a:p>
            <a:pPr lvl="0"/>
            <a:r>
              <a:rPr lang="de-DE"/>
              <a:t>E-Mail</a:t>
            </a:r>
          </a:p>
        </p:txBody>
      </p:sp>
      <p:sp>
        <p:nvSpPr>
          <p:cNvPr id="9" name="Textplatzhalter 19">
            <a:extLst>
              <a:ext uri="{FF2B5EF4-FFF2-40B4-BE49-F238E27FC236}">
                <a16:creationId xmlns:a16="http://schemas.microsoft.com/office/drawing/2014/main" id="{1EEE35C9-767B-D99D-39BB-49CBA3F84283}"/>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bg1"/>
                </a:solidFill>
              </a:defRPr>
            </a:lvl1pPr>
          </a:lstStyle>
          <a:p>
            <a:pPr lvl="0"/>
            <a:r>
              <a:rPr lang="de-DE"/>
              <a:t>Phone</a:t>
            </a:r>
          </a:p>
        </p:txBody>
      </p:sp>
      <p:cxnSp>
        <p:nvCxnSpPr>
          <p:cNvPr id="12" name="Gerader Verbinder 11">
            <a:extLst>
              <a:ext uri="{FF2B5EF4-FFF2-40B4-BE49-F238E27FC236}">
                <a16:creationId xmlns:a16="http://schemas.microsoft.com/office/drawing/2014/main" id="{1D833AD2-88EE-469C-7682-57A4D65529E7}"/>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Grafik 12" descr="NTT DATA Logo">
            <a:extLst>
              <a:ext uri="{FF2B5EF4-FFF2-40B4-BE49-F238E27FC236}">
                <a16:creationId xmlns:a16="http://schemas.microsoft.com/office/drawing/2014/main" id="{3CA5F31C-F5BF-2134-5216-2B15EFDE73C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972637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DD6564D6-910B-4CB5-A86E-CED67E932BEE}"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2" name="Bild">
            <a:extLst>
              <a:ext uri="{FF2B5EF4-FFF2-40B4-BE49-F238E27FC236}">
                <a16:creationId xmlns:a16="http://schemas.microsoft.com/office/drawing/2014/main" id="{28FFDF24-CEC1-8F04-920F-C95EB4279D4E}"/>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7E1544-D47A-3A30-5A4C-E95205A3B5B4}"/>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9076DBF6-D36A-6E5A-3EFD-C4C38456B80D}"/>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70474D20-DAC8-4E03-D93A-5E336E2DBC3D}"/>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7DF1E395-B606-BCBA-6897-2E0A34464E4A}"/>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8B685D0D-BA9D-5ED6-0996-C304842E3E01}"/>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C4594950-DD09-2E36-A783-CF3B1013F6CA}"/>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F36317AB-AE94-D498-F8F6-3450467715D9}"/>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Textplatzhalter 19">
            <a:extLst>
              <a:ext uri="{FF2B5EF4-FFF2-40B4-BE49-F238E27FC236}">
                <a16:creationId xmlns:a16="http://schemas.microsoft.com/office/drawing/2014/main" id="{F01F2DA8-007D-3C82-B8BA-4DF26F5CD2A5}"/>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bg1"/>
                </a:solidFill>
              </a:defRPr>
            </a:lvl1pPr>
          </a:lstStyle>
          <a:p>
            <a:pPr lvl="0"/>
            <a:r>
              <a:rPr lang="de-DE"/>
              <a:t>Position</a:t>
            </a:r>
          </a:p>
        </p:txBody>
      </p:sp>
      <p:sp>
        <p:nvSpPr>
          <p:cNvPr id="22" name="Textplatzhalter 19">
            <a:extLst>
              <a:ext uri="{FF2B5EF4-FFF2-40B4-BE49-F238E27FC236}">
                <a16:creationId xmlns:a16="http://schemas.microsoft.com/office/drawing/2014/main" id="{B2142F0D-3C5A-85B4-5E2A-8D0308F9D41E}"/>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6AD99CAC-851D-F368-5CAF-F0E29A293444}"/>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D6B1D9BE-B0D3-503A-B043-9F88ED11D6A0}"/>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bg1"/>
                </a:solidFill>
              </a:defRPr>
            </a:lvl1pPr>
          </a:lstStyle>
          <a:p>
            <a:pPr lvl="0"/>
            <a:r>
              <a:rPr lang="de-DE"/>
              <a:t>Web</a:t>
            </a:r>
          </a:p>
        </p:txBody>
      </p:sp>
      <p:sp>
        <p:nvSpPr>
          <p:cNvPr id="25" name="Textplatzhalter 19">
            <a:extLst>
              <a:ext uri="{FF2B5EF4-FFF2-40B4-BE49-F238E27FC236}">
                <a16:creationId xmlns:a16="http://schemas.microsoft.com/office/drawing/2014/main" id="{2802FA9B-84F3-7129-C6F5-215B812BAD2F}"/>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bg1"/>
                </a:solidFill>
              </a:defRPr>
            </a:lvl1pPr>
          </a:lstStyle>
          <a:p>
            <a:pPr lvl="0"/>
            <a:r>
              <a:rPr lang="de-DE"/>
              <a:t>E-Mail</a:t>
            </a:r>
          </a:p>
        </p:txBody>
      </p:sp>
      <p:sp>
        <p:nvSpPr>
          <p:cNvPr id="26" name="Textplatzhalter 19">
            <a:extLst>
              <a:ext uri="{FF2B5EF4-FFF2-40B4-BE49-F238E27FC236}">
                <a16:creationId xmlns:a16="http://schemas.microsoft.com/office/drawing/2014/main" id="{BB21797B-8CFE-485B-E4ED-DD6453B0EE71}"/>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bg1"/>
                </a:solidFill>
              </a:defRPr>
            </a:lvl1pPr>
          </a:lstStyle>
          <a:p>
            <a:pPr lvl="0"/>
            <a:r>
              <a:rPr lang="de-DE"/>
              <a:t>Phone</a:t>
            </a:r>
          </a:p>
        </p:txBody>
      </p:sp>
      <p:cxnSp>
        <p:nvCxnSpPr>
          <p:cNvPr id="28" name="Gerader Verbinder 27">
            <a:extLst>
              <a:ext uri="{FF2B5EF4-FFF2-40B4-BE49-F238E27FC236}">
                <a16:creationId xmlns:a16="http://schemas.microsoft.com/office/drawing/2014/main" id="{36BB2330-FD87-F1F5-420C-96EEFA7D5EEE}"/>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 name="Gerader Verbinder 1">
            <a:extLst>
              <a:ext uri="{FF2B5EF4-FFF2-40B4-BE49-F238E27FC236}">
                <a16:creationId xmlns:a16="http://schemas.microsoft.com/office/drawing/2014/main" id="{0ED6F201-F5A5-9A94-DF70-734B4C585AED}"/>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 name="Grafik 2" descr="NTT DATA Logo">
            <a:extLst>
              <a:ext uri="{FF2B5EF4-FFF2-40B4-BE49-F238E27FC236}">
                <a16:creationId xmlns:a16="http://schemas.microsoft.com/office/drawing/2014/main" id="{3471706D-A8B7-5E19-B529-966C15192C3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130043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8E907605-6A7C-4297-9EA0-F0AC6D846A91}"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39AEFD9F-70E6-5C57-9436-1749177EF001}"/>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4" name="Textplatzhalter 19">
            <a:extLst>
              <a:ext uri="{FF2B5EF4-FFF2-40B4-BE49-F238E27FC236}">
                <a16:creationId xmlns:a16="http://schemas.microsoft.com/office/drawing/2014/main" id="{7C1C95DB-5597-0591-2531-E1B3711EA916}"/>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bg1"/>
                </a:solidFill>
              </a:defRPr>
            </a:lvl1pPr>
          </a:lstStyle>
          <a:p>
            <a:pPr lvl="0"/>
            <a:r>
              <a:rPr lang="de-DE"/>
              <a:t>Position</a:t>
            </a:r>
          </a:p>
        </p:txBody>
      </p:sp>
      <p:sp>
        <p:nvSpPr>
          <p:cNvPr id="5" name="Textplatzhalter 19">
            <a:extLst>
              <a:ext uri="{FF2B5EF4-FFF2-40B4-BE49-F238E27FC236}">
                <a16:creationId xmlns:a16="http://schemas.microsoft.com/office/drawing/2014/main" id="{B3ABC7FD-E9DD-2056-C2DD-E029D9AA2E5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7" name="Textplatzhalter 19">
            <a:extLst>
              <a:ext uri="{FF2B5EF4-FFF2-40B4-BE49-F238E27FC236}">
                <a16:creationId xmlns:a16="http://schemas.microsoft.com/office/drawing/2014/main" id="{FE51A178-72AA-A0DC-0AA4-A9E969630EC2}"/>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8" name="Textplatzhalter 19">
            <a:extLst>
              <a:ext uri="{FF2B5EF4-FFF2-40B4-BE49-F238E27FC236}">
                <a16:creationId xmlns:a16="http://schemas.microsoft.com/office/drawing/2014/main" id="{BCC91446-93DE-E095-F1D5-359F929FBF33}"/>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bg1"/>
                </a:solidFill>
              </a:defRPr>
            </a:lvl1pPr>
          </a:lstStyle>
          <a:p>
            <a:pPr lvl="0"/>
            <a:r>
              <a:rPr lang="de-DE"/>
              <a:t>Web</a:t>
            </a:r>
          </a:p>
        </p:txBody>
      </p:sp>
      <p:sp>
        <p:nvSpPr>
          <p:cNvPr id="9" name="Textplatzhalter 19">
            <a:extLst>
              <a:ext uri="{FF2B5EF4-FFF2-40B4-BE49-F238E27FC236}">
                <a16:creationId xmlns:a16="http://schemas.microsoft.com/office/drawing/2014/main" id="{3C0201BE-12D7-CB4E-1E31-0B52B5F8D25D}"/>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bg1"/>
                </a:solidFill>
              </a:defRPr>
            </a:lvl1pPr>
          </a:lstStyle>
          <a:p>
            <a:pPr lvl="0"/>
            <a:r>
              <a:rPr lang="de-DE"/>
              <a:t>E-Mail</a:t>
            </a:r>
          </a:p>
        </p:txBody>
      </p:sp>
      <p:sp>
        <p:nvSpPr>
          <p:cNvPr id="13" name="Textplatzhalter 19">
            <a:extLst>
              <a:ext uri="{FF2B5EF4-FFF2-40B4-BE49-F238E27FC236}">
                <a16:creationId xmlns:a16="http://schemas.microsoft.com/office/drawing/2014/main" id="{E8AAF35B-5ABC-EA43-39C8-033629111AA6}"/>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bg1"/>
                </a:solidFill>
              </a:defRPr>
            </a:lvl1pPr>
          </a:lstStyle>
          <a:p>
            <a:pPr lvl="0"/>
            <a:r>
              <a:rPr lang="de-DE"/>
              <a:t>Phone</a:t>
            </a:r>
          </a:p>
        </p:txBody>
      </p:sp>
      <p:sp>
        <p:nvSpPr>
          <p:cNvPr id="27" name="Bild">
            <a:extLst>
              <a:ext uri="{FF2B5EF4-FFF2-40B4-BE49-F238E27FC236}">
                <a16:creationId xmlns:a16="http://schemas.microsoft.com/office/drawing/2014/main" id="{DD7FE38A-51E1-4E43-BB57-1664A248CB82}"/>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8" name="Bild">
            <a:extLst>
              <a:ext uri="{FF2B5EF4-FFF2-40B4-BE49-F238E27FC236}">
                <a16:creationId xmlns:a16="http://schemas.microsoft.com/office/drawing/2014/main" id="{51BA8FB0-222A-0F16-0114-3BB853F45628}"/>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9" name="Textplatzhalter 19">
            <a:extLst>
              <a:ext uri="{FF2B5EF4-FFF2-40B4-BE49-F238E27FC236}">
                <a16:creationId xmlns:a16="http://schemas.microsoft.com/office/drawing/2014/main" id="{2FC1F118-28C7-4937-8FA8-52653C8B7B85}"/>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bg1"/>
                </a:solidFill>
              </a:defRPr>
            </a:lvl1pPr>
          </a:lstStyle>
          <a:p>
            <a:pPr lvl="0"/>
            <a:r>
              <a:rPr lang="de-DE"/>
              <a:t>Position</a:t>
            </a:r>
          </a:p>
        </p:txBody>
      </p:sp>
      <p:sp>
        <p:nvSpPr>
          <p:cNvPr id="30" name="Textplatzhalter 19">
            <a:extLst>
              <a:ext uri="{FF2B5EF4-FFF2-40B4-BE49-F238E27FC236}">
                <a16:creationId xmlns:a16="http://schemas.microsoft.com/office/drawing/2014/main" id="{9956C4FB-FC8C-0A01-8FBD-746ACAC51DFA}"/>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1" name="Textplatzhalter 19">
            <a:extLst>
              <a:ext uri="{FF2B5EF4-FFF2-40B4-BE49-F238E27FC236}">
                <a16:creationId xmlns:a16="http://schemas.microsoft.com/office/drawing/2014/main" id="{970BB876-E1DE-3E78-7E09-2CAA27FA90F2}"/>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2" name="Textplatzhalter 19">
            <a:extLst>
              <a:ext uri="{FF2B5EF4-FFF2-40B4-BE49-F238E27FC236}">
                <a16:creationId xmlns:a16="http://schemas.microsoft.com/office/drawing/2014/main" id="{D9A2957C-6E58-625D-F432-838F79B9CE77}"/>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bg1"/>
                </a:solidFill>
              </a:defRPr>
            </a:lvl1pPr>
          </a:lstStyle>
          <a:p>
            <a:pPr lvl="0"/>
            <a:r>
              <a:rPr lang="de-DE"/>
              <a:t>Web</a:t>
            </a:r>
          </a:p>
        </p:txBody>
      </p:sp>
      <p:sp>
        <p:nvSpPr>
          <p:cNvPr id="33" name="Textplatzhalter 19">
            <a:extLst>
              <a:ext uri="{FF2B5EF4-FFF2-40B4-BE49-F238E27FC236}">
                <a16:creationId xmlns:a16="http://schemas.microsoft.com/office/drawing/2014/main" id="{74BEB116-9F3B-9EFD-DC83-6B0730E8AD65}"/>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bg1"/>
                </a:solidFill>
              </a:defRPr>
            </a:lvl1pPr>
          </a:lstStyle>
          <a:p>
            <a:pPr lvl="0"/>
            <a:r>
              <a:rPr lang="de-DE"/>
              <a:t>E-Mail</a:t>
            </a:r>
          </a:p>
        </p:txBody>
      </p:sp>
      <p:sp>
        <p:nvSpPr>
          <p:cNvPr id="34" name="Textplatzhalter 19">
            <a:extLst>
              <a:ext uri="{FF2B5EF4-FFF2-40B4-BE49-F238E27FC236}">
                <a16:creationId xmlns:a16="http://schemas.microsoft.com/office/drawing/2014/main" id="{4CB43218-24DA-32A8-D5BE-9A424D0A36C5}"/>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bg1"/>
                </a:solidFill>
              </a:defRPr>
            </a:lvl1pPr>
          </a:lstStyle>
          <a:p>
            <a:pPr lvl="0"/>
            <a:r>
              <a:rPr lang="de-DE"/>
              <a:t>Phone</a:t>
            </a:r>
          </a:p>
        </p:txBody>
      </p:sp>
      <p:sp>
        <p:nvSpPr>
          <p:cNvPr id="35" name="Textplatzhalter 19">
            <a:extLst>
              <a:ext uri="{FF2B5EF4-FFF2-40B4-BE49-F238E27FC236}">
                <a16:creationId xmlns:a16="http://schemas.microsoft.com/office/drawing/2014/main" id="{E81E8992-8200-DACF-50F0-649AF690BCC1}"/>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bg1"/>
                </a:solidFill>
              </a:defRPr>
            </a:lvl1pPr>
          </a:lstStyle>
          <a:p>
            <a:pPr lvl="0"/>
            <a:r>
              <a:rPr lang="de-DE"/>
              <a:t>Position</a:t>
            </a:r>
          </a:p>
        </p:txBody>
      </p:sp>
      <p:sp>
        <p:nvSpPr>
          <p:cNvPr id="36" name="Textplatzhalter 19">
            <a:extLst>
              <a:ext uri="{FF2B5EF4-FFF2-40B4-BE49-F238E27FC236}">
                <a16:creationId xmlns:a16="http://schemas.microsoft.com/office/drawing/2014/main" id="{FE10506F-CB8E-5C2C-268B-4C764467679E}"/>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7" name="Textplatzhalter 19">
            <a:extLst>
              <a:ext uri="{FF2B5EF4-FFF2-40B4-BE49-F238E27FC236}">
                <a16:creationId xmlns:a16="http://schemas.microsoft.com/office/drawing/2014/main" id="{A71613BB-31C5-D570-5383-46C9D241237C}"/>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8" name="Textplatzhalter 19">
            <a:extLst>
              <a:ext uri="{FF2B5EF4-FFF2-40B4-BE49-F238E27FC236}">
                <a16:creationId xmlns:a16="http://schemas.microsoft.com/office/drawing/2014/main" id="{12B33152-4061-29D7-B525-D62B4334363A}"/>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bg1"/>
                </a:solidFill>
              </a:defRPr>
            </a:lvl1pPr>
          </a:lstStyle>
          <a:p>
            <a:pPr lvl="0"/>
            <a:r>
              <a:rPr lang="de-DE"/>
              <a:t>Web</a:t>
            </a:r>
          </a:p>
        </p:txBody>
      </p:sp>
      <p:sp>
        <p:nvSpPr>
          <p:cNvPr id="39" name="Textplatzhalter 19">
            <a:extLst>
              <a:ext uri="{FF2B5EF4-FFF2-40B4-BE49-F238E27FC236}">
                <a16:creationId xmlns:a16="http://schemas.microsoft.com/office/drawing/2014/main" id="{37EE4F2D-7C8F-4CB3-34E5-18895BF5B401}"/>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bg1"/>
                </a:solidFill>
              </a:defRPr>
            </a:lvl1pPr>
          </a:lstStyle>
          <a:p>
            <a:pPr lvl="0"/>
            <a:r>
              <a:rPr lang="de-DE"/>
              <a:t>E-Mail</a:t>
            </a:r>
          </a:p>
        </p:txBody>
      </p:sp>
      <p:sp>
        <p:nvSpPr>
          <p:cNvPr id="40" name="Textplatzhalter 19">
            <a:extLst>
              <a:ext uri="{FF2B5EF4-FFF2-40B4-BE49-F238E27FC236}">
                <a16:creationId xmlns:a16="http://schemas.microsoft.com/office/drawing/2014/main" id="{A171BA9E-108C-6597-2BE9-C9463EA96A99}"/>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bg1"/>
                </a:solidFill>
              </a:defRPr>
            </a:lvl1pPr>
          </a:lstStyle>
          <a:p>
            <a:pPr lvl="0"/>
            <a:r>
              <a:rPr lang="de-DE"/>
              <a:t>Phone</a:t>
            </a:r>
          </a:p>
        </p:txBody>
      </p:sp>
      <p:cxnSp>
        <p:nvCxnSpPr>
          <p:cNvPr id="3" name="Gerader Verbinder 2">
            <a:extLst>
              <a:ext uri="{FF2B5EF4-FFF2-40B4-BE49-F238E27FC236}">
                <a16:creationId xmlns:a16="http://schemas.microsoft.com/office/drawing/2014/main" id="{D7355B3D-D952-564D-F6B5-38C981C2232A}"/>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4AD9BFD0-8B33-C4F2-26EA-F781EC378742}"/>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96B9A061-2542-A110-021C-60C378C2E63B}"/>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descr="NTT DATA Logo">
            <a:extLst>
              <a:ext uri="{FF2B5EF4-FFF2-40B4-BE49-F238E27FC236}">
                <a16:creationId xmlns:a16="http://schemas.microsoft.com/office/drawing/2014/main" id="{9BE7D961-DA80-5A82-4947-59D636E68B9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934851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0CDBEC1D-DF2D-4080-B448-33A8A7F069A3}"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3" name="Bild">
            <a:extLst>
              <a:ext uri="{FF2B5EF4-FFF2-40B4-BE49-F238E27FC236}">
                <a16:creationId xmlns:a16="http://schemas.microsoft.com/office/drawing/2014/main" id="{2A5B58F7-6571-4DC4-52C5-89B52F0B8122}"/>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C2DEA3-6146-E2B7-B8EF-0A098B405B6F}"/>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B8E80BF5-8647-E0C4-2C30-BE556DB9B8A2}"/>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358C96F8-4CBF-4103-655D-C3EEC238DEE1}"/>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9FB3B7BA-84AB-767A-6945-047A5BC05E7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5B477043-CC96-8DC5-1C2C-C3700FC5F86F}"/>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14E53D44-2EB1-DE97-3776-CB86868FFB3C}"/>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679554FC-C9C0-481C-A95E-C08D8D61BD9D}"/>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Bild">
            <a:extLst>
              <a:ext uri="{FF2B5EF4-FFF2-40B4-BE49-F238E27FC236}">
                <a16:creationId xmlns:a16="http://schemas.microsoft.com/office/drawing/2014/main" id="{E5FC9244-6206-AE10-AE4D-CEABAC3D8DE5}"/>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22" name="Bild">
            <a:extLst>
              <a:ext uri="{FF2B5EF4-FFF2-40B4-BE49-F238E27FC236}">
                <a16:creationId xmlns:a16="http://schemas.microsoft.com/office/drawing/2014/main" id="{43603E40-2CF2-F812-F348-AD05E8CED302}"/>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3" name="Textplatzhalter 19">
            <a:extLst>
              <a:ext uri="{FF2B5EF4-FFF2-40B4-BE49-F238E27FC236}">
                <a16:creationId xmlns:a16="http://schemas.microsoft.com/office/drawing/2014/main" id="{6A54E0CE-F3C1-3C72-6B0B-2E3525AE191B}"/>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bg1"/>
                </a:solidFill>
              </a:defRPr>
            </a:lvl1pPr>
          </a:lstStyle>
          <a:p>
            <a:pPr lvl="0"/>
            <a:r>
              <a:rPr lang="de-DE"/>
              <a:t>Position</a:t>
            </a:r>
          </a:p>
        </p:txBody>
      </p:sp>
      <p:sp>
        <p:nvSpPr>
          <p:cNvPr id="24" name="Textplatzhalter 19">
            <a:extLst>
              <a:ext uri="{FF2B5EF4-FFF2-40B4-BE49-F238E27FC236}">
                <a16:creationId xmlns:a16="http://schemas.microsoft.com/office/drawing/2014/main" id="{91E2F9BC-0D27-4B03-A91F-BA3418D3F143}"/>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5" name="Textplatzhalter 19">
            <a:extLst>
              <a:ext uri="{FF2B5EF4-FFF2-40B4-BE49-F238E27FC236}">
                <a16:creationId xmlns:a16="http://schemas.microsoft.com/office/drawing/2014/main" id="{B19C57C2-CEFF-904C-F57F-98CB3CB83ED6}"/>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6" name="Textplatzhalter 19">
            <a:extLst>
              <a:ext uri="{FF2B5EF4-FFF2-40B4-BE49-F238E27FC236}">
                <a16:creationId xmlns:a16="http://schemas.microsoft.com/office/drawing/2014/main" id="{D4A631FC-276C-6317-C57C-DBF382524413}"/>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bg1"/>
                </a:solidFill>
              </a:defRPr>
            </a:lvl1pPr>
          </a:lstStyle>
          <a:p>
            <a:pPr lvl="0"/>
            <a:r>
              <a:rPr lang="de-DE"/>
              <a:t>Web</a:t>
            </a:r>
          </a:p>
        </p:txBody>
      </p:sp>
      <p:sp>
        <p:nvSpPr>
          <p:cNvPr id="41" name="Textplatzhalter 19">
            <a:extLst>
              <a:ext uri="{FF2B5EF4-FFF2-40B4-BE49-F238E27FC236}">
                <a16:creationId xmlns:a16="http://schemas.microsoft.com/office/drawing/2014/main" id="{5C5A3CF2-D46D-F6E8-1B26-D5561C1E7AD7}"/>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bg1"/>
                </a:solidFill>
              </a:defRPr>
            </a:lvl1pPr>
          </a:lstStyle>
          <a:p>
            <a:pPr lvl="0"/>
            <a:r>
              <a:rPr lang="de-DE"/>
              <a:t>E-Mail</a:t>
            </a:r>
          </a:p>
        </p:txBody>
      </p:sp>
      <p:sp>
        <p:nvSpPr>
          <p:cNvPr id="42" name="Textplatzhalter 19">
            <a:extLst>
              <a:ext uri="{FF2B5EF4-FFF2-40B4-BE49-F238E27FC236}">
                <a16:creationId xmlns:a16="http://schemas.microsoft.com/office/drawing/2014/main" id="{67F71007-B96D-0098-ECE9-140939362478}"/>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bg1"/>
                </a:solidFill>
              </a:defRPr>
            </a:lvl1pPr>
          </a:lstStyle>
          <a:p>
            <a:pPr lvl="0"/>
            <a:r>
              <a:rPr lang="de-DE"/>
              <a:t>Phone</a:t>
            </a:r>
          </a:p>
        </p:txBody>
      </p:sp>
      <p:sp>
        <p:nvSpPr>
          <p:cNvPr id="43" name="Textplatzhalter 19">
            <a:extLst>
              <a:ext uri="{FF2B5EF4-FFF2-40B4-BE49-F238E27FC236}">
                <a16:creationId xmlns:a16="http://schemas.microsoft.com/office/drawing/2014/main" id="{0E48DE33-97F5-F8DA-6613-F0B97BE8F4B6}"/>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bg1"/>
                </a:solidFill>
              </a:defRPr>
            </a:lvl1pPr>
          </a:lstStyle>
          <a:p>
            <a:pPr lvl="0"/>
            <a:r>
              <a:rPr lang="de-DE"/>
              <a:t>Position</a:t>
            </a:r>
          </a:p>
        </p:txBody>
      </p:sp>
      <p:sp>
        <p:nvSpPr>
          <p:cNvPr id="44" name="Textplatzhalter 19">
            <a:extLst>
              <a:ext uri="{FF2B5EF4-FFF2-40B4-BE49-F238E27FC236}">
                <a16:creationId xmlns:a16="http://schemas.microsoft.com/office/drawing/2014/main" id="{8845C0FD-9FB9-7487-76A8-6BE7FD80151C}"/>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45" name="Textplatzhalter 19">
            <a:extLst>
              <a:ext uri="{FF2B5EF4-FFF2-40B4-BE49-F238E27FC236}">
                <a16:creationId xmlns:a16="http://schemas.microsoft.com/office/drawing/2014/main" id="{6AA843EA-66C9-C7F9-45EC-A18E7D27C2A1}"/>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46" name="Textplatzhalter 19">
            <a:extLst>
              <a:ext uri="{FF2B5EF4-FFF2-40B4-BE49-F238E27FC236}">
                <a16:creationId xmlns:a16="http://schemas.microsoft.com/office/drawing/2014/main" id="{2FB8C341-EEED-B1B1-4144-6806EC67046F}"/>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bg1"/>
                </a:solidFill>
              </a:defRPr>
            </a:lvl1pPr>
          </a:lstStyle>
          <a:p>
            <a:pPr lvl="0"/>
            <a:r>
              <a:rPr lang="de-DE"/>
              <a:t>Web</a:t>
            </a:r>
          </a:p>
        </p:txBody>
      </p:sp>
      <p:sp>
        <p:nvSpPr>
          <p:cNvPr id="47" name="Textplatzhalter 19">
            <a:extLst>
              <a:ext uri="{FF2B5EF4-FFF2-40B4-BE49-F238E27FC236}">
                <a16:creationId xmlns:a16="http://schemas.microsoft.com/office/drawing/2014/main" id="{47AF57AA-E604-29E8-C184-EAC74301823B}"/>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bg1"/>
                </a:solidFill>
              </a:defRPr>
            </a:lvl1pPr>
          </a:lstStyle>
          <a:p>
            <a:pPr lvl="0"/>
            <a:r>
              <a:rPr lang="de-DE"/>
              <a:t>E-Mail</a:t>
            </a:r>
          </a:p>
        </p:txBody>
      </p:sp>
      <p:sp>
        <p:nvSpPr>
          <p:cNvPr id="48" name="Textplatzhalter 19">
            <a:extLst>
              <a:ext uri="{FF2B5EF4-FFF2-40B4-BE49-F238E27FC236}">
                <a16:creationId xmlns:a16="http://schemas.microsoft.com/office/drawing/2014/main" id="{CF9B4E59-0310-6D96-2553-D144860A5CE5}"/>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bg1"/>
                </a:solidFill>
              </a:defRPr>
            </a:lvl1pPr>
          </a:lstStyle>
          <a:p>
            <a:pPr lvl="0"/>
            <a:r>
              <a:rPr lang="de-DE"/>
              <a:t>Phone</a:t>
            </a:r>
          </a:p>
        </p:txBody>
      </p:sp>
      <p:sp>
        <p:nvSpPr>
          <p:cNvPr id="49" name="Textplatzhalter 19">
            <a:extLst>
              <a:ext uri="{FF2B5EF4-FFF2-40B4-BE49-F238E27FC236}">
                <a16:creationId xmlns:a16="http://schemas.microsoft.com/office/drawing/2014/main" id="{CF1502FD-D684-00B7-9E51-E9FE8ADB1B1C}"/>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bg1"/>
                </a:solidFill>
              </a:defRPr>
            </a:lvl1pPr>
          </a:lstStyle>
          <a:p>
            <a:pPr lvl="0"/>
            <a:r>
              <a:rPr lang="de-DE"/>
              <a:t>Position</a:t>
            </a:r>
          </a:p>
        </p:txBody>
      </p:sp>
      <p:sp>
        <p:nvSpPr>
          <p:cNvPr id="50" name="Textplatzhalter 19">
            <a:extLst>
              <a:ext uri="{FF2B5EF4-FFF2-40B4-BE49-F238E27FC236}">
                <a16:creationId xmlns:a16="http://schemas.microsoft.com/office/drawing/2014/main" id="{1596965F-0530-28D7-8AF3-E511601A9C23}"/>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51" name="Textplatzhalter 19">
            <a:extLst>
              <a:ext uri="{FF2B5EF4-FFF2-40B4-BE49-F238E27FC236}">
                <a16:creationId xmlns:a16="http://schemas.microsoft.com/office/drawing/2014/main" id="{1E71F1B8-36E5-A354-55CB-E901006317A1}"/>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52" name="Textplatzhalter 19">
            <a:extLst>
              <a:ext uri="{FF2B5EF4-FFF2-40B4-BE49-F238E27FC236}">
                <a16:creationId xmlns:a16="http://schemas.microsoft.com/office/drawing/2014/main" id="{FE15675C-3EC1-F9A4-94F4-BCE068E0CC3D}"/>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bg1"/>
                </a:solidFill>
              </a:defRPr>
            </a:lvl1pPr>
          </a:lstStyle>
          <a:p>
            <a:pPr lvl="0"/>
            <a:r>
              <a:rPr lang="de-DE"/>
              <a:t>Web</a:t>
            </a:r>
          </a:p>
        </p:txBody>
      </p:sp>
      <p:sp>
        <p:nvSpPr>
          <p:cNvPr id="53" name="Textplatzhalter 19">
            <a:extLst>
              <a:ext uri="{FF2B5EF4-FFF2-40B4-BE49-F238E27FC236}">
                <a16:creationId xmlns:a16="http://schemas.microsoft.com/office/drawing/2014/main" id="{1A7EEACF-9147-9705-A666-5D2C04D784FB}"/>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bg1"/>
                </a:solidFill>
              </a:defRPr>
            </a:lvl1pPr>
          </a:lstStyle>
          <a:p>
            <a:pPr lvl="0"/>
            <a:r>
              <a:rPr lang="de-DE"/>
              <a:t>E-Mail</a:t>
            </a:r>
          </a:p>
        </p:txBody>
      </p:sp>
      <p:sp>
        <p:nvSpPr>
          <p:cNvPr id="54" name="Textplatzhalter 19">
            <a:extLst>
              <a:ext uri="{FF2B5EF4-FFF2-40B4-BE49-F238E27FC236}">
                <a16:creationId xmlns:a16="http://schemas.microsoft.com/office/drawing/2014/main" id="{1DA0D8FD-3459-9438-20CF-47A634A12C7D}"/>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bg1"/>
                </a:solidFill>
              </a:defRPr>
            </a:lvl1pPr>
          </a:lstStyle>
          <a:p>
            <a:pPr lvl="0"/>
            <a:r>
              <a:rPr lang="de-DE"/>
              <a:t>Phone</a:t>
            </a:r>
          </a:p>
        </p:txBody>
      </p:sp>
      <p:cxnSp>
        <p:nvCxnSpPr>
          <p:cNvPr id="2" name="Gerader Verbinder 1">
            <a:extLst>
              <a:ext uri="{FF2B5EF4-FFF2-40B4-BE49-F238E27FC236}">
                <a16:creationId xmlns:a16="http://schemas.microsoft.com/office/drawing/2014/main" id="{F71352BF-4D2F-D352-E8E5-FC8E96936F08}"/>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 name="Gerader Verbinder 3">
            <a:extLst>
              <a:ext uri="{FF2B5EF4-FFF2-40B4-BE49-F238E27FC236}">
                <a16:creationId xmlns:a16="http://schemas.microsoft.com/office/drawing/2014/main" id="{BE78E666-91DF-A384-7FF9-6B46FF0AB3B3}"/>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 name="Gerader Verbinder 4">
            <a:extLst>
              <a:ext uri="{FF2B5EF4-FFF2-40B4-BE49-F238E27FC236}">
                <a16:creationId xmlns:a16="http://schemas.microsoft.com/office/drawing/2014/main" id="{3F9AE90A-3D19-C42F-D463-9F70B664F524}"/>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31BB3CEE-CB0F-A50B-C004-4CF41520D8AC}"/>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NTT DATA Logo">
            <a:extLst>
              <a:ext uri="{FF2B5EF4-FFF2-40B4-BE49-F238E27FC236}">
                <a16:creationId xmlns:a16="http://schemas.microsoft.com/office/drawing/2014/main" id="{9D048711-65BD-8E39-E959-7A18411DEC7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07331045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_Closing Slide White Light">
    <p:spTree>
      <p:nvGrpSpPr>
        <p:cNvPr id="1" name=""/>
        <p:cNvGrpSpPr/>
        <p:nvPr/>
      </p:nvGrpSpPr>
      <p:grpSpPr>
        <a:xfrm>
          <a:off x="0" y="0"/>
          <a:ext cx="0" cy="0"/>
          <a:chOff x="0" y="0"/>
          <a:chExt cx="0" cy="0"/>
        </a:xfrm>
      </p:grpSpPr>
      <p:pic>
        <p:nvPicPr>
          <p:cNvPr id="3" name="NTT DATA Global Logo">
            <a:extLst>
              <a:ext uri="{FF2B5EF4-FFF2-40B4-BE49-F238E27FC236}">
                <a16:creationId xmlns:a16="http://schemas.microsoft.com/office/drawing/2014/main" id="{01F40004-0B55-0534-B49E-3160E9FA2E1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8831969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E_Closing Slide Future Blue with Picture Light">
    <p:bg>
      <p:bgPr>
        <a:solidFill>
          <a:schemeClr val="bg2"/>
        </a:solidFill>
        <a:effectLst/>
      </p:bgPr>
    </p:bg>
    <p:spTree>
      <p:nvGrpSpPr>
        <p:cNvPr id="1" name=""/>
        <p:cNvGrpSpPr/>
        <p:nvPr/>
      </p:nvGrpSpPr>
      <p:grpSpPr>
        <a:xfrm>
          <a:off x="0" y="0"/>
          <a:ext cx="0" cy="0"/>
          <a:chOff x="0" y="0"/>
          <a:chExt cx="0" cy="0"/>
        </a:xfrm>
      </p:grpSpPr>
      <p:sp>
        <p:nvSpPr>
          <p:cNvPr id="2" name="NTT DATA Global Logo" descr="NTT DATA Global Logo">
            <a:extLst>
              <a:ext uri="{FF2B5EF4-FFF2-40B4-BE49-F238E27FC236}">
                <a16:creationId xmlns:a16="http://schemas.microsoft.com/office/drawing/2014/main" id="{98CC4E28-4615-54DE-9A23-19AE8504C324}"/>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3" name="Picture Placeholder 4">
            <a:extLst>
              <a:ext uri="{FF2B5EF4-FFF2-40B4-BE49-F238E27FC236}">
                <a16:creationId xmlns:a16="http://schemas.microsoft.com/office/drawing/2014/main" id="{FB17ABEB-CE11-6DFE-1EDF-82662ED8C955}"/>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chemeClr val="tx1"/>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Tree>
    <p:extLst>
      <p:ext uri="{BB962C8B-B14F-4D97-AF65-F5344CB8AC3E}">
        <p14:creationId xmlns:p14="http://schemas.microsoft.com/office/powerpoint/2010/main" val="21695862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_Cover_Full Image, Ful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noProof="0"/>
              <a:t> </a:t>
            </a:r>
          </a:p>
        </p:txBody>
      </p:sp>
      <p:sp>
        <p:nvSpPr>
          <p:cNvPr id="8" name="Footer Placeholder 4">
            <a:extLst>
              <a:ext uri="{FF2B5EF4-FFF2-40B4-BE49-F238E27FC236}">
                <a16:creationId xmlns:a16="http://schemas.microsoft.com/office/drawing/2014/main" id="{5E9A5FE8-62E3-0D2E-834A-D1F1B8269B75}"/>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75ED45EB-D3D8-4D7D-8E36-58101285DD3F}" type="datetimeyyyy">
              <a:rPr lang="en-US" smtClean="0"/>
              <a:pPr/>
              <a:t>2026</a:t>
            </a:fld>
            <a:r>
              <a:rPr lang="en-US"/>
              <a:t> NTT DATA Business Solutions</a:t>
            </a:r>
          </a:p>
        </p:txBody>
      </p:sp>
      <p:sp>
        <p:nvSpPr>
          <p:cNvPr id="3" name="Innovation Curve">
            <a:extLst>
              <a:ext uri="{FF2B5EF4-FFF2-40B4-BE49-F238E27FC236}">
                <a16:creationId xmlns:a16="http://schemas.microsoft.com/office/drawing/2014/main" id="{18332D96-F8AA-AD1E-863A-6EA58DA26D4A}"/>
              </a:ext>
            </a:extLst>
          </p:cNvPr>
          <p:cNvSpPr>
            <a:spLocks noGrp="1"/>
          </p:cNvSpPr>
          <p:nvPr>
            <p:ph type="body" sz="quarter" idx="21" hasCustomPrompt="1"/>
          </p:nvPr>
        </p:nvSpPr>
        <p:spPr bwMode="gray">
          <a:xfrm>
            <a:off x="5365655" y="0"/>
            <a:ext cx="6835842" cy="6858000"/>
          </a:xfrm>
          <a:blipFill>
            <a:blip r:embed="rId2"/>
            <a:stretch>
              <a:fillRect/>
            </a:stretch>
          </a:blipFill>
        </p:spPr>
        <p:txBody>
          <a:bodyPr/>
          <a:lstStyle>
            <a:lvl1pPr>
              <a:defRPr sz="200"/>
            </a:lvl1pPr>
          </a:lstStyle>
          <a:p>
            <a:pPr lvl="0"/>
            <a:r>
              <a:rPr lang="de-DE"/>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9498" y="0"/>
            <a:ext cx="12191999"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noProof="0"/>
              <a:t>Click to add image. Then Reorder: Send to back </a:t>
            </a:r>
          </a:p>
        </p:txBody>
      </p:sp>
      <p:sp>
        <p:nvSpPr>
          <p:cNvPr id="2" name="Info box">
            <a:extLst>
              <a:ext uri="{FF2B5EF4-FFF2-40B4-BE49-F238E27FC236}">
                <a16:creationId xmlns:a16="http://schemas.microsoft.com/office/drawing/2014/main" id="{CDC6CD3E-31EA-EA2F-BE3B-37D4E6526A11}"/>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
        <p:nvSpPr>
          <p:cNvPr id="4" name="Date Placeholder 3">
            <a:extLst>
              <a:ext uri="{FF2B5EF4-FFF2-40B4-BE49-F238E27FC236}">
                <a16:creationId xmlns:a16="http://schemas.microsoft.com/office/drawing/2014/main" id="{C81BBD22-02FF-5EAB-ABA3-3C0BB396027D}"/>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8" name="Title 1">
            <a:extLst>
              <a:ext uri="{FF2B5EF4-FFF2-40B4-BE49-F238E27FC236}">
                <a16:creationId xmlns:a16="http://schemas.microsoft.com/office/drawing/2014/main" id="{6566C0A6-4FFE-882A-7F2D-B9B9A23AB5FB}"/>
              </a:ext>
            </a:extLst>
          </p:cNvPr>
          <p:cNvSpPr>
            <a:spLocks noGrp="1"/>
          </p:cNvSpPr>
          <p:nvPr>
            <p:ph type="ctrTitle" hasCustomPrompt="1"/>
          </p:nvPr>
        </p:nvSpPr>
        <p:spPr bwMode="gray">
          <a:xfrm>
            <a:off x="380048" y="2438400"/>
            <a:ext cx="479393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noProof="0"/>
              <a:t>Click to edit Master title Style</a:t>
            </a:r>
          </a:p>
        </p:txBody>
      </p:sp>
      <p:sp>
        <p:nvSpPr>
          <p:cNvPr id="19" name="Subtitle 2">
            <a:extLst>
              <a:ext uri="{FF2B5EF4-FFF2-40B4-BE49-F238E27FC236}">
                <a16:creationId xmlns:a16="http://schemas.microsoft.com/office/drawing/2014/main" id="{4FACCEEE-5469-CC54-C90B-C9C1BF3F2B90}"/>
              </a:ext>
            </a:extLst>
          </p:cNvPr>
          <p:cNvSpPr>
            <a:spLocks noGrp="1"/>
          </p:cNvSpPr>
          <p:nvPr>
            <p:ph type="subTitle" idx="1" hasCustomPrompt="1"/>
          </p:nvPr>
        </p:nvSpPr>
        <p:spPr bwMode="gray">
          <a:xfrm>
            <a:off x="380048" y="3810000"/>
            <a:ext cx="479393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noProof="0"/>
              <a:t>Click to edit Master subtitle style</a:t>
            </a:r>
          </a:p>
        </p:txBody>
      </p:sp>
      <p:sp>
        <p:nvSpPr>
          <p:cNvPr id="13" name="NTT DATA Global Logo" descr="NTT DATA Global Logo">
            <a:extLst>
              <a:ext uri="{FF2B5EF4-FFF2-40B4-BE49-F238E27FC236}">
                <a16:creationId xmlns:a16="http://schemas.microsoft.com/office/drawing/2014/main" id="{A6808F4F-EA69-F71A-723C-E607F8187929}"/>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9170702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_Cover_Full Image, Partia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2" name="Footer Placeholder 4">
            <a:extLst>
              <a:ext uri="{FF2B5EF4-FFF2-40B4-BE49-F238E27FC236}">
                <a16:creationId xmlns:a16="http://schemas.microsoft.com/office/drawing/2014/main" id="{EB69904B-F3B0-9924-1277-D5E10CC8F93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CAC54234-1FA8-405C-8808-D7CF2A79BFC4}" type="datetimeyyyy">
              <a:rPr lang="en-US" smtClean="0"/>
              <a:pPr/>
              <a:t>2026</a:t>
            </a:fld>
            <a:r>
              <a:rPr lang="en-US"/>
              <a:t> NTT DATA Business Solutions</a:t>
            </a:r>
          </a:p>
        </p:txBody>
      </p:sp>
      <p:sp>
        <p:nvSpPr>
          <p:cNvPr id="8" name="Innovation Curve">
            <a:extLst>
              <a:ext uri="{FF2B5EF4-FFF2-40B4-BE49-F238E27FC236}">
                <a16:creationId xmlns:a16="http://schemas.microsoft.com/office/drawing/2014/main" id="{F707DE12-3594-93EB-F056-2B2C43B24781}"/>
              </a:ext>
            </a:extLst>
          </p:cNvPr>
          <p:cNvSpPr>
            <a:spLocks noGrp="1"/>
          </p:cNvSpPr>
          <p:nvPr>
            <p:ph type="body" sz="quarter" idx="22" hasCustomPrompt="1"/>
          </p:nvPr>
        </p:nvSpPr>
        <p:spPr bwMode="gray">
          <a:xfrm>
            <a:off x="7637463" y="3175"/>
            <a:ext cx="4554537" cy="6856413"/>
          </a:xfrm>
          <a:blipFill>
            <a:blip r:embed="rId2"/>
            <a:stretch>
              <a:fillRect/>
            </a:stretch>
          </a:blipFill>
        </p:spPr>
        <p:txBody>
          <a:bodyPr/>
          <a:lstStyle>
            <a:lvl1pPr>
              <a:defRPr sz="200"/>
            </a:lvl1pPr>
          </a:lstStyle>
          <a:p>
            <a:pPr lvl="0"/>
            <a:r>
              <a:rPr lang="de-DE"/>
              <a:t>.  </a:t>
            </a:r>
          </a:p>
        </p:txBody>
      </p:sp>
      <p:sp>
        <p:nvSpPr>
          <p:cNvPr id="11" name="Date Placeholder 3">
            <a:extLst>
              <a:ext uri="{FF2B5EF4-FFF2-40B4-BE49-F238E27FC236}">
                <a16:creationId xmlns:a16="http://schemas.microsoft.com/office/drawing/2014/main" id="{612179AF-A82A-2C38-AA6E-ADD8AE770B1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8" y="2438400"/>
            <a:ext cx="679799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8" y="3810000"/>
            <a:ext cx="679799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13" name="NTT DATA Global Logo" descr="NTT DATA Global Logo">
            <a:extLst>
              <a:ext uri="{FF2B5EF4-FFF2-40B4-BE49-F238E27FC236}">
                <a16:creationId xmlns:a16="http://schemas.microsoft.com/office/drawing/2014/main" id="{F1A70F1C-0C1D-4983-5A07-15932C342795}"/>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2" name="Info box">
            <a:extLst>
              <a:ext uri="{FF2B5EF4-FFF2-40B4-BE49-F238E27FC236}">
                <a16:creationId xmlns:a16="http://schemas.microsoft.com/office/drawing/2014/main" id="{FEFADB67-55CA-B657-EB4D-19C9E2824C84}"/>
              </a:ext>
            </a:extLst>
          </p:cNvPr>
          <p:cNvSpPr>
            <a:spLocks noGrp="1"/>
          </p:cNvSpPr>
          <p:nvPr>
            <p:ph sz="quarter" idx="18" hasCustomPrompt="1"/>
          </p:nvPr>
        </p:nvSpPr>
        <p:spPr bwMode="gray">
          <a:xfrm>
            <a:off x="371475" y="5875374"/>
            <a:ext cx="2737108" cy="395869"/>
          </a:xfrm>
          <a:prstGeom prst="rect">
            <a:avLst/>
          </a:prstGeom>
          <a:ln>
            <a:noFill/>
          </a:ln>
        </p:spPr>
        <p:txBody>
          <a:bodyPr wrap="square" lIns="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87491194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_Cover_Full Image Only">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7" y="2438400"/>
            <a:ext cx="11440477"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7" y="3810000"/>
            <a:ext cx="11440477"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8" name="Date Placeholder 3">
            <a:extLst>
              <a:ext uri="{FF2B5EF4-FFF2-40B4-BE49-F238E27FC236}">
                <a16:creationId xmlns:a16="http://schemas.microsoft.com/office/drawing/2014/main" id="{3FF38E4A-7B13-70A1-52C6-61A780336E87}"/>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9" name="Footer Placeholder 4">
            <a:extLst>
              <a:ext uri="{FF2B5EF4-FFF2-40B4-BE49-F238E27FC236}">
                <a16:creationId xmlns:a16="http://schemas.microsoft.com/office/drawing/2014/main" id="{A3B868D7-8467-2439-DEEF-BBA9DFE908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90C8C838-69F1-4A88-83C8-69278B6E8531}" type="datetimeyyyy">
              <a:rPr lang="en-US" smtClean="0"/>
              <a:pPr/>
              <a:t>2026</a:t>
            </a:fld>
            <a:r>
              <a:rPr lang="en-US"/>
              <a:t> NTT DATA Business Solutions</a:t>
            </a:r>
          </a:p>
        </p:txBody>
      </p:sp>
      <p:sp>
        <p:nvSpPr>
          <p:cNvPr id="11" name="NTT DATA Global Logo" descr="NTT DATA Global Logo">
            <a:extLst>
              <a:ext uri="{FF2B5EF4-FFF2-40B4-BE49-F238E27FC236}">
                <a16:creationId xmlns:a16="http://schemas.microsoft.com/office/drawing/2014/main" id="{A2A24C7A-90C2-A7EA-697B-7A559561F657}"/>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4" name="Info box">
            <a:extLst>
              <a:ext uri="{FF2B5EF4-FFF2-40B4-BE49-F238E27FC236}">
                <a16:creationId xmlns:a16="http://schemas.microsoft.com/office/drawing/2014/main" id="{4E601763-0A29-584B-E5B8-0EC4B769B754}"/>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47993551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_Cover_Dark_Image Bottom">
    <p:bg>
      <p:bgPr>
        <a:solidFill>
          <a:schemeClr val="bg1"/>
        </a:solidFill>
        <a:effectLst/>
      </p:bgPr>
    </p:bg>
    <p:spTree>
      <p:nvGrpSpPr>
        <p:cNvPr id="1" name=""/>
        <p:cNvGrpSpPr/>
        <p:nvPr/>
      </p:nvGrpSpPr>
      <p:grpSpPr>
        <a:xfrm>
          <a:off x="0" y="0"/>
          <a:ext cx="0" cy="0"/>
          <a:chOff x="0" y="0"/>
          <a:chExt cx="0" cy="0"/>
        </a:xfrm>
      </p:grpSpPr>
      <p:sp>
        <p:nvSpPr>
          <p:cNvPr id="2" name="Smart Navy SemiTrans Overlay">
            <a:extLst>
              <a:ext uri="{FF2B5EF4-FFF2-40B4-BE49-F238E27FC236}">
                <a16:creationId xmlns:a16="http://schemas.microsoft.com/office/drawing/2014/main" id="{814008A9-48D1-A825-2133-305473A22B10}"/>
              </a:ext>
            </a:extLst>
          </p:cNvPr>
          <p:cNvSpPr>
            <a:spLocks noGrp="1"/>
          </p:cNvSpPr>
          <p:nvPr>
            <p:ph type="body" sz="quarter" idx="25" hasCustomPrompt="1"/>
          </p:nvPr>
        </p:nvSpPr>
        <p:spPr bwMode="blackGray">
          <a:xfrm>
            <a:off x="0" y="3348318"/>
            <a:ext cx="12192000" cy="3509682"/>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blackGray">
          <a:xfrm>
            <a:off x="0" y="3348318"/>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blackGray">
          <a:xfrm>
            <a:off x="371475" y="2096604"/>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tx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blackGray">
          <a:xfrm>
            <a:off x="371475" y="1412875"/>
            <a:ext cx="11449050" cy="651610"/>
          </a:xfrm>
        </p:spPr>
        <p:txBody>
          <a:bodyPr/>
          <a:lstStyle>
            <a:lvl1pPr>
              <a:defRPr sz="4400" b="0">
                <a:solidFill>
                  <a:schemeClr val="tx1"/>
                </a:solidFill>
              </a:defRPr>
            </a:lvl1pPr>
          </a:lstStyle>
          <a:p>
            <a:r>
              <a:rPr lang="en-US"/>
              <a:t>Click to edit title</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blackGray">
          <a:xfrm>
            <a:off x="11031855" y="3147301"/>
            <a:ext cx="788669"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blackGray">
          <a:xfrm>
            <a:off x="371475" y="3147301"/>
            <a:ext cx="571690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597FD9C0-2C0D-4EB7-8F4A-D7A85431A400}" type="datetimeyyyy">
              <a:rPr lang="en-US" smtClean="0"/>
              <a:pPr/>
              <a:t>2026</a:t>
            </a:fld>
            <a:r>
              <a:rPr lang="en-US"/>
              <a:t> NTT DATA Business Solutions</a:t>
            </a:r>
          </a:p>
        </p:txBody>
      </p:sp>
      <p:sp>
        <p:nvSpPr>
          <p:cNvPr id="5" name="Innovation Curve Over v02">
            <a:extLst>
              <a:ext uri="{FF2B5EF4-FFF2-40B4-BE49-F238E27FC236}">
                <a16:creationId xmlns:a16="http://schemas.microsoft.com/office/drawing/2014/main" id="{7A6AA644-177D-9E4C-8A3F-250C66632BB5}"/>
              </a:ext>
            </a:extLst>
          </p:cNvPr>
          <p:cNvSpPr>
            <a:spLocks noGrp="1"/>
          </p:cNvSpPr>
          <p:nvPr>
            <p:ph type="body" sz="quarter" idx="24" hasCustomPrompt="1"/>
          </p:nvPr>
        </p:nvSpPr>
        <p:spPr bwMode="blackGray">
          <a:xfrm>
            <a:off x="9067800" y="3733800"/>
            <a:ext cx="2752725" cy="2743200"/>
          </a:xfrm>
          <a:blipFill>
            <a:blip r:embed="rId2"/>
            <a:stretch>
              <a:fillRect/>
            </a:stretch>
          </a:blipFill>
        </p:spPr>
        <p:txBody>
          <a:bodyPr/>
          <a:lstStyle>
            <a:lvl1pPr>
              <a:defRPr sz="200"/>
            </a:lvl1pPr>
            <a:lvl2pPr>
              <a:defRPr sz="200"/>
            </a:lvl2pPr>
            <a:lvl3pPr>
              <a:defRPr sz="200"/>
            </a:lvl3pPr>
            <a:lvl4pPr>
              <a:defRPr sz="200"/>
            </a:lvl4pPr>
            <a:lvl5pPr>
              <a:defRPr sz="200"/>
            </a:lvl5pPr>
          </a:lstStyle>
          <a:p>
            <a:pPr lvl="0"/>
            <a:r>
              <a:rPr lang="de-DE"/>
              <a:t>.    </a:t>
            </a:r>
          </a:p>
        </p:txBody>
      </p:sp>
      <p:sp>
        <p:nvSpPr>
          <p:cNvPr id="14" name="NTT DATA Global Logo" descr="NTT DATA Global Logo">
            <a:extLst>
              <a:ext uri="{FF2B5EF4-FFF2-40B4-BE49-F238E27FC236}">
                <a16:creationId xmlns:a16="http://schemas.microsoft.com/office/drawing/2014/main" id="{94BFDE7A-6BFD-69BD-47EF-32959BB94847}"/>
              </a:ext>
            </a:extLst>
          </p:cNvPr>
          <p:cNvSpPr>
            <a:spLocks noGrp="1" noRot="1" noMove="1" noResize="1" noEditPoints="1" noAdjustHandles="1" noChangeArrowheads="1" noChangeShapeType="1"/>
          </p:cNvSpPr>
          <p:nvPr>
            <p:ph type="body" sz="quarter" idx="15" hasCustomPrompt="1"/>
          </p:nvPr>
        </p:nvSpPr>
        <p:spPr bwMode="black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tx1"/>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8" name="Info box">
            <a:extLst>
              <a:ext uri="{FF2B5EF4-FFF2-40B4-BE49-F238E27FC236}">
                <a16:creationId xmlns:a16="http://schemas.microsoft.com/office/drawing/2014/main" id="{AE1EAEE1-83E0-EC11-9F89-70F17E559B64}"/>
              </a:ext>
            </a:extLst>
          </p:cNvPr>
          <p:cNvSpPr>
            <a:spLocks noGrp="1"/>
          </p:cNvSpPr>
          <p:nvPr>
            <p:ph sz="quarter" idx="18" hasCustomPrompt="1"/>
          </p:nvPr>
        </p:nvSpPr>
        <p:spPr bwMode="black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6320253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_Divider_Image Lef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tx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3" name="Slide Number Placeholder 5">
            <a:extLst>
              <a:ext uri="{FF2B5EF4-FFF2-40B4-BE49-F238E27FC236}">
                <a16:creationId xmlns:a16="http://schemas.microsoft.com/office/drawing/2014/main" id="{B6615A63-B90D-3E21-FFCC-8BD272C8F67E}"/>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Footer Placeholder 4">
            <a:extLst>
              <a:ext uri="{FF2B5EF4-FFF2-40B4-BE49-F238E27FC236}">
                <a16:creationId xmlns:a16="http://schemas.microsoft.com/office/drawing/2014/main" id="{75F0D2DC-FE73-D4FE-FDBD-22395D919787}"/>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74C9FC40-9B76-46DD-95D1-6E3BA225020E}" type="datetimeyyyy">
              <a:rPr lang="en-US" smtClean="0"/>
              <a:pPr/>
              <a:t>2026</a:t>
            </a:fld>
            <a:r>
              <a:rPr lang="en-US"/>
              <a:t> NTT DATA Business Solutions</a:t>
            </a:r>
          </a:p>
        </p:txBody>
      </p:sp>
      <p:pic>
        <p:nvPicPr>
          <p:cNvPr id="2" name="NTT DATA Global Logo">
            <a:extLst>
              <a:ext uri="{FF2B5EF4-FFF2-40B4-BE49-F238E27FC236}">
                <a16:creationId xmlns:a16="http://schemas.microsoft.com/office/drawing/2014/main" id="{91377113-D3FC-0078-8B49-12CE1897000D}"/>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75386427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tx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38796B9-378E-46D3-8667-FEEF528FDDEC}" type="datetimeyyyy">
              <a:rPr lang="en-US" smtClean="0"/>
              <a:pPr/>
              <a:t>2026</a:t>
            </a:fld>
            <a:r>
              <a:rPr lang="en-US"/>
              <a:t> NTT DATA Business Solutions</a:t>
            </a:r>
            <a:endParaRPr lang="pt-B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8" name="Innovation Curve">
            <a:extLst>
              <a:ext uri="{FF2B5EF4-FFF2-40B4-BE49-F238E27FC236}">
                <a16:creationId xmlns:a16="http://schemas.microsoft.com/office/drawing/2014/main" id="{8FAD0C94-F295-1BA4-75E9-C0403855E0F0}"/>
              </a:ext>
            </a:extLst>
          </p:cNvPr>
          <p:cNvPicPr>
            <a:picLocks noChangeAspect="1"/>
          </p:cNvPicPr>
          <p:nvPr userDrawn="1"/>
        </p:nvPicPr>
        <p:blipFill>
          <a:blip r:embed="rId2"/>
          <a:stretch>
            <a:fillRect/>
          </a:stretch>
        </p:blipFill>
        <p:spPr bwMode="gray">
          <a:xfrm>
            <a:off x="7940970" y="2281852"/>
            <a:ext cx="3879556" cy="3890348"/>
          </a:xfrm>
          <a:prstGeom prst="rect">
            <a:avLst/>
          </a:prstGeom>
        </p:spPr>
      </p:pic>
      <p:pic>
        <p:nvPicPr>
          <p:cNvPr id="2" name="NTT DATA Global Logo">
            <a:extLst>
              <a:ext uri="{FF2B5EF4-FFF2-40B4-BE49-F238E27FC236}">
                <a16:creationId xmlns:a16="http://schemas.microsoft.com/office/drawing/2014/main" id="{987BF35F-3F50-08F3-8D15-31BD7A9C8DD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2452153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Dark">
    <p:bg bwMode="gray">
      <p:bgPr>
        <a:solidFill>
          <a:schemeClr val="bg1"/>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tx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1" name="Footer Placeholder 4">
            <a:extLst>
              <a:ext uri="{FF2B5EF4-FFF2-40B4-BE49-F238E27FC236}">
                <a16:creationId xmlns:a16="http://schemas.microsoft.com/office/drawing/2014/main" id="{8795E080-1F31-4238-044C-F377C0E253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9668DDF2-5539-4C64-B51E-45328E8C8100}" type="datetimeyyyy">
              <a:rPr lang="en-US" smtClean="0"/>
              <a:pPr/>
              <a:t>2026</a:t>
            </a:fld>
            <a:r>
              <a:rPr lang="en-US"/>
              <a:t> NTT DATA Business Solutions</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3" name="Picture 6">
            <a:extLst>
              <a:ext uri="{FF2B5EF4-FFF2-40B4-BE49-F238E27FC236}">
                <a16:creationId xmlns:a16="http://schemas.microsoft.com/office/drawing/2014/main" id="{B2FCF57D-17C6-2F3A-C1B3-1679B62BF96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4" name="Picture Placeholder 9">
            <a:extLst>
              <a:ext uri="{FF2B5EF4-FFF2-40B4-BE49-F238E27FC236}">
                <a16:creationId xmlns:a16="http://schemas.microsoft.com/office/drawing/2014/main" id="{DA704BD6-71C6-D230-9A15-8A46EC1807B4}"/>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tx1"/>
                </a:solidFill>
              </a:defRPr>
            </a:lvl1pPr>
          </a:lstStyle>
          <a:p>
            <a:r>
              <a:rPr lang="en-US"/>
              <a:t> </a:t>
            </a:r>
          </a:p>
        </p:txBody>
      </p:sp>
      <p:pic>
        <p:nvPicPr>
          <p:cNvPr id="5" name="NTT DATA Global Logo">
            <a:extLst>
              <a:ext uri="{FF2B5EF4-FFF2-40B4-BE49-F238E27FC236}">
                <a16:creationId xmlns:a16="http://schemas.microsoft.com/office/drawing/2014/main" id="{40BBFFC1-D005-08F1-476C-65A66B022C1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32281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D10386A-F078-491A-8D58-536D4066CAE5}"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B18BBE7-C0B1-433C-C1FB-77CC445ED76C}"/>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16012281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11449050" cy="4824413"/>
          </a:xfrm>
          <a:prstGeom prst="rect">
            <a:avLst/>
          </a:prstGeom>
        </p:spPr>
        <p:txBody>
          <a:bodyPr/>
          <a:lstStyle>
            <a:lvl5pPr>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DFA3239-C15A-474F-8375-EAFB75B7CFEF}"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9D77B0C1-47DE-D752-F8F4-67E31C7AA3E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414246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F7E5354F-5D5C-4EBE-9D03-4D1B78390218}"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BBA64611-343A-9E49-2D7D-AA03EB859BC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3622517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EE027318-DC80-495D-AFAF-E18878B6633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NTT DATA Global Logo">
            <a:extLst>
              <a:ext uri="{FF2B5EF4-FFF2-40B4-BE49-F238E27FC236}">
                <a16:creationId xmlns:a16="http://schemas.microsoft.com/office/drawing/2014/main" id="{FF0B8393-09C3-CC63-5D9F-0CCE0ECBD1D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46141113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D38E7A-A406-43F6-B835-86F3B8D8FE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a:prstGeom prst="rect">
            <a:avLst/>
          </a:prstGeo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NTT DATA Global Logo">
            <a:extLst>
              <a:ext uri="{FF2B5EF4-FFF2-40B4-BE49-F238E27FC236}">
                <a16:creationId xmlns:a16="http://schemas.microsoft.com/office/drawing/2014/main" id="{BB649A13-1D55-F782-6BA0-07A21B198CC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13831083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_Blank_Dark">
    <p:bg bwMode="gray">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97295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_Blank_Dark with footer">
    <p:bg>
      <p:bgPr>
        <a:solidFill>
          <a:schemeClr val="bg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15873F1B-5874-42D0-A696-0B3215E0D373}"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74E6DC6-6A66-6292-0D41-4D1C2A2B42E4}"/>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513795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_Picture Full Dark">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a:t>
            </a:r>
          </a:p>
        </p:txBody>
      </p:sp>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prstGeom prst="rect">
            <a:avLst/>
          </a:prstGeom>
          <a:noFill/>
        </p:spPr>
        <p:txBody>
          <a:bodyPr anchor="ctr" anchorCtr="0"/>
          <a:lstStyle>
            <a:lvl1pPr algn="ctr">
              <a:defRPr sz="2000">
                <a:solidFill>
                  <a:schemeClr val="tx1"/>
                </a:solidFill>
              </a:defRPr>
            </a:lvl1pPr>
          </a:lstStyle>
          <a:p>
            <a:r>
              <a:rPr lang="en-US"/>
              <a:t>Click to add picture</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627D29-01CA-45AE-AA96-E5F5F8B65171}" type="datetimeyyyy">
              <a:rPr lang="en-US" smtClean="0"/>
              <a:pPr/>
              <a:t>2026</a:t>
            </a:fld>
            <a:r>
              <a:rPr lang="en-US"/>
              <a:t>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3" name="NTT DATA Global Logo" descr="NTT DATA Global Logo">
            <a:extLst>
              <a:ext uri="{FF2B5EF4-FFF2-40B4-BE49-F238E27FC236}">
                <a16:creationId xmlns:a16="http://schemas.microsoft.com/office/drawing/2014/main" id="{5AC7748B-57B0-6A46-ED50-8FBD40E607A6}"/>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pic>
        <p:nvPicPr>
          <p:cNvPr id="4" name="NTT DATA Global Logo">
            <a:extLst>
              <a:ext uri="{FF2B5EF4-FFF2-40B4-BE49-F238E27FC236}">
                <a16:creationId xmlns:a16="http://schemas.microsoft.com/office/drawing/2014/main" id="{83EC9D68-5C41-C31D-EB18-96A697C9BA3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1892377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_Picture Right Dark">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AA83344-56E8-47BE-A4E0-E587B2A68A28}"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Textplatzhalter 6">
            <a:extLst>
              <a:ext uri="{FF2B5EF4-FFF2-40B4-BE49-F238E27FC236}">
                <a16:creationId xmlns:a16="http://schemas.microsoft.com/office/drawing/2014/main" id="{04FE43F0-9475-52DB-0AB8-607E056B6CF5}"/>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41015547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_Picture Left Dark">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9" name="Slide Number Placeholder 5">
            <a:extLst>
              <a:ext uri="{FF2B5EF4-FFF2-40B4-BE49-F238E27FC236}">
                <a16:creationId xmlns:a16="http://schemas.microsoft.com/office/drawing/2014/main" id="{66B71A8E-A74B-23B8-28AD-0C986AB97272}"/>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Footer Placeholder 4">
            <a:extLst>
              <a:ext uri="{FF2B5EF4-FFF2-40B4-BE49-F238E27FC236}">
                <a16:creationId xmlns:a16="http://schemas.microsoft.com/office/drawing/2014/main" id="{74F142D3-5E2E-9408-9D9E-9CA5030073C1}"/>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AD7FA85E-D215-4505-A5E0-BBBC93189A0A}" type="datetimeyyyy">
              <a:rPr lang="en-US" smtClean="0"/>
              <a:pPr/>
              <a:t>2026</a:t>
            </a:fld>
            <a:r>
              <a:rPr lang="en-US"/>
              <a:t> NTT DATA Business Solutions</a:t>
            </a:r>
          </a:p>
        </p:txBody>
      </p:sp>
      <p:sp>
        <p:nvSpPr>
          <p:cNvPr id="14" name="Title 5">
            <a:extLst>
              <a:ext uri="{FF2B5EF4-FFF2-40B4-BE49-F238E27FC236}">
                <a16:creationId xmlns:a16="http://schemas.microsoft.com/office/drawing/2014/main" id="{5D998802-8F7B-9A10-0DF7-61FBFD6E1226}"/>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pic>
        <p:nvPicPr>
          <p:cNvPr id="2" name="NTT DATA Global Logo">
            <a:extLst>
              <a:ext uri="{FF2B5EF4-FFF2-40B4-BE49-F238E27FC236}">
                <a16:creationId xmlns:a16="http://schemas.microsoft.com/office/drawing/2014/main" id="{73F571C9-CF98-F67F-957F-8265380512A9}"/>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68277710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_Picture Bottom Dark">
    <p:bg>
      <p:bgPr>
        <a:solidFill>
          <a:schemeClr val="bg1"/>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9D6E3DA0-BCD2-8707-7E1B-E56623F855B7}"/>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5" name="Text Placeholder 5">
            <a:extLst>
              <a:ext uri="{FF2B5EF4-FFF2-40B4-BE49-F238E27FC236}">
                <a16:creationId xmlns:a16="http://schemas.microsoft.com/office/drawing/2014/main" id="{1FC868B2-987D-36AF-7388-FCE1616A30D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478FDE9-A584-42E0-91CD-13D17EDA1F93}"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C20AB549-57A1-AE9C-6237-51C9E313364C}"/>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pic>
        <p:nvPicPr>
          <p:cNvPr id="2" name="NTT DATA Global Logo">
            <a:extLst>
              <a:ext uri="{FF2B5EF4-FFF2-40B4-BE49-F238E27FC236}">
                <a16:creationId xmlns:a16="http://schemas.microsoft.com/office/drawing/2014/main" id="{38161A5B-58EE-27E8-D486-13EF62F8DD6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9321964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_Picture Three Dark">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B6A5A95-B921-455D-B80B-6528757A9B15}"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4" name="Textplatzhalter 13">
            <a:extLst>
              <a:ext uri="{FF2B5EF4-FFF2-40B4-BE49-F238E27FC236}">
                <a16:creationId xmlns:a16="http://schemas.microsoft.com/office/drawing/2014/main" id="{AC42C376-0AFE-66AC-AD48-D7DF83D28D5E}"/>
              </a:ext>
            </a:extLst>
          </p:cNvPr>
          <p:cNvSpPr>
            <a:spLocks noGrp="1"/>
          </p:cNvSpPr>
          <p:nvPr>
            <p:ph type="body" sz="quarter" idx="16"/>
          </p:nvPr>
        </p:nvSpPr>
        <p:spPr bwMode="gray">
          <a:xfrm>
            <a:off x="37147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5" name="Textplatzhalter 13">
            <a:extLst>
              <a:ext uri="{FF2B5EF4-FFF2-40B4-BE49-F238E27FC236}">
                <a16:creationId xmlns:a16="http://schemas.microsoft.com/office/drawing/2014/main" id="{697B4F67-9197-1F0C-06C1-2D7581F2472B}"/>
              </a:ext>
            </a:extLst>
          </p:cNvPr>
          <p:cNvSpPr>
            <a:spLocks noGrp="1"/>
          </p:cNvSpPr>
          <p:nvPr>
            <p:ph type="body" sz="quarter" idx="17"/>
          </p:nvPr>
        </p:nvSpPr>
        <p:spPr bwMode="gray">
          <a:xfrm>
            <a:off x="4267201"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6" name="Textplatzhalter 13">
            <a:extLst>
              <a:ext uri="{FF2B5EF4-FFF2-40B4-BE49-F238E27FC236}">
                <a16:creationId xmlns:a16="http://schemas.microsoft.com/office/drawing/2014/main" id="{3BAF9EDB-8398-EBF9-65E7-486218682E84}"/>
              </a:ext>
            </a:extLst>
          </p:cNvPr>
          <p:cNvSpPr>
            <a:spLocks noGrp="1"/>
          </p:cNvSpPr>
          <p:nvPr>
            <p:ph type="body" sz="quarter" idx="18"/>
          </p:nvPr>
        </p:nvSpPr>
        <p:spPr bwMode="gray">
          <a:xfrm>
            <a:off x="816292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pic>
        <p:nvPicPr>
          <p:cNvPr id="2" name="NTT DATA Global Logo">
            <a:extLst>
              <a:ext uri="{FF2B5EF4-FFF2-40B4-BE49-F238E27FC236}">
                <a16:creationId xmlns:a16="http://schemas.microsoft.com/office/drawing/2014/main" id="{D6666F33-0E1D-209D-D623-1D4231D25DD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045585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_Picture Collection Dark">
    <p:bg bwMode="gray">
      <p:bgPr>
        <a:solidFill>
          <a:schemeClr val="bg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5E2ACA5-37E6-4AC5-8853-C5E4A1E0FC77}"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0" name="Picture Placeholder 25">
            <a:extLst>
              <a:ext uri="{FF2B5EF4-FFF2-40B4-BE49-F238E27FC236}">
                <a16:creationId xmlns:a16="http://schemas.microsoft.com/office/drawing/2014/main" id="{0C8FF3E1-7296-5F16-4A05-46FE6C63B735}"/>
              </a:ex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3" name="Rounded Rectangle 12">
            <a:extLst>
              <a:ext uri="{FF2B5EF4-FFF2-40B4-BE49-F238E27FC236}">
                <a16:creationId xmlns:a16="http://schemas.microsoft.com/office/drawing/2014/main" id="{40AB8DA9-A69B-4E07-649F-D7F377939A43}"/>
              </a:ex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tx1"/>
              </a:solidFill>
              <a:latin typeface="+mn-lt"/>
            </a:endParaRPr>
          </a:p>
        </p:txBody>
      </p:sp>
      <p:sp>
        <p:nvSpPr>
          <p:cNvPr id="27" name="Picture Placeholder 25">
            <a:extLst>
              <a:ext uri="{FF2B5EF4-FFF2-40B4-BE49-F238E27FC236}">
                <a16:creationId xmlns:a16="http://schemas.microsoft.com/office/drawing/2014/main" id="{FD37530F-3C4A-7D5E-92A7-0ECB53BEF791}"/>
              </a:ex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0" name="Picture Placeholder 25">
            <a:extLst>
              <a:ext uri="{FF2B5EF4-FFF2-40B4-BE49-F238E27FC236}">
                <a16:creationId xmlns:a16="http://schemas.microsoft.com/office/drawing/2014/main" id="{E9885110-503F-60E9-B051-6A81233C1D93}"/>
              </a:ex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1" name="Text Placeholder 4">
            <a:extLst>
              <a:ext uri="{FF2B5EF4-FFF2-40B4-BE49-F238E27FC236}">
                <a16:creationId xmlns:a16="http://schemas.microsoft.com/office/drawing/2014/main" id="{C71208CF-104A-8CA6-560F-DD8F1E42F180}"/>
              </a:ext>
            </a:extLst>
          </p:cNvPr>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2" name="Text Placeholder 4">
            <a:extLst>
              <a:ext uri="{FF2B5EF4-FFF2-40B4-BE49-F238E27FC236}">
                <a16:creationId xmlns:a16="http://schemas.microsoft.com/office/drawing/2014/main" id="{3DC9B537-F308-5D0A-0ADB-686C85DB162E}"/>
              </a:ext>
            </a:extLst>
          </p:cNvPr>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33" name="Text Placeholder 4">
            <a:extLst>
              <a:ext uri="{FF2B5EF4-FFF2-40B4-BE49-F238E27FC236}">
                <a16:creationId xmlns:a16="http://schemas.microsoft.com/office/drawing/2014/main" id="{43A55220-973F-D77F-0512-928E00FD23A5}"/>
              </a:ext>
            </a:extLst>
          </p:cNvPr>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4" name="Text Placeholder 4">
            <a:extLst>
              <a:ext uri="{FF2B5EF4-FFF2-40B4-BE49-F238E27FC236}">
                <a16:creationId xmlns:a16="http://schemas.microsoft.com/office/drawing/2014/main" id="{C8D66836-BE4C-186F-91EC-6185CD7DBB8F}"/>
              </a:ext>
            </a:extLst>
          </p:cNvPr>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5" name="Text Placeholder 4">
            <a:extLst>
              <a:ext uri="{FF2B5EF4-FFF2-40B4-BE49-F238E27FC236}">
                <a16:creationId xmlns:a16="http://schemas.microsoft.com/office/drawing/2014/main" id="{BF07220C-71BF-2AC7-BDED-7C252C625877}"/>
              </a:ext>
            </a:extLst>
          </p:cNvPr>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6" name="Text Placeholder 4">
            <a:extLst>
              <a:ext uri="{FF2B5EF4-FFF2-40B4-BE49-F238E27FC236}">
                <a16:creationId xmlns:a16="http://schemas.microsoft.com/office/drawing/2014/main" id="{8B870FE4-EEFB-FE24-2C58-DE2A16E0E9A1}"/>
              </a:ext>
            </a:extLst>
          </p:cNvPr>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7" name="Text Placeholder 4">
            <a:extLst>
              <a:ext uri="{FF2B5EF4-FFF2-40B4-BE49-F238E27FC236}">
                <a16:creationId xmlns:a16="http://schemas.microsoft.com/office/drawing/2014/main" id="{D6DDC3D0-182E-7130-0E50-6B1AB5C1DE01}"/>
              </a:ext>
            </a:extLst>
          </p:cNvPr>
          <p:cNvSpPr>
            <a:spLocks noGrp="1"/>
          </p:cNvSpPr>
          <p:nvPr>
            <p:ph type="body" sz="quarter" idx="19" hasCustomPrompt="1"/>
          </p:nvPr>
        </p:nvSpPr>
        <p:spPr bwMode="gray">
          <a:xfrm>
            <a:off x="9349318" y="4926695"/>
            <a:ext cx="2448000" cy="1310593"/>
          </a:xfrm>
          <a:prstGeom prst="roundRect">
            <a:avLst>
              <a:gd name="adj" fmla="val 0"/>
            </a:avLst>
          </a:prstGeom>
          <a:solidFill>
            <a:schemeClr val="accent1"/>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pic>
        <p:nvPicPr>
          <p:cNvPr id="2" name="NTT DATA Global Logo">
            <a:extLst>
              <a:ext uri="{FF2B5EF4-FFF2-40B4-BE49-F238E27FC236}">
                <a16:creationId xmlns:a16="http://schemas.microsoft.com/office/drawing/2014/main" id="{BC2D7FFE-7C11-9442-57CB-9B6B1CFA53A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02104171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28B5FB0A-DD38-445A-AA68-C027D13E2319}"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4CC7DCAF-B2CD-3B7D-E178-56F93103926F}"/>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4EAD1E1-380A-9FAF-070A-DDDC45ECCA22}"/>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96E5AC2D-397D-E319-0AFC-6808ACE8774F}"/>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02F9BFE-9706-DF6E-9360-FEE8A8D4CFAA}"/>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B80CD46D-FAAB-152C-4063-47492270BA8A}"/>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5D9E8C6F-5249-CF8D-CC8C-1D18DE96AA18}"/>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B4A5F30D-E180-8CDB-4CBF-B5E6B1CE30A7}"/>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tx1"/>
                </a:solidFill>
              </a:defRPr>
            </a:lvl1pPr>
          </a:lstStyle>
          <a:p>
            <a:pPr lvl="0"/>
            <a:r>
              <a:rPr lang="de-DE"/>
              <a:t>Phone</a:t>
            </a:r>
          </a:p>
        </p:txBody>
      </p:sp>
      <p:cxnSp>
        <p:nvCxnSpPr>
          <p:cNvPr id="12" name="Gerader Verbinder 11">
            <a:extLst>
              <a:ext uri="{FF2B5EF4-FFF2-40B4-BE49-F238E27FC236}">
                <a16:creationId xmlns:a16="http://schemas.microsoft.com/office/drawing/2014/main" id="{5FED17C3-FC4F-7B91-21C9-988C8D436F0F}"/>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NTT DATA Global Logo">
            <a:extLst>
              <a:ext uri="{FF2B5EF4-FFF2-40B4-BE49-F238E27FC236}">
                <a16:creationId xmlns:a16="http://schemas.microsoft.com/office/drawing/2014/main" id="{69D0DD74-37AC-F8AD-46F7-9F4589B95EF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583494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5A57F943-BF06-454D-8C31-3938EB3628AA}"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Bild">
            <a:extLst>
              <a:ext uri="{FF2B5EF4-FFF2-40B4-BE49-F238E27FC236}">
                <a16:creationId xmlns:a16="http://schemas.microsoft.com/office/drawing/2014/main" id="{557575C8-6431-12A3-895D-45BB2DD19B92}"/>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Textplatzhalter 19">
            <a:extLst>
              <a:ext uri="{FF2B5EF4-FFF2-40B4-BE49-F238E27FC236}">
                <a16:creationId xmlns:a16="http://schemas.microsoft.com/office/drawing/2014/main" id="{60BA97C1-891E-35D3-F7DE-6AE8C84863D9}"/>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FEDBECCC-E388-CA03-4920-90ECCB6A95D3}"/>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AF65C019-0E4A-C8B5-2DB7-5327455A0C2C}"/>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6837C6B5-3816-9533-A19D-78333F0AB2BF}"/>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99BDB956-AABF-98CD-09B7-A5EC2299F4BD}"/>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037CF607-A5F0-BFC7-29A0-45AFCA4ACA02}"/>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tx1"/>
                </a:solidFill>
              </a:defRPr>
            </a:lvl1pPr>
          </a:lstStyle>
          <a:p>
            <a:pPr lvl="0"/>
            <a:r>
              <a:rPr lang="de-DE"/>
              <a:t>Phone</a:t>
            </a:r>
          </a:p>
        </p:txBody>
      </p:sp>
      <p:sp>
        <p:nvSpPr>
          <p:cNvPr id="20" name="Bild">
            <a:extLst>
              <a:ext uri="{FF2B5EF4-FFF2-40B4-BE49-F238E27FC236}">
                <a16:creationId xmlns:a16="http://schemas.microsoft.com/office/drawing/2014/main" id="{0DC5AF74-C2A5-03C1-45C4-D1AEC581CF86}"/>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21" name="Textplatzhalter 19">
            <a:extLst>
              <a:ext uri="{FF2B5EF4-FFF2-40B4-BE49-F238E27FC236}">
                <a16:creationId xmlns:a16="http://schemas.microsoft.com/office/drawing/2014/main" id="{03A867AA-BA5A-EF00-0579-A03C42B90DCA}"/>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29DB1B20-A0AA-3176-2157-D9B1B9C9F529}"/>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F44048F5-2785-E175-C768-94D382B3205E}"/>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591E019D-0DF8-5E5A-6887-AEA97A38E551}"/>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59BBF415-E8BF-24F5-AE98-3FE40A27D7D2}"/>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1BFBAE5-787E-888E-9ECF-5EE31D61DAB6}"/>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tx1"/>
                </a:solidFill>
              </a:defRPr>
            </a:lvl1pPr>
          </a:lstStyle>
          <a:p>
            <a:pPr lvl="0"/>
            <a:r>
              <a:rPr lang="de-DE"/>
              <a:t>Phone</a:t>
            </a:r>
          </a:p>
        </p:txBody>
      </p:sp>
      <p:cxnSp>
        <p:nvCxnSpPr>
          <p:cNvPr id="27" name="Gerader Verbinder 26">
            <a:extLst>
              <a:ext uri="{FF2B5EF4-FFF2-40B4-BE49-F238E27FC236}">
                <a16:creationId xmlns:a16="http://schemas.microsoft.com/office/drawing/2014/main" id="{C9AD5D1A-461B-3847-37DC-3F545B1243CD}"/>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78432202-A57D-D4C4-FB2D-5F10E371FFEB}"/>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NTT DATA Global Logo">
            <a:extLst>
              <a:ext uri="{FF2B5EF4-FFF2-40B4-BE49-F238E27FC236}">
                <a16:creationId xmlns:a16="http://schemas.microsoft.com/office/drawing/2014/main" id="{82A6BDFC-7EFD-2325-DD81-554E7410057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90475448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77EC513-F3C5-40CF-B465-EBDDA5C543A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51A51BF0-AA6D-1885-7B29-DAC72D2AF768}"/>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9F52C55-3259-0C33-FD07-5925E2121A6E}"/>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EF08589A-2633-C015-C938-602F2A2EDE4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A193C798-666B-CFA8-4FEB-36FCAF36D180}"/>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44625A74-83E8-F51F-EFBE-AEDB3BF8954A}"/>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8EED522A-F794-7918-BA3A-79CC0B173978}"/>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1D2D5F28-B111-86F6-4619-F5613632036E}"/>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EEC25022-BC45-C31C-C72F-200DE9FA1720}"/>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4836C760-778A-4F6D-EBEB-546A906E5CFA}"/>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4" name="Textplatzhalter 19">
            <a:extLst>
              <a:ext uri="{FF2B5EF4-FFF2-40B4-BE49-F238E27FC236}">
                <a16:creationId xmlns:a16="http://schemas.microsoft.com/office/drawing/2014/main" id="{8676FDBA-6C0B-DF48-EC66-3F9242DE74B9}"/>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A3556B82-6BB4-F3B0-E5B6-47EBF82E1536}"/>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2F0C6954-5EF5-0769-11D8-E5623CDC684A}"/>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0A7C0463-46E8-836A-425E-520EE1E615DD}"/>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C80B01A0-93F7-8C78-C116-4B30F7A3B943}"/>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4B9D98AF-1F3D-E6FE-682D-C08B6C85CD01}"/>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tx1"/>
                </a:solidFill>
              </a:defRPr>
            </a:lvl1pPr>
          </a:lstStyle>
          <a:p>
            <a:pPr lvl="0"/>
            <a:r>
              <a:rPr lang="de-DE"/>
              <a:t>Phone</a:t>
            </a:r>
          </a:p>
        </p:txBody>
      </p:sp>
      <p:sp>
        <p:nvSpPr>
          <p:cNvPr id="20" name="Textplatzhalter 19">
            <a:extLst>
              <a:ext uri="{FF2B5EF4-FFF2-40B4-BE49-F238E27FC236}">
                <a16:creationId xmlns:a16="http://schemas.microsoft.com/office/drawing/2014/main" id="{5266AE98-2AD7-78F9-F979-0AC39C63E0B5}"/>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tx1"/>
                </a:solidFill>
              </a:defRPr>
            </a:lvl1pPr>
          </a:lstStyle>
          <a:p>
            <a:pPr lvl="0"/>
            <a:r>
              <a:rPr lang="de-DE"/>
              <a:t>Position</a:t>
            </a:r>
          </a:p>
        </p:txBody>
      </p:sp>
      <p:sp>
        <p:nvSpPr>
          <p:cNvPr id="21" name="Textplatzhalter 19">
            <a:extLst>
              <a:ext uri="{FF2B5EF4-FFF2-40B4-BE49-F238E27FC236}">
                <a16:creationId xmlns:a16="http://schemas.microsoft.com/office/drawing/2014/main" id="{103720EB-D9B6-49AD-DF01-D193E5155934}"/>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2" name="Textplatzhalter 19">
            <a:extLst>
              <a:ext uri="{FF2B5EF4-FFF2-40B4-BE49-F238E27FC236}">
                <a16:creationId xmlns:a16="http://schemas.microsoft.com/office/drawing/2014/main" id="{14B46577-2EBD-2125-A9B1-28F7ACDD530D}"/>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3" name="Textplatzhalter 19">
            <a:extLst>
              <a:ext uri="{FF2B5EF4-FFF2-40B4-BE49-F238E27FC236}">
                <a16:creationId xmlns:a16="http://schemas.microsoft.com/office/drawing/2014/main" id="{E561053D-76BE-23F3-9423-B6FE0032BED6}"/>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tx1"/>
                </a:solidFill>
              </a:defRPr>
            </a:lvl1pPr>
          </a:lstStyle>
          <a:p>
            <a:pPr lvl="0"/>
            <a:r>
              <a:rPr lang="de-DE"/>
              <a:t>Web</a:t>
            </a:r>
          </a:p>
        </p:txBody>
      </p:sp>
      <p:sp>
        <p:nvSpPr>
          <p:cNvPr id="24" name="Textplatzhalter 19">
            <a:extLst>
              <a:ext uri="{FF2B5EF4-FFF2-40B4-BE49-F238E27FC236}">
                <a16:creationId xmlns:a16="http://schemas.microsoft.com/office/drawing/2014/main" id="{5EF6677A-F4D2-D988-1B88-65B4A67BFD67}"/>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tx1"/>
                </a:solidFill>
              </a:defRPr>
            </a:lvl1pPr>
          </a:lstStyle>
          <a:p>
            <a:pPr lvl="0"/>
            <a:r>
              <a:rPr lang="de-DE"/>
              <a:t>E-Mail</a:t>
            </a:r>
          </a:p>
        </p:txBody>
      </p:sp>
      <p:sp>
        <p:nvSpPr>
          <p:cNvPr id="25" name="Textplatzhalter 19">
            <a:extLst>
              <a:ext uri="{FF2B5EF4-FFF2-40B4-BE49-F238E27FC236}">
                <a16:creationId xmlns:a16="http://schemas.microsoft.com/office/drawing/2014/main" id="{DE42BCAA-0097-FC55-9E39-E2DA01AB8211}"/>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tx1"/>
                </a:solidFill>
              </a:defRPr>
            </a:lvl1pPr>
          </a:lstStyle>
          <a:p>
            <a:pPr lvl="0"/>
            <a:r>
              <a:rPr lang="de-DE"/>
              <a:t>Phone</a:t>
            </a:r>
          </a:p>
        </p:txBody>
      </p:sp>
      <p:cxnSp>
        <p:nvCxnSpPr>
          <p:cNvPr id="26" name="Gerader Verbinder 25">
            <a:extLst>
              <a:ext uri="{FF2B5EF4-FFF2-40B4-BE49-F238E27FC236}">
                <a16:creationId xmlns:a16="http://schemas.microsoft.com/office/drawing/2014/main" id="{26DE7A2C-5491-28D9-D730-45BA7DE21B09}"/>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5816C62-917C-832A-5714-28DA0ACBF116}"/>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B7EF6E77-3587-D7D8-89F9-A87572A52709}"/>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9" name="NTT DATA Global Logo">
            <a:extLst>
              <a:ext uri="{FF2B5EF4-FFF2-40B4-BE49-F238E27FC236}">
                <a16:creationId xmlns:a16="http://schemas.microsoft.com/office/drawing/2014/main" id="{FF8A76E8-E49A-7BC0-5330-B859C35CD83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6213093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D69F77D-B589-4F3A-9274-29083AE57FBD}"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16F42730-80E4-1B1B-17CC-09DD2547C8D4}"/>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A939BA7A-C2B6-B9E0-A193-6357236B0D80}"/>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872571A5-732F-3D9E-6B4D-53CD31A3E045}"/>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788012F-3E41-D655-3CE5-5DFD616E5D86}"/>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58F5FD8B-4ED7-0B49-D043-DA4AB5508D4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4BB89FE6-D2B8-921A-6FAE-AC998BE60074}"/>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61275AD2-D3C0-38A7-9367-2B930FAF654B}"/>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20412483-972D-CC27-6764-E5EC7D460650}"/>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7A76F2C5-F2BC-1C10-AF54-2E6E56002251}"/>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Bild">
            <a:extLst>
              <a:ext uri="{FF2B5EF4-FFF2-40B4-BE49-F238E27FC236}">
                <a16:creationId xmlns:a16="http://schemas.microsoft.com/office/drawing/2014/main" id="{31975331-6B09-E7CE-F3DB-8C3FCD3B129C}"/>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5" name="Textplatzhalter 19">
            <a:extLst>
              <a:ext uri="{FF2B5EF4-FFF2-40B4-BE49-F238E27FC236}">
                <a16:creationId xmlns:a16="http://schemas.microsoft.com/office/drawing/2014/main" id="{F3E5FC0E-EF90-B021-52B2-0C1414C429DF}"/>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tx1"/>
                </a:solidFill>
              </a:defRPr>
            </a:lvl1pPr>
          </a:lstStyle>
          <a:p>
            <a:pPr lvl="0"/>
            <a:r>
              <a:rPr lang="de-DE"/>
              <a:t>Position</a:t>
            </a:r>
          </a:p>
        </p:txBody>
      </p:sp>
      <p:sp>
        <p:nvSpPr>
          <p:cNvPr id="16" name="Textplatzhalter 19">
            <a:extLst>
              <a:ext uri="{FF2B5EF4-FFF2-40B4-BE49-F238E27FC236}">
                <a16:creationId xmlns:a16="http://schemas.microsoft.com/office/drawing/2014/main" id="{89AE2A50-7EBD-6DC8-F352-D68DFD88E014}"/>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7" name="Textplatzhalter 19">
            <a:extLst>
              <a:ext uri="{FF2B5EF4-FFF2-40B4-BE49-F238E27FC236}">
                <a16:creationId xmlns:a16="http://schemas.microsoft.com/office/drawing/2014/main" id="{C64E8E40-1BCF-E2D4-0C28-A618217D249B}"/>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8" name="Textplatzhalter 19">
            <a:extLst>
              <a:ext uri="{FF2B5EF4-FFF2-40B4-BE49-F238E27FC236}">
                <a16:creationId xmlns:a16="http://schemas.microsoft.com/office/drawing/2014/main" id="{2A5D2E15-3913-600B-A8E7-01CD5A6376B1}"/>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tx1"/>
                </a:solidFill>
              </a:defRPr>
            </a:lvl1pPr>
          </a:lstStyle>
          <a:p>
            <a:pPr lvl="0"/>
            <a:r>
              <a:rPr lang="de-DE"/>
              <a:t>Web</a:t>
            </a:r>
          </a:p>
        </p:txBody>
      </p:sp>
      <p:sp>
        <p:nvSpPr>
          <p:cNvPr id="19" name="Textplatzhalter 19">
            <a:extLst>
              <a:ext uri="{FF2B5EF4-FFF2-40B4-BE49-F238E27FC236}">
                <a16:creationId xmlns:a16="http://schemas.microsoft.com/office/drawing/2014/main" id="{161D927A-3270-4618-BD8D-F8F3C7F146AC}"/>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tx1"/>
                </a:solidFill>
              </a:defRPr>
            </a:lvl1pPr>
          </a:lstStyle>
          <a:p>
            <a:pPr lvl="0"/>
            <a:r>
              <a:rPr lang="de-DE"/>
              <a:t>E-Mail</a:t>
            </a:r>
          </a:p>
        </p:txBody>
      </p:sp>
      <p:sp>
        <p:nvSpPr>
          <p:cNvPr id="20" name="Textplatzhalter 19">
            <a:extLst>
              <a:ext uri="{FF2B5EF4-FFF2-40B4-BE49-F238E27FC236}">
                <a16:creationId xmlns:a16="http://schemas.microsoft.com/office/drawing/2014/main" id="{49FD7A3D-D4F1-7AF5-6EAE-90907F3279DB}"/>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tx1"/>
                </a:solidFill>
              </a:defRPr>
            </a:lvl1pPr>
          </a:lstStyle>
          <a:p>
            <a:pPr lvl="0"/>
            <a:r>
              <a:rPr lang="de-DE"/>
              <a:t>Phone</a:t>
            </a:r>
          </a:p>
        </p:txBody>
      </p:sp>
      <p:sp>
        <p:nvSpPr>
          <p:cNvPr id="21" name="Textplatzhalter 19">
            <a:extLst>
              <a:ext uri="{FF2B5EF4-FFF2-40B4-BE49-F238E27FC236}">
                <a16:creationId xmlns:a16="http://schemas.microsoft.com/office/drawing/2014/main" id="{78FA88C9-C022-EA4F-DBB9-329D4DD284AD}"/>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523D24B7-3575-BF51-9C96-A605746B9364}"/>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D0A4412B-D399-9DC1-1EDD-AB58F5B659EB}"/>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8A69D7E2-534B-74ED-FE81-DB9ECE211ACB}"/>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C5F86150-5752-71F1-CED6-0E3F1ABACCFD}"/>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30AEDA0-5D4D-3F13-89C3-95D8541436B1}"/>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tx1"/>
                </a:solidFill>
              </a:defRPr>
            </a:lvl1pPr>
          </a:lstStyle>
          <a:p>
            <a:pPr lvl="0"/>
            <a:r>
              <a:rPr lang="de-DE"/>
              <a:t>Phone</a:t>
            </a:r>
          </a:p>
        </p:txBody>
      </p:sp>
      <p:sp>
        <p:nvSpPr>
          <p:cNvPr id="27" name="Textplatzhalter 19">
            <a:extLst>
              <a:ext uri="{FF2B5EF4-FFF2-40B4-BE49-F238E27FC236}">
                <a16:creationId xmlns:a16="http://schemas.microsoft.com/office/drawing/2014/main" id="{6BFB1882-F1D8-A85C-B839-ACF2C4545C7D}"/>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tx1"/>
                </a:solidFill>
              </a:defRPr>
            </a:lvl1pPr>
          </a:lstStyle>
          <a:p>
            <a:pPr lvl="0"/>
            <a:r>
              <a:rPr lang="de-DE"/>
              <a:t>Position</a:t>
            </a:r>
          </a:p>
        </p:txBody>
      </p:sp>
      <p:sp>
        <p:nvSpPr>
          <p:cNvPr id="28" name="Textplatzhalter 19">
            <a:extLst>
              <a:ext uri="{FF2B5EF4-FFF2-40B4-BE49-F238E27FC236}">
                <a16:creationId xmlns:a16="http://schemas.microsoft.com/office/drawing/2014/main" id="{D66D50FF-8651-7C92-87EE-7F052014F732}"/>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9" name="Textplatzhalter 19">
            <a:extLst>
              <a:ext uri="{FF2B5EF4-FFF2-40B4-BE49-F238E27FC236}">
                <a16:creationId xmlns:a16="http://schemas.microsoft.com/office/drawing/2014/main" id="{65AD2339-B0CC-988A-7A70-B4653D123BDF}"/>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0" name="Textplatzhalter 19">
            <a:extLst>
              <a:ext uri="{FF2B5EF4-FFF2-40B4-BE49-F238E27FC236}">
                <a16:creationId xmlns:a16="http://schemas.microsoft.com/office/drawing/2014/main" id="{1AE5C333-5F10-F2AC-AC41-4C02A80F0E9F}"/>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tx1"/>
                </a:solidFill>
              </a:defRPr>
            </a:lvl1pPr>
          </a:lstStyle>
          <a:p>
            <a:pPr lvl="0"/>
            <a:r>
              <a:rPr lang="de-DE"/>
              <a:t>Web</a:t>
            </a:r>
          </a:p>
        </p:txBody>
      </p:sp>
      <p:sp>
        <p:nvSpPr>
          <p:cNvPr id="31" name="Textplatzhalter 19">
            <a:extLst>
              <a:ext uri="{FF2B5EF4-FFF2-40B4-BE49-F238E27FC236}">
                <a16:creationId xmlns:a16="http://schemas.microsoft.com/office/drawing/2014/main" id="{3E499F00-EF00-009C-6FDC-F2713C718F8D}"/>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tx1"/>
                </a:solidFill>
              </a:defRPr>
            </a:lvl1pPr>
          </a:lstStyle>
          <a:p>
            <a:pPr lvl="0"/>
            <a:r>
              <a:rPr lang="de-DE"/>
              <a:t>E-Mail</a:t>
            </a:r>
          </a:p>
        </p:txBody>
      </p:sp>
      <p:sp>
        <p:nvSpPr>
          <p:cNvPr id="32" name="Textplatzhalter 19">
            <a:extLst>
              <a:ext uri="{FF2B5EF4-FFF2-40B4-BE49-F238E27FC236}">
                <a16:creationId xmlns:a16="http://schemas.microsoft.com/office/drawing/2014/main" id="{04BB8561-C701-C5AD-1868-E39E13B2D485}"/>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tx1"/>
                </a:solidFill>
              </a:defRPr>
            </a:lvl1pPr>
          </a:lstStyle>
          <a:p>
            <a:pPr lvl="0"/>
            <a:r>
              <a:rPr lang="de-DE"/>
              <a:t>Phone</a:t>
            </a:r>
          </a:p>
        </p:txBody>
      </p:sp>
      <p:cxnSp>
        <p:nvCxnSpPr>
          <p:cNvPr id="33" name="Gerader Verbinder 32">
            <a:extLst>
              <a:ext uri="{FF2B5EF4-FFF2-40B4-BE49-F238E27FC236}">
                <a16:creationId xmlns:a16="http://schemas.microsoft.com/office/drawing/2014/main" id="{B355D6BC-5C62-6586-EC58-C6E319705193}"/>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AAECC0A-4739-F741-0C36-5CD62BD48454}"/>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F672ADE9-C022-6E2D-A922-90B786298FF9}"/>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DA0D3050-60E7-9E5A-1500-FF89FCFA08FD}"/>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7" name="NTT DATA Global Logo">
            <a:extLst>
              <a:ext uri="{FF2B5EF4-FFF2-40B4-BE49-F238E27FC236}">
                <a16:creationId xmlns:a16="http://schemas.microsoft.com/office/drawing/2014/main" id="{8CB406C5-92DB-1C58-3213-735C7A43D456}"/>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58371"/>
            <a:ext cx="1288971" cy="262800"/>
          </a:xfrm>
          <a:prstGeom prst="rect">
            <a:avLst/>
          </a:prstGeom>
        </p:spPr>
      </p:pic>
    </p:spTree>
    <p:extLst>
      <p:ext uri="{BB962C8B-B14F-4D97-AF65-F5344CB8AC3E}">
        <p14:creationId xmlns:p14="http://schemas.microsoft.com/office/powerpoint/2010/main" val="162555252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E_Closing Slide Future Blue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87ED33-6A4E-4B88-9978-60E9E0EBFC9F}"/>
              </a:ext>
            </a:extLst>
          </p:cNvPr>
          <p:cNvSpPr/>
          <p:nvPr userDrawn="1"/>
        </p:nvSpPr>
        <p:spPr bwMode="gray">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NTT DATA Global Logo">
            <a:extLst>
              <a:ext uri="{FF2B5EF4-FFF2-40B4-BE49-F238E27FC236}">
                <a16:creationId xmlns:a16="http://schemas.microsoft.com/office/drawing/2014/main" id="{3F03F05C-59F6-715B-5A33-907AD87C663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210332653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_Closing Slide Navy Dark with picture dark">
    <p:bg bwMode="gray">
      <p:bgPr>
        <a:solidFill>
          <a:schemeClr val="bg1"/>
        </a:solidFill>
        <a:effectLst/>
      </p:bgPr>
    </p:bg>
    <p:spTree>
      <p:nvGrpSpPr>
        <p:cNvPr id="1" name=""/>
        <p:cNvGrpSpPr/>
        <p:nvPr/>
      </p:nvGrpSpPr>
      <p:grpSpPr>
        <a:xfrm>
          <a:off x="0" y="0"/>
          <a:ext cx="0" cy="0"/>
          <a:chOff x="0" y="0"/>
          <a:chExt cx="0" cy="0"/>
        </a:xfrm>
      </p:grpSpPr>
      <p:sp>
        <p:nvSpPr>
          <p:cNvPr id="7" name="Smart Navy SemiTrans Overlay">
            <a:extLst>
              <a:ext uri="{FF2B5EF4-FFF2-40B4-BE49-F238E27FC236}">
                <a16:creationId xmlns:a16="http://schemas.microsoft.com/office/drawing/2014/main" id="{6E4F8208-B33A-86C1-C4BF-6C513A841DF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11" name="Picture Placeholder 4">
            <a:extLst>
              <a:ext uri="{FF2B5EF4-FFF2-40B4-BE49-F238E27FC236}">
                <a16:creationId xmlns:a16="http://schemas.microsoft.com/office/drawing/2014/main" id="{DCE6D5FB-5128-84ED-8909-686C6A399387}"/>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0" name="NTT DATA Global Logo" descr="NTT DATA Global Logo">
            <a:extLst>
              <a:ext uri="{FF2B5EF4-FFF2-40B4-BE49-F238E27FC236}">
                <a16:creationId xmlns:a16="http://schemas.microsoft.com/office/drawing/2014/main" id="{188EBC45-4F1C-E0B0-9BB4-2942DDBDBEAF}"/>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30323057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3" name="Text Placeholder 2">
            <a:extLst>
              <a:ext uri="{FF2B5EF4-FFF2-40B4-BE49-F238E27FC236}">
                <a16:creationId xmlns:a16="http://schemas.microsoft.com/office/drawing/2014/main" id="{C844632A-2918-4D07-821E-9CC4B7A378DA}"/>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46253"/>
            <a:ext cx="4852035" cy="123111"/>
          </a:xfrm>
          <a:prstGeom prst="rect">
            <a:avLst/>
          </a:prstGeom>
          <a:ln>
            <a:noFill/>
          </a:ln>
        </p:spPr>
        <p:txBody>
          <a:bodyPr vert="horz" lIns="0" tIns="0" rIns="0" bIns="0" rtlCol="0" anchor="ctr">
            <a:spAutoFit/>
          </a:bodyPr>
          <a:lstStyle>
            <a:lvl1pPr algn="l">
              <a:lnSpc>
                <a:spcPct val="100000"/>
              </a:lnSpc>
              <a:defRPr sz="800">
                <a:solidFill>
                  <a:schemeClr val="accent6"/>
                </a:solidFill>
              </a:defRPr>
            </a:lvl1pPr>
          </a:lstStyle>
          <a:p>
            <a:r>
              <a:rPr lang="en-US"/>
              <a:t>© </a:t>
            </a:r>
            <a:fld id="{46C5DC35-6722-47A3-9302-D8C7CA6EE954}"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8" name="Textfeld 7">
            <a:extLst>
              <a:ext uri="{FF2B5EF4-FFF2-40B4-BE49-F238E27FC236}">
                <a16:creationId xmlns:a16="http://schemas.microsoft.com/office/drawing/2014/main" id="{6A9351CE-7D27-8427-F777-81AF283C9A11}"/>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2874697767"/>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75" r:id="rId4"/>
    <p:sldLayoutId id="2147483718" r:id="rId5"/>
    <p:sldLayoutId id="2147483737" r:id="rId6"/>
    <p:sldLayoutId id="2147483736" r:id="rId7"/>
    <p:sldLayoutId id="2147483687" r:id="rId8"/>
    <p:sldLayoutId id="2147483650" r:id="rId9"/>
    <p:sldLayoutId id="2147483698" r:id="rId10"/>
    <p:sldLayoutId id="2147483771" r:id="rId11"/>
    <p:sldLayoutId id="2147483731" r:id="rId12"/>
    <p:sldLayoutId id="2147483773" r:id="rId13"/>
    <p:sldLayoutId id="2147483774" r:id="rId14"/>
    <p:sldLayoutId id="2147483678" r:id="rId15"/>
    <p:sldLayoutId id="2147483732" r:id="rId16"/>
    <p:sldLayoutId id="2147483734" r:id="rId17"/>
    <p:sldLayoutId id="2147483765" r:id="rId18"/>
    <p:sldLayoutId id="2147483691" r:id="rId19"/>
    <p:sldLayoutId id="2147483735" r:id="rId20"/>
    <p:sldLayoutId id="2147483777" r:id="rId21"/>
    <p:sldLayoutId id="2147483778" r:id="rId22"/>
    <p:sldLayoutId id="2147483779" r:id="rId23"/>
    <p:sldLayoutId id="2147483780" r:id="rId24"/>
    <p:sldLayoutId id="2147483679" r:id="rId25"/>
    <p:sldLayoutId id="2147483729" r:id="rId26"/>
  </p:sldLayoutIdLst>
  <p:hf hdr="0"/>
  <p:txStyles>
    <p:titleStyle>
      <a:lvl1pPr algn="l" defTabSz="914400" rtl="0" eaLnBrk="1" latinLnBrk="0" hangingPunct="1">
        <a:lnSpc>
          <a:spcPct val="90000"/>
        </a:lnSpc>
        <a:spcBef>
          <a:spcPct val="0"/>
        </a:spcBef>
        <a:buNone/>
        <a:defRPr sz="2400" b="0" kern="1200">
          <a:solidFill>
            <a:schemeClr val="bg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2"/>
          </a:solidFill>
          <a:latin typeface="+mn-lt"/>
          <a:ea typeface="+mn-ea"/>
          <a:cs typeface="+mn-cs"/>
        </a:defRPr>
      </a:lvl1pPr>
      <a:lvl2pPr marL="216000" indent="-216000" algn="l" defTabSz="914400" rtl="0" eaLnBrk="1" latinLnBrk="0" hangingPunct="1">
        <a:lnSpc>
          <a:spcPct val="100000"/>
        </a:lnSpc>
        <a:spcBef>
          <a:spcPts val="500"/>
        </a:spcBef>
        <a:buClr>
          <a:schemeClr val="tx2"/>
        </a:buClr>
        <a:buFont typeface="Arial" panose="020B0604020202020204" pitchFamily="34" charset="0"/>
        <a:buChar char="•"/>
        <a:defRPr lang="en-US" sz="1800" kern="1200" dirty="0">
          <a:solidFill>
            <a:schemeClr val="tx2"/>
          </a:solidFill>
          <a:latin typeface="+mn-lt"/>
          <a:ea typeface="+mn-ea"/>
          <a:cs typeface="+mn-cs"/>
        </a:defRPr>
      </a:lvl2pPr>
      <a:lvl3pPr marL="432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3pPr>
      <a:lvl4pPr marL="648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4pPr>
      <a:lvl5pPr marL="864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userDrawn="1">
          <p15:clr>
            <a:srgbClr val="F26B43"/>
          </p15:clr>
        </p15:guide>
        <p15:guide id="3" orient="horz" pos="890" userDrawn="1">
          <p15:clr>
            <a:srgbClr val="F26B43"/>
          </p15:clr>
        </p15:guide>
        <p15:guide id="4" orient="horz" pos="3929" userDrawn="1">
          <p15:clr>
            <a:srgbClr val="F26B43"/>
          </p15:clr>
        </p15:guide>
        <p15:guide id="5" pos="234" userDrawn="1">
          <p15:clr>
            <a:srgbClr val="F26B43"/>
          </p15:clr>
        </p15:guide>
        <p15:guide id="6" pos="3840" userDrawn="1">
          <p15:clr>
            <a:srgbClr val="F26B43"/>
          </p15:clr>
        </p15:guide>
        <p15:guide id="8" pos="744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6C70840-BA80-4E9C-89D1-2C507D9D7099}"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1" name="Text Placeholder 2">
            <a:extLst>
              <a:ext uri="{FF2B5EF4-FFF2-40B4-BE49-F238E27FC236}">
                <a16:creationId xmlns:a16="http://schemas.microsoft.com/office/drawing/2014/main" id="{DB22E3CC-1B88-CF67-AD2F-D65E37E3716E}"/>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feld 3">
            <a:extLst>
              <a:ext uri="{FF2B5EF4-FFF2-40B4-BE49-F238E27FC236}">
                <a16:creationId xmlns:a16="http://schemas.microsoft.com/office/drawing/2014/main" id="{E288F54E-CB67-6354-8744-4ACA715CAB17}"/>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4099640385"/>
      </p:ext>
    </p:extLst>
  </p:cSld>
  <p:clrMap bg1="lt1" tx1="dk1" bg2="lt2" tx2="dk2" accent1="accent1" accent2="accent2" accent3="accent3" accent4="accent4" accent5="accent5" accent6="accent6" hlink="hlink" folHlink="folHlink"/>
  <p:sldLayoutIdLst>
    <p:sldLayoutId id="2147483740" r:id="rId1"/>
    <p:sldLayoutId id="2147483741" r:id="rId2"/>
    <p:sldLayoutId id="2147483767" r:id="rId3"/>
    <p:sldLayoutId id="2147483768" r:id="rId4"/>
    <p:sldLayoutId id="2147483746" r:id="rId5"/>
    <p:sldLayoutId id="2147483747" r:id="rId6"/>
    <p:sldLayoutId id="2147483748" r:id="rId7"/>
    <p:sldLayoutId id="2147483750" r:id="rId8"/>
    <p:sldLayoutId id="2147483751" r:id="rId9"/>
    <p:sldLayoutId id="2147483752" r:id="rId10"/>
    <p:sldLayoutId id="2147483770" r:id="rId11"/>
    <p:sldLayoutId id="2147483754" r:id="rId12"/>
    <p:sldLayoutId id="2147483769" r:id="rId13"/>
    <p:sldLayoutId id="2147483772" r:id="rId14"/>
    <p:sldLayoutId id="2147483755" r:id="rId15"/>
    <p:sldLayoutId id="2147483756" r:id="rId16"/>
    <p:sldLayoutId id="2147483757" r:id="rId17"/>
    <p:sldLayoutId id="2147483764" r:id="rId18"/>
    <p:sldLayoutId id="2147483758" r:id="rId19"/>
    <p:sldLayoutId id="2147483760" r:id="rId20"/>
    <p:sldLayoutId id="2147483781" r:id="rId21"/>
    <p:sldLayoutId id="2147483782" r:id="rId22"/>
    <p:sldLayoutId id="2147483783" r:id="rId23"/>
    <p:sldLayoutId id="2147483784" r:id="rId24"/>
    <p:sldLayoutId id="2147483761" r:id="rId25"/>
    <p:sldLayoutId id="2147483762" r:id="rId26"/>
  </p:sldLayoutIdLst>
  <p:hf hdr="0"/>
  <p:txStyles>
    <p:titleStyle>
      <a:lvl1pPr algn="l" defTabSz="914400" rtl="0" eaLnBrk="1" latinLnBrk="0" hangingPunct="1">
        <a:lnSpc>
          <a:spcPct val="90000"/>
        </a:lnSpc>
        <a:spcBef>
          <a:spcPct val="0"/>
        </a:spcBef>
        <a:buNone/>
        <a:defRPr sz="24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1"/>
          </a:solidFill>
          <a:latin typeface="+mn-lt"/>
          <a:ea typeface="+mn-ea"/>
          <a:cs typeface="+mn-cs"/>
        </a:defRPr>
      </a:lvl1pPr>
      <a:lvl2pPr marL="285750" indent="-285750" algn="l" defTabSz="914400" rtl="0" eaLnBrk="1" latinLnBrk="0" hangingPunct="1">
        <a:lnSpc>
          <a:spcPct val="100000"/>
        </a:lnSpc>
        <a:spcBef>
          <a:spcPts val="500"/>
        </a:spcBef>
        <a:buClr>
          <a:schemeClr val="tx1"/>
        </a:buClr>
        <a:buFont typeface="Arial" panose="020B0604020202020204" pitchFamily="34" charset="0"/>
        <a:buChar char="•"/>
        <a:defRPr lang="en-US" sz="1800" kern="1200" dirty="0">
          <a:solidFill>
            <a:schemeClr val="tx1"/>
          </a:solidFill>
          <a:latin typeface="+mn-lt"/>
          <a:ea typeface="+mn-ea"/>
          <a:cs typeface="+mn-cs"/>
        </a:defRPr>
      </a:lvl2pPr>
      <a:lvl3pPr marL="536575"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3pPr>
      <a:lvl4pPr marL="804863"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4pPr>
      <a:lvl5pPr marL="1077913" indent="-273050"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p15:clr>
            <a:srgbClr val="F26B43"/>
          </p15:clr>
        </p15:guide>
        <p15:guide id="3" orient="horz" pos="890">
          <p15:clr>
            <a:srgbClr val="F26B43"/>
          </p15:clr>
        </p15:guide>
        <p15:guide id="4" orient="horz" pos="3929" userDrawn="1">
          <p15:clr>
            <a:srgbClr val="F26B43"/>
          </p15:clr>
        </p15:guide>
        <p15:guide id="5" pos="234">
          <p15:clr>
            <a:srgbClr val="F26B43"/>
          </p15:clr>
        </p15:guide>
        <p15:guide id="6" pos="3840">
          <p15:clr>
            <a:srgbClr val="F26B43"/>
          </p15:clr>
        </p15:guide>
        <p15:guide id="8" pos="744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3.png"/><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8.png"/><Relationship Id="rId6" Type="http://schemas.openxmlformats.org/officeDocument/2006/relationships/image" Target="../media/image22.png"/><Relationship Id="rId7"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CEC355-7920-CBAA-2AD2-5FF8611DA19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CE1CC02-074D-BB43-3247-A72B4EB88460}"/>
              </a:ext>
            </a:extLst>
          </p:cNvPr>
          <p:cNvSpPr>
            <a:spLocks noGrp="1"/>
          </p:cNvSpPr>
          <p:nvPr>
            <p:ph type="sldNum" sz="quarter" idx="4"/>
          </p:nvPr>
        </p:nvSpPr>
        <p:spPr/>
        <p:txBody>
          <a:bodyPr/>
          <a:lstStyle/>
          <a:p>
            <a:fld id="{13CE6DAF-806F-404B-BC68-339BFCB57E5C}" type="slidenum">
              <a:rPr lang="en-US" smtClean="0"/>
              <a:pPr/>
              <a:t>1</a:t>
            </a:fld>
            <a:endParaRPr lang="en-US"/>
          </a:p>
        </p:txBody>
      </p:sp>
      <p:sp>
        <p:nvSpPr>
          <p:cNvPr id="7" name="Text 6">
            <a:extLst>
              <a:ext uri="{FF2B5EF4-FFF2-40B4-BE49-F238E27FC236}">
                <a16:creationId xmlns:a16="http://schemas.microsoft.com/office/drawing/2014/main" id="{86959537-135E-9A5E-55BB-3EC707A6AA1E}"/>
              </a:ext>
            </a:extLst>
          </p:cNvPr>
          <p:cNvSpPr/>
          <p:nvPr/>
        </p:nvSpPr>
        <p:spPr>
          <a:xfrm>
            <a:off x="411480" y="1005840"/>
            <a:ext cx="4663440" cy="685800"/>
          </a:xfrm>
          <a:prstGeom prst="rect">
            <a:avLst/>
          </a:prstGeom>
          <a:noFill/>
          <a:ln/>
        </p:spPr>
        <p:txBody>
          <a:bodyPr wrap="square" lIns="0" tIns="0" rIns="0" bIns="0" rtlCol="0" anchor="ctr"/>
          <a:lstStyle/>
          <a:p>
            <a:pPr marL="0" indent="0">
              <a:buNone/>
            </a:pPr>
            <a:r>
              <a:rPr lang="en-US" sz="3800" b="1" dirty="0">
                <a:solidFill>
                  <a:srgbClr val="FFFFFF"/>
                </a:solidFill>
                <a:latin typeface="+mj-lt"/>
                <a:ea typeface="Calibri" pitchFamily="34" charset="-122"/>
                <a:cs typeface="Calibri" pitchFamily="34" charset="-120"/>
              </a:rPr>
              <a:t>SAP Supply Chain</a:t>
            </a:r>
            <a:endParaRPr lang="en-US" sz="3800" dirty="0">
              <a:latin typeface="+mj-lt"/>
            </a:endParaRPr>
          </a:p>
        </p:txBody>
      </p:sp>
      <p:sp>
        <p:nvSpPr>
          <p:cNvPr id="8" name="Text 7">
            <a:extLst>
              <a:ext uri="{FF2B5EF4-FFF2-40B4-BE49-F238E27FC236}">
                <a16:creationId xmlns:a16="http://schemas.microsoft.com/office/drawing/2014/main" id="{01320192-2D5A-592B-8FD7-B0DE4BA2338C}"/>
              </a:ext>
            </a:extLst>
          </p:cNvPr>
          <p:cNvSpPr/>
          <p:nvPr/>
        </p:nvSpPr>
        <p:spPr>
          <a:xfrm>
            <a:off x="411480" y="1508760"/>
            <a:ext cx="4663440" cy="685800"/>
          </a:xfrm>
          <a:prstGeom prst="rect">
            <a:avLst/>
          </a:prstGeom>
          <a:noFill/>
          <a:ln/>
        </p:spPr>
        <p:txBody>
          <a:bodyPr wrap="square" lIns="0" tIns="0" rIns="0" bIns="0" rtlCol="0" anchor="ctr"/>
          <a:lstStyle/>
          <a:p>
            <a:pPr marL="0" indent="0">
              <a:buNone/>
            </a:pPr>
            <a:r>
              <a:rPr lang="en-US" sz="3800" b="1" dirty="0">
                <a:solidFill>
                  <a:srgbClr val="50E6FF"/>
                </a:solidFill>
                <a:latin typeface="+mj-lt"/>
                <a:ea typeface="Calibri" pitchFamily="34" charset="-122"/>
                <a:cs typeface="Calibri" pitchFamily="34" charset="-120"/>
              </a:rPr>
              <a:t>Intelligence</a:t>
            </a:r>
            <a:endParaRPr lang="en-US" sz="3800" dirty="0">
              <a:latin typeface="+mj-lt"/>
            </a:endParaRPr>
          </a:p>
        </p:txBody>
      </p:sp>
      <p:sp>
        <p:nvSpPr>
          <p:cNvPr id="9" name="Text 8">
            <a:extLst>
              <a:ext uri="{FF2B5EF4-FFF2-40B4-BE49-F238E27FC236}">
                <a16:creationId xmlns:a16="http://schemas.microsoft.com/office/drawing/2014/main" id="{91CE7D5C-F890-C9CA-E342-F8D954F761EF}"/>
              </a:ext>
            </a:extLst>
          </p:cNvPr>
          <p:cNvSpPr/>
          <p:nvPr/>
        </p:nvSpPr>
        <p:spPr>
          <a:xfrm>
            <a:off x="465772" y="2697480"/>
            <a:ext cx="4663440" cy="731520"/>
          </a:xfrm>
          <a:prstGeom prst="rect">
            <a:avLst/>
          </a:prstGeom>
          <a:noFill/>
          <a:ln/>
        </p:spPr>
        <p:txBody>
          <a:bodyPr wrap="square" lIns="0" tIns="0" rIns="0" bIns="0" rtlCol="0" anchor="ctr"/>
          <a:lstStyle/>
          <a:p>
            <a:pPr marL="0" indent="0">
              <a:buNone/>
            </a:pPr>
            <a:r>
              <a:rPr lang="en-US" sz="1600" dirty="0">
                <a:solidFill>
                  <a:srgbClr val="B8CFE8"/>
                </a:solidFill>
                <a:ea typeface="Calibri" pitchFamily="34" charset="-122"/>
                <a:cs typeface="Calibri" pitchFamily="34" charset="-120"/>
              </a:rPr>
              <a:t>AI-Powered Optimization Across</a:t>
            </a:r>
            <a:endParaRPr lang="en-US" sz="1600" dirty="0"/>
          </a:p>
          <a:p>
            <a:pPr marL="0" indent="0">
              <a:buNone/>
            </a:pPr>
            <a:r>
              <a:rPr lang="en-US" sz="1600" dirty="0">
                <a:solidFill>
                  <a:srgbClr val="B8CFE8"/>
                </a:solidFill>
                <a:ea typeface="Calibri" pitchFamily="34" charset="-122"/>
                <a:cs typeface="Calibri" pitchFamily="34" charset="-120"/>
              </a:rPr>
              <a:t>Demand · Inventory · Planning · Logistics</a:t>
            </a:r>
            <a:endParaRPr lang="en-US" sz="1600" dirty="0"/>
          </a:p>
        </p:txBody>
      </p:sp>
      <p:pic>
        <p:nvPicPr>
          <p:cNvPr id="11" name="Image 0" descr="preencoded.png">
            <a:extLst>
              <a:ext uri="{FF2B5EF4-FFF2-40B4-BE49-F238E27FC236}">
                <a16:creationId xmlns:a16="http://schemas.microsoft.com/office/drawing/2014/main" id="{4B3D7F9D-9AAB-B48F-69B8-DDCDFDD6B525}"/>
              </a:ext>
            </a:extLst>
          </p:cNvPr>
          <p:cNvPicPr>
            <a:picLocks noChangeAspect="1"/>
          </p:cNvPicPr>
          <p:nvPr/>
        </p:nvPicPr>
        <p:blipFill>
          <a:blip r:embed="rId2"/>
          <a:stretch>
            <a:fillRect/>
          </a:stretch>
        </p:blipFill>
        <p:spPr>
          <a:xfrm>
            <a:off x="7431991" y="794198"/>
            <a:ext cx="979850" cy="1153021"/>
          </a:xfrm>
          <a:prstGeom prst="rect">
            <a:avLst/>
          </a:prstGeom>
        </p:spPr>
      </p:pic>
      <p:sp>
        <p:nvSpPr>
          <p:cNvPr id="12" name="Text 9">
            <a:extLst>
              <a:ext uri="{FF2B5EF4-FFF2-40B4-BE49-F238E27FC236}">
                <a16:creationId xmlns:a16="http://schemas.microsoft.com/office/drawing/2014/main" id="{47610C92-D904-B4F6-9264-01204DB64AD7}"/>
              </a:ext>
            </a:extLst>
          </p:cNvPr>
          <p:cNvSpPr/>
          <p:nvPr/>
        </p:nvSpPr>
        <p:spPr>
          <a:xfrm>
            <a:off x="8013443" y="1662687"/>
            <a:ext cx="347472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mj-lt"/>
                <a:ea typeface="Calibri" pitchFamily="34" charset="-122"/>
                <a:cs typeface="Calibri" pitchFamily="34" charset="-120"/>
              </a:rPr>
              <a:t>Microsoft Azure</a:t>
            </a:r>
            <a:endParaRPr lang="en-US" sz="1600" dirty="0">
              <a:latin typeface="+mj-lt"/>
            </a:endParaRPr>
          </a:p>
          <a:p>
            <a:pPr marL="0" indent="0" algn="ctr">
              <a:buNone/>
            </a:pPr>
            <a:r>
              <a:rPr lang="en-US" sz="1600" b="1" dirty="0">
                <a:solidFill>
                  <a:srgbClr val="FFFFFF"/>
                </a:solidFill>
                <a:latin typeface="+mj-lt"/>
                <a:ea typeface="Calibri" pitchFamily="34" charset="-122"/>
                <a:cs typeface="Calibri" pitchFamily="34" charset="-120"/>
              </a:rPr>
              <a:t>&amp; Fabric Platform</a:t>
            </a:r>
            <a:endParaRPr lang="en-US" sz="1600" dirty="0">
              <a:latin typeface="+mj-lt"/>
            </a:endParaRPr>
          </a:p>
        </p:txBody>
      </p:sp>
      <p:sp>
        <p:nvSpPr>
          <p:cNvPr id="13" name="Shape 10">
            <a:extLst>
              <a:ext uri="{FF2B5EF4-FFF2-40B4-BE49-F238E27FC236}">
                <a16:creationId xmlns:a16="http://schemas.microsoft.com/office/drawing/2014/main" id="{4A1B7AF9-29C4-18E4-7131-99A6E2E75CAC}"/>
              </a:ext>
            </a:extLst>
          </p:cNvPr>
          <p:cNvSpPr/>
          <p:nvPr/>
        </p:nvSpPr>
        <p:spPr>
          <a:xfrm>
            <a:off x="7500271" y="2986221"/>
            <a:ext cx="4296427" cy="656052"/>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pic>
        <p:nvPicPr>
          <p:cNvPr id="14" name="Image 1" descr="preencoded.png">
            <a:extLst>
              <a:ext uri="{FF2B5EF4-FFF2-40B4-BE49-F238E27FC236}">
                <a16:creationId xmlns:a16="http://schemas.microsoft.com/office/drawing/2014/main" id="{0A8BBB58-C3E9-ECB4-3307-5EF088CEB699}"/>
              </a:ext>
            </a:extLst>
          </p:cNvPr>
          <p:cNvPicPr>
            <a:picLocks noChangeAspect="1"/>
          </p:cNvPicPr>
          <p:nvPr/>
        </p:nvPicPr>
        <p:blipFill>
          <a:blip r:embed="rId3"/>
          <a:stretch>
            <a:fillRect/>
          </a:stretch>
        </p:blipFill>
        <p:spPr>
          <a:xfrm>
            <a:off x="7775806" y="3054862"/>
            <a:ext cx="481468" cy="481468"/>
          </a:xfrm>
          <a:prstGeom prst="rect">
            <a:avLst/>
          </a:prstGeom>
        </p:spPr>
      </p:pic>
      <p:sp>
        <p:nvSpPr>
          <p:cNvPr id="15" name="Text 11">
            <a:extLst>
              <a:ext uri="{FF2B5EF4-FFF2-40B4-BE49-F238E27FC236}">
                <a16:creationId xmlns:a16="http://schemas.microsoft.com/office/drawing/2014/main" id="{F6EBC638-6AEF-681E-5668-9B8EEB5BD803}"/>
              </a:ext>
            </a:extLst>
          </p:cNvPr>
          <p:cNvSpPr/>
          <p:nvPr/>
        </p:nvSpPr>
        <p:spPr>
          <a:xfrm>
            <a:off x="8411841" y="3004715"/>
            <a:ext cx="3314387" cy="619064"/>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Data Factory / ADF</a:t>
            </a:r>
            <a:endParaRPr lang="en-US" sz="1600" dirty="0">
              <a:solidFill>
                <a:schemeClr val="bg1"/>
              </a:solidFill>
            </a:endParaRPr>
          </a:p>
        </p:txBody>
      </p:sp>
      <p:sp>
        <p:nvSpPr>
          <p:cNvPr id="16" name="Shape 12">
            <a:extLst>
              <a:ext uri="{FF2B5EF4-FFF2-40B4-BE49-F238E27FC236}">
                <a16:creationId xmlns:a16="http://schemas.microsoft.com/office/drawing/2014/main" id="{A9545576-479E-8727-992B-1BAFCE65C3AA}"/>
              </a:ext>
            </a:extLst>
          </p:cNvPr>
          <p:cNvSpPr/>
          <p:nvPr/>
        </p:nvSpPr>
        <p:spPr>
          <a:xfrm>
            <a:off x="7500270" y="379052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7" name="Shape 12">
            <a:extLst>
              <a:ext uri="{FF2B5EF4-FFF2-40B4-BE49-F238E27FC236}">
                <a16:creationId xmlns:a16="http://schemas.microsoft.com/office/drawing/2014/main" id="{DA02C6A1-7329-432B-628B-00C46564B451}"/>
              </a:ext>
            </a:extLst>
          </p:cNvPr>
          <p:cNvSpPr/>
          <p:nvPr/>
        </p:nvSpPr>
        <p:spPr>
          <a:xfrm>
            <a:off x="7500270" y="455414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8" name="Shape 12">
            <a:extLst>
              <a:ext uri="{FF2B5EF4-FFF2-40B4-BE49-F238E27FC236}">
                <a16:creationId xmlns:a16="http://schemas.microsoft.com/office/drawing/2014/main" id="{B1C9BB8F-AC6C-3326-B498-5708A2160BCF}"/>
              </a:ext>
            </a:extLst>
          </p:cNvPr>
          <p:cNvSpPr/>
          <p:nvPr/>
        </p:nvSpPr>
        <p:spPr>
          <a:xfrm>
            <a:off x="7500270" y="5388390"/>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9" name="Text 13">
            <a:extLst>
              <a:ext uri="{FF2B5EF4-FFF2-40B4-BE49-F238E27FC236}">
                <a16:creationId xmlns:a16="http://schemas.microsoft.com/office/drawing/2014/main" id="{63E573E2-9EC7-A0C8-DF9B-2CE75D9CF4AE}"/>
              </a:ext>
            </a:extLst>
          </p:cNvPr>
          <p:cNvSpPr/>
          <p:nvPr/>
        </p:nvSpPr>
        <p:spPr>
          <a:xfrm>
            <a:off x="8411841" y="3958535"/>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Microsoft Fabric / Lakehouse</a:t>
            </a:r>
            <a:endParaRPr lang="en-US" sz="1600" dirty="0">
              <a:solidFill>
                <a:schemeClr val="bg1"/>
              </a:solidFill>
            </a:endParaRPr>
          </a:p>
        </p:txBody>
      </p:sp>
      <p:pic>
        <p:nvPicPr>
          <p:cNvPr id="20" name="Image 2" descr="preencoded.png">
            <a:extLst>
              <a:ext uri="{FF2B5EF4-FFF2-40B4-BE49-F238E27FC236}">
                <a16:creationId xmlns:a16="http://schemas.microsoft.com/office/drawing/2014/main" id="{288EFA2D-C092-C596-8C7D-7292BA79428A}"/>
              </a:ext>
            </a:extLst>
          </p:cNvPr>
          <p:cNvPicPr>
            <a:picLocks noChangeAspect="1"/>
          </p:cNvPicPr>
          <p:nvPr/>
        </p:nvPicPr>
        <p:blipFill>
          <a:blip r:embed="rId4"/>
          <a:stretch>
            <a:fillRect/>
          </a:stretch>
        </p:blipFill>
        <p:spPr>
          <a:xfrm>
            <a:off x="7742581" y="3827734"/>
            <a:ext cx="495229" cy="495229"/>
          </a:xfrm>
          <a:prstGeom prst="rect">
            <a:avLst/>
          </a:prstGeom>
        </p:spPr>
      </p:pic>
      <p:sp>
        <p:nvSpPr>
          <p:cNvPr id="21" name="Text 15">
            <a:extLst>
              <a:ext uri="{FF2B5EF4-FFF2-40B4-BE49-F238E27FC236}">
                <a16:creationId xmlns:a16="http://schemas.microsoft.com/office/drawing/2014/main" id="{89CA2BAA-47D3-9D5B-9C2A-A3D249108508}"/>
              </a:ext>
            </a:extLst>
          </p:cNvPr>
          <p:cNvSpPr/>
          <p:nvPr/>
        </p:nvSpPr>
        <p:spPr>
          <a:xfrm>
            <a:off x="8411841" y="4749571"/>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ML + OpenAI</a:t>
            </a:r>
            <a:endParaRPr lang="en-US" sz="1600" dirty="0">
              <a:solidFill>
                <a:schemeClr val="bg1"/>
              </a:solidFill>
            </a:endParaRPr>
          </a:p>
        </p:txBody>
      </p:sp>
      <p:pic>
        <p:nvPicPr>
          <p:cNvPr id="22" name="Image 3" descr="preencoded.png">
            <a:extLst>
              <a:ext uri="{FF2B5EF4-FFF2-40B4-BE49-F238E27FC236}">
                <a16:creationId xmlns:a16="http://schemas.microsoft.com/office/drawing/2014/main" id="{BB81D91E-4077-6DBB-B263-BF2ABA1245B8}"/>
              </a:ext>
            </a:extLst>
          </p:cNvPr>
          <p:cNvPicPr>
            <a:picLocks noChangeAspect="1"/>
          </p:cNvPicPr>
          <p:nvPr/>
        </p:nvPicPr>
        <p:blipFill>
          <a:blip r:embed="rId2"/>
          <a:stretch>
            <a:fillRect/>
          </a:stretch>
        </p:blipFill>
        <p:spPr>
          <a:xfrm>
            <a:off x="7775806" y="4594838"/>
            <a:ext cx="484632" cy="484632"/>
          </a:xfrm>
          <a:prstGeom prst="rect">
            <a:avLst/>
          </a:prstGeom>
        </p:spPr>
      </p:pic>
      <p:sp>
        <p:nvSpPr>
          <p:cNvPr id="23" name="Text 17">
            <a:extLst>
              <a:ext uri="{FF2B5EF4-FFF2-40B4-BE49-F238E27FC236}">
                <a16:creationId xmlns:a16="http://schemas.microsoft.com/office/drawing/2014/main" id="{A3C7B80C-9E46-689F-D14F-7161022EDFF0}"/>
              </a:ext>
            </a:extLst>
          </p:cNvPr>
          <p:cNvSpPr/>
          <p:nvPr/>
        </p:nvSpPr>
        <p:spPr>
          <a:xfrm>
            <a:off x="8411841" y="5556396"/>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Agentic AI Copilot Layer</a:t>
            </a:r>
            <a:endParaRPr lang="en-US" sz="1600" dirty="0">
              <a:solidFill>
                <a:schemeClr val="bg1"/>
              </a:solidFill>
            </a:endParaRPr>
          </a:p>
        </p:txBody>
      </p:sp>
      <p:pic>
        <p:nvPicPr>
          <p:cNvPr id="24" name="Image 4" descr="preencoded.png">
            <a:extLst>
              <a:ext uri="{FF2B5EF4-FFF2-40B4-BE49-F238E27FC236}">
                <a16:creationId xmlns:a16="http://schemas.microsoft.com/office/drawing/2014/main" id="{AC64C995-06FE-390A-4222-30E92E7D80DA}"/>
              </a:ext>
            </a:extLst>
          </p:cNvPr>
          <p:cNvPicPr>
            <a:picLocks noChangeAspect="1"/>
          </p:cNvPicPr>
          <p:nvPr/>
        </p:nvPicPr>
        <p:blipFill>
          <a:blip r:embed="rId5"/>
          <a:stretch>
            <a:fillRect/>
          </a:stretch>
        </p:blipFill>
        <p:spPr>
          <a:xfrm>
            <a:off x="7732634" y="5450695"/>
            <a:ext cx="561619" cy="561619"/>
          </a:xfrm>
          <a:prstGeom prst="rect">
            <a:avLst/>
          </a:prstGeom>
        </p:spPr>
      </p:pic>
      <p:sp>
        <p:nvSpPr>
          <p:cNvPr id="25" name="TextBox 24"/>
          <p:cNvSpPr txBox="1"/>
          <p:nvPr/>
        </p:nvSpPr>
        <p:spPr>
          <a:xfrm>
            <a:off x="609600" y="4800000"/>
            <a:ext cx="6000000" cy="350000"/>
          </a:xfrm>
          <a:prstGeom prst="rect">
            <a:avLst/>
          </a:prstGeom>
          <a:noFill/>
        </p:spPr>
        <p:txBody>
          <a:bodyPr wrap="square">
            <a:spAutoFit/>
          </a:bodyPr>
          <a:lstStyle/>
          <a:p>
            <a:pPr algn="l"/>
            <a:r>
              <a:rPr sz="1733" b="0" i="1">
                <a:solidFill>
                  <a:srgbClr val="B8CFE8"/>
                </a:solidFill>
              </a:rPr>
              <a:t>Prepared for [Client Name]</a:t>
            </a:r>
          </a:p>
        </p:txBody>
      </p:sp>
      <p:sp>
        <p:nvSpPr>
          <p:cNvPr id="26" name="TextBox 25"/>
          <p:cNvSpPr txBox="1"/>
          <p:nvPr/>
        </p:nvSpPr>
        <p:spPr>
          <a:xfrm>
            <a:off x="609600" y="5150000"/>
            <a:ext cx="4000000" cy="300000"/>
          </a:xfrm>
          <a:prstGeom prst="rect">
            <a:avLst/>
          </a:prstGeom>
          <a:noFill/>
        </p:spPr>
        <p:txBody>
          <a:bodyPr wrap="square">
            <a:spAutoFit/>
          </a:bodyPr>
          <a:lstStyle/>
          <a:p>
            <a:pPr algn="l"/>
            <a:r>
              <a:rPr sz="1333" b="0" i="0">
                <a:solidFill>
                  <a:srgbClr val="B8CFE8"/>
                </a:solidFill>
              </a:rPr>
              <a:t>March 2026  |  Confidential</a:t>
            </a:r>
          </a:p>
        </p:txBody>
      </p:sp>
    </p:spTree>
    <p:extLst>
      <p:ext uri="{BB962C8B-B14F-4D97-AF65-F5344CB8AC3E}">
        <p14:creationId xmlns:p14="http://schemas.microsoft.com/office/powerpoint/2010/main" val="2001187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D7B41-9375-E60D-AA51-6148AE35DED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CF5DDC-854B-EA16-5EE9-87260BC6E99D}"/>
              </a:ext>
            </a:extLst>
          </p:cNvPr>
          <p:cNvSpPr>
            <a:spLocks noGrp="1"/>
          </p:cNvSpPr>
          <p:nvPr>
            <p:ph type="ftr" sz="quarter" idx="3"/>
          </p:nvPr>
        </p:nvSpPr>
        <p:spPr>
          <a:xfrm>
            <a:off x="371475" y="6563358"/>
            <a:ext cx="4877407" cy="60103"/>
          </a:xfrm>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D4CE89E-118C-669C-F355-D7FC545B174A}"/>
              </a:ext>
            </a:extLst>
          </p:cNvPr>
          <p:cNvSpPr>
            <a:spLocks noGrp="1"/>
          </p:cNvSpPr>
          <p:nvPr>
            <p:ph type="sldNum" sz="quarter" idx="4"/>
          </p:nvPr>
        </p:nvSpPr>
        <p:spPr>
          <a:xfrm>
            <a:off x="5943600" y="6563358"/>
            <a:ext cx="306394" cy="60103"/>
          </a:xfrm>
        </p:spPr>
        <p:txBody>
          <a:bodyPr/>
          <a:lstStyle/>
          <a:p>
            <a:fld id="{13CE6DAF-806F-404B-BC68-339BFCB57E5C}" type="slidenum">
              <a:rPr lang="en-US" smtClean="0"/>
              <a:pPr/>
              <a:t>2</a:t>
            </a:fld>
            <a:endParaRPr lang="en-US"/>
          </a:p>
        </p:txBody>
      </p:sp>
      <p:sp>
        <p:nvSpPr>
          <p:cNvPr id="7" name="Shape 0">
            <a:extLst>
              <a:ext uri="{FF2B5EF4-FFF2-40B4-BE49-F238E27FC236}">
                <a16:creationId xmlns:a16="http://schemas.microsoft.com/office/drawing/2014/main" id="{86F82372-7096-A6CD-7E4D-C294116BF270}"/>
              </a:ext>
            </a:extLst>
          </p:cNvPr>
          <p:cNvSpPr/>
          <p:nvPr/>
        </p:nvSpPr>
        <p:spPr>
          <a:xfrm>
            <a:off x="-1" y="-13715"/>
            <a:ext cx="12255753" cy="49456"/>
          </a:xfrm>
          <a:prstGeom prst="rect">
            <a:avLst/>
          </a:prstGeom>
          <a:solidFill>
            <a:srgbClr val="0078D4"/>
          </a:solidFill>
          <a:ln w="12700">
            <a:solidFill>
              <a:srgbClr val="0078D4"/>
            </a:solidFill>
            <a:prstDash val="solid"/>
          </a:ln>
        </p:spPr>
        <p:txBody>
          <a:bodyPr/>
          <a:lstStyle/>
          <a:p>
            <a:endParaRPr lang="en-IN" sz="1867"/>
          </a:p>
        </p:txBody>
      </p:sp>
      <p:sp>
        <p:nvSpPr>
          <p:cNvPr id="8" name="Text 1">
            <a:extLst>
              <a:ext uri="{FF2B5EF4-FFF2-40B4-BE49-F238E27FC236}">
                <a16:creationId xmlns:a16="http://schemas.microsoft.com/office/drawing/2014/main" id="{7712EB8A-E6DB-249E-DC06-F50DE5A570D5}"/>
              </a:ext>
            </a:extLst>
          </p:cNvPr>
          <p:cNvSpPr/>
          <p:nvPr/>
        </p:nvSpPr>
        <p:spPr>
          <a:xfrm>
            <a:off x="428511" y="205991"/>
            <a:ext cx="11030177" cy="49455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SAP Supply Chain Opportunity</a:t>
            </a:r>
            <a:endParaRPr lang="en-US" sz="3467" dirty="0">
              <a:latin typeface="+mj-lt"/>
            </a:endParaRPr>
          </a:p>
        </p:txBody>
      </p:sp>
      <p:sp>
        <p:nvSpPr>
          <p:cNvPr id="9" name="Text 2">
            <a:extLst>
              <a:ext uri="{FF2B5EF4-FFF2-40B4-BE49-F238E27FC236}">
                <a16:creationId xmlns:a16="http://schemas.microsoft.com/office/drawing/2014/main" id="{09868FEC-3086-F177-229B-7F90FFC86E24}"/>
              </a:ext>
            </a:extLst>
          </p:cNvPr>
          <p:cNvSpPr/>
          <p:nvPr/>
        </p:nvSpPr>
        <p:spPr>
          <a:xfrm>
            <a:off x="670559" y="900685"/>
            <a:ext cx="11030177" cy="288492"/>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Why your clients can no longer wait to act</a:t>
            </a:r>
            <a:endParaRPr lang="en-US" sz="1733" dirty="0"/>
          </a:p>
        </p:txBody>
      </p:sp>
      <p:sp>
        <p:nvSpPr>
          <p:cNvPr id="10" name="Shape 3">
            <a:extLst>
              <a:ext uri="{FF2B5EF4-FFF2-40B4-BE49-F238E27FC236}">
                <a16:creationId xmlns:a16="http://schemas.microsoft.com/office/drawing/2014/main" id="{572F4395-9534-7556-764C-B217EA2A2F53}"/>
              </a:ext>
            </a:extLst>
          </p:cNvPr>
          <p:cNvSpPr/>
          <p:nvPr/>
        </p:nvSpPr>
        <p:spPr>
          <a:xfrm>
            <a:off x="42672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4">
            <a:extLst>
              <a:ext uri="{FF2B5EF4-FFF2-40B4-BE49-F238E27FC236}">
                <a16:creationId xmlns:a16="http://schemas.microsoft.com/office/drawing/2014/main" id="{A2220EDC-300F-337B-2B67-D3308B83FCEE}"/>
              </a:ext>
            </a:extLst>
          </p:cNvPr>
          <p:cNvSpPr/>
          <p:nvPr/>
        </p:nvSpPr>
        <p:spPr>
          <a:xfrm>
            <a:off x="426720" y="1510285"/>
            <a:ext cx="3554168" cy="57698"/>
          </a:xfrm>
          <a:prstGeom prst="rect">
            <a:avLst/>
          </a:prstGeom>
          <a:solidFill>
            <a:srgbClr val="0078D4"/>
          </a:solidFill>
          <a:ln w="12700">
            <a:solidFill>
              <a:srgbClr val="0078D4"/>
            </a:solidFill>
            <a:prstDash val="solid"/>
          </a:ln>
        </p:spPr>
        <p:txBody>
          <a:bodyPr/>
          <a:lstStyle/>
          <a:p>
            <a:endParaRPr lang="en-IN" sz="1867"/>
          </a:p>
        </p:txBody>
      </p:sp>
      <p:sp>
        <p:nvSpPr>
          <p:cNvPr id="12" name="Text 5">
            <a:extLst>
              <a:ext uri="{FF2B5EF4-FFF2-40B4-BE49-F238E27FC236}">
                <a16:creationId xmlns:a16="http://schemas.microsoft.com/office/drawing/2014/main" id="{A9B361BD-6BDF-C364-7E85-D518E841A489}"/>
              </a:ext>
            </a:extLst>
          </p:cNvPr>
          <p:cNvSpPr/>
          <p:nvPr/>
        </p:nvSpPr>
        <p:spPr>
          <a:xfrm>
            <a:off x="426720" y="1693165"/>
            <a:ext cx="3554168" cy="576984"/>
          </a:xfrm>
          <a:prstGeom prst="rect">
            <a:avLst/>
          </a:prstGeom>
          <a:noFill/>
          <a:ln/>
        </p:spPr>
        <p:txBody>
          <a:bodyPr wrap="square" lIns="0" tIns="0" rIns="0" bIns="0" rtlCol="0" anchor="ctr"/>
          <a:lstStyle/>
          <a:p>
            <a:pPr algn="ctr"/>
            <a:r>
              <a:rPr lang="en-US" sz="4533" b="1" dirty="0">
                <a:solidFill>
                  <a:srgbClr val="0078D4"/>
                </a:solidFill>
                <a:ea typeface="Calibri" pitchFamily="34" charset="-122"/>
                <a:cs typeface="Calibri" pitchFamily="34" charset="-120"/>
              </a:rPr>
              <a:t>72%</a:t>
            </a:r>
            <a:endParaRPr lang="en-US" sz="4533" dirty="0"/>
          </a:p>
        </p:txBody>
      </p:sp>
      <p:sp>
        <p:nvSpPr>
          <p:cNvPr id="13" name="Text 6">
            <a:extLst>
              <a:ext uri="{FF2B5EF4-FFF2-40B4-BE49-F238E27FC236}">
                <a16:creationId xmlns:a16="http://schemas.microsoft.com/office/drawing/2014/main" id="{07B1A0D9-22DC-78E4-AB1F-12A827B52A04}"/>
              </a:ext>
            </a:extLst>
          </p:cNvPr>
          <p:cNvSpPr/>
          <p:nvPr/>
        </p:nvSpPr>
        <p:spPr>
          <a:xfrm>
            <a:off x="54863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of SAP clients lack real-time</a:t>
            </a:r>
            <a:endParaRPr lang="en-US" sz="1467" dirty="0"/>
          </a:p>
          <a:p>
            <a:pPr algn="ctr"/>
            <a:r>
              <a:rPr lang="en-US" sz="1467" dirty="0">
                <a:solidFill>
                  <a:srgbClr val="B8CFE8"/>
                </a:solidFill>
                <a:ea typeface="Calibri" pitchFamily="34" charset="-122"/>
                <a:cs typeface="Calibri" pitchFamily="34" charset="-120"/>
              </a:rPr>
              <a:t>demand visibility</a:t>
            </a:r>
            <a:endParaRPr lang="en-US" sz="1467" dirty="0"/>
          </a:p>
        </p:txBody>
      </p:sp>
      <p:sp>
        <p:nvSpPr>
          <p:cNvPr id="14" name="Shape 7">
            <a:extLst>
              <a:ext uri="{FF2B5EF4-FFF2-40B4-BE49-F238E27FC236}">
                <a16:creationId xmlns:a16="http://schemas.microsoft.com/office/drawing/2014/main" id="{319809C6-9038-B572-A88E-A95790C482FE}"/>
              </a:ext>
            </a:extLst>
          </p:cNvPr>
          <p:cNvSpPr/>
          <p:nvPr/>
        </p:nvSpPr>
        <p:spPr>
          <a:xfrm>
            <a:off x="432816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5" name="Shape 8">
            <a:extLst>
              <a:ext uri="{FF2B5EF4-FFF2-40B4-BE49-F238E27FC236}">
                <a16:creationId xmlns:a16="http://schemas.microsoft.com/office/drawing/2014/main" id="{325AE383-70B0-8BF9-EEC5-553FA1D07508}"/>
              </a:ext>
            </a:extLst>
          </p:cNvPr>
          <p:cNvSpPr/>
          <p:nvPr/>
        </p:nvSpPr>
        <p:spPr>
          <a:xfrm>
            <a:off x="4328160" y="1510285"/>
            <a:ext cx="3554168" cy="57698"/>
          </a:xfrm>
          <a:prstGeom prst="rect">
            <a:avLst/>
          </a:prstGeom>
          <a:solidFill>
            <a:srgbClr val="FFB900"/>
          </a:solidFill>
          <a:ln w="12700">
            <a:solidFill>
              <a:srgbClr val="FFB900"/>
            </a:solidFill>
            <a:prstDash val="solid"/>
          </a:ln>
        </p:spPr>
        <p:txBody>
          <a:bodyPr/>
          <a:lstStyle/>
          <a:p>
            <a:endParaRPr lang="en-IN" sz="1867"/>
          </a:p>
        </p:txBody>
      </p:sp>
      <p:sp>
        <p:nvSpPr>
          <p:cNvPr id="16" name="Text 9">
            <a:extLst>
              <a:ext uri="{FF2B5EF4-FFF2-40B4-BE49-F238E27FC236}">
                <a16:creationId xmlns:a16="http://schemas.microsoft.com/office/drawing/2014/main" id="{4CF3E2B8-34F1-5396-71AA-E7795B10D5B0}"/>
              </a:ext>
            </a:extLst>
          </p:cNvPr>
          <p:cNvSpPr/>
          <p:nvPr/>
        </p:nvSpPr>
        <p:spPr>
          <a:xfrm>
            <a:off x="4328160" y="1693165"/>
            <a:ext cx="3554168" cy="576984"/>
          </a:xfrm>
          <a:prstGeom prst="rect">
            <a:avLst/>
          </a:prstGeom>
          <a:noFill/>
          <a:ln/>
        </p:spPr>
        <p:txBody>
          <a:bodyPr wrap="square" lIns="0" tIns="0" rIns="0" bIns="0" rtlCol="0" anchor="ctr"/>
          <a:lstStyle/>
          <a:p>
            <a:pPr algn="ctr"/>
            <a:r>
              <a:rPr lang="en-US" sz="4533" b="1" dirty="0">
                <a:solidFill>
                  <a:srgbClr val="FFB900"/>
                </a:solidFill>
                <a:ea typeface="Calibri" pitchFamily="34" charset="-122"/>
                <a:cs typeface="Calibri" pitchFamily="34" charset="-120"/>
              </a:rPr>
              <a:t>₹18L Cr</a:t>
            </a:r>
            <a:endParaRPr lang="en-US" sz="4533" dirty="0"/>
          </a:p>
        </p:txBody>
      </p:sp>
      <p:sp>
        <p:nvSpPr>
          <p:cNvPr id="17" name="Text 10">
            <a:extLst>
              <a:ext uri="{FF2B5EF4-FFF2-40B4-BE49-F238E27FC236}">
                <a16:creationId xmlns:a16="http://schemas.microsoft.com/office/drawing/2014/main" id="{07D7B113-1138-704D-589D-4597E7FA0D10}"/>
              </a:ext>
            </a:extLst>
          </p:cNvPr>
          <p:cNvSpPr/>
          <p:nvPr/>
        </p:nvSpPr>
        <p:spPr>
          <a:xfrm>
            <a:off x="445007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inventory locked in Indian</a:t>
            </a:r>
            <a:endParaRPr lang="en-US" sz="1467" dirty="0"/>
          </a:p>
          <a:p>
            <a:pPr algn="ctr"/>
            <a:r>
              <a:rPr lang="en-US" sz="1467" dirty="0">
                <a:solidFill>
                  <a:srgbClr val="B8CFE8"/>
                </a:solidFill>
                <a:ea typeface="Calibri" pitchFamily="34" charset="-122"/>
                <a:cs typeface="Calibri" pitchFamily="34" charset="-120"/>
              </a:rPr>
              <a:t>supply chains annually</a:t>
            </a:r>
            <a:endParaRPr lang="en-US" sz="1467" dirty="0"/>
          </a:p>
        </p:txBody>
      </p:sp>
      <p:sp>
        <p:nvSpPr>
          <p:cNvPr id="18" name="Shape 11">
            <a:extLst>
              <a:ext uri="{FF2B5EF4-FFF2-40B4-BE49-F238E27FC236}">
                <a16:creationId xmlns:a16="http://schemas.microsoft.com/office/drawing/2014/main" id="{343D64ED-9985-3B13-4C50-1D16B7990645}"/>
              </a:ext>
            </a:extLst>
          </p:cNvPr>
          <p:cNvSpPr/>
          <p:nvPr/>
        </p:nvSpPr>
        <p:spPr>
          <a:xfrm>
            <a:off x="822960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Shape 12">
            <a:extLst>
              <a:ext uri="{FF2B5EF4-FFF2-40B4-BE49-F238E27FC236}">
                <a16:creationId xmlns:a16="http://schemas.microsoft.com/office/drawing/2014/main" id="{DEA4412B-B826-D172-E505-69AA48536043}"/>
              </a:ext>
            </a:extLst>
          </p:cNvPr>
          <p:cNvSpPr/>
          <p:nvPr/>
        </p:nvSpPr>
        <p:spPr>
          <a:xfrm>
            <a:off x="8229600" y="1510285"/>
            <a:ext cx="3554168" cy="57698"/>
          </a:xfrm>
          <a:prstGeom prst="rect">
            <a:avLst/>
          </a:prstGeom>
          <a:solidFill>
            <a:srgbClr val="00B294"/>
          </a:solidFill>
          <a:ln w="12700">
            <a:solidFill>
              <a:srgbClr val="00B294"/>
            </a:solidFill>
            <a:prstDash val="solid"/>
          </a:ln>
        </p:spPr>
        <p:txBody>
          <a:bodyPr/>
          <a:lstStyle/>
          <a:p>
            <a:endParaRPr lang="en-IN" sz="1867"/>
          </a:p>
        </p:txBody>
      </p:sp>
      <p:sp>
        <p:nvSpPr>
          <p:cNvPr id="20" name="Text 13">
            <a:extLst>
              <a:ext uri="{FF2B5EF4-FFF2-40B4-BE49-F238E27FC236}">
                <a16:creationId xmlns:a16="http://schemas.microsoft.com/office/drawing/2014/main" id="{53527EEA-311F-C56D-9DBF-41C1FB3E2E00}"/>
              </a:ext>
            </a:extLst>
          </p:cNvPr>
          <p:cNvSpPr/>
          <p:nvPr/>
        </p:nvSpPr>
        <p:spPr>
          <a:xfrm>
            <a:off x="8229600" y="1693165"/>
            <a:ext cx="3554168" cy="576984"/>
          </a:xfrm>
          <a:prstGeom prst="rect">
            <a:avLst/>
          </a:prstGeom>
          <a:noFill/>
          <a:ln/>
        </p:spPr>
        <p:txBody>
          <a:bodyPr wrap="square" lIns="0" tIns="0" rIns="0" bIns="0" rtlCol="0" anchor="ctr"/>
          <a:lstStyle/>
          <a:p>
            <a:pPr algn="ctr"/>
            <a:r>
              <a:rPr lang="en-US" sz="4533" b="1" dirty="0">
                <a:solidFill>
                  <a:srgbClr val="00B294"/>
                </a:solidFill>
                <a:ea typeface="Calibri" pitchFamily="34" charset="-122"/>
                <a:cs typeface="Calibri" pitchFamily="34" charset="-120"/>
              </a:rPr>
              <a:t>3.2×</a:t>
            </a:r>
            <a:endParaRPr lang="en-US" sz="4533" dirty="0"/>
          </a:p>
        </p:txBody>
      </p:sp>
      <p:sp>
        <p:nvSpPr>
          <p:cNvPr id="21" name="Text 14">
            <a:extLst>
              <a:ext uri="{FF2B5EF4-FFF2-40B4-BE49-F238E27FC236}">
                <a16:creationId xmlns:a16="http://schemas.microsoft.com/office/drawing/2014/main" id="{4A1E4A6A-8759-BEEC-9073-CD19FF0CC19F}"/>
              </a:ext>
            </a:extLst>
          </p:cNvPr>
          <p:cNvSpPr/>
          <p:nvPr/>
        </p:nvSpPr>
        <p:spPr>
          <a:xfrm>
            <a:off x="835151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ROI on AI-driven supply chain</a:t>
            </a:r>
            <a:endParaRPr lang="en-US" sz="1467" dirty="0"/>
          </a:p>
          <a:p>
            <a:pPr algn="ctr"/>
            <a:r>
              <a:rPr lang="en-US" sz="1467" dirty="0">
                <a:solidFill>
                  <a:srgbClr val="B8CFE8"/>
                </a:solidFill>
                <a:ea typeface="Calibri" pitchFamily="34" charset="-122"/>
                <a:cs typeface="Calibri" pitchFamily="34" charset="-120"/>
              </a:rPr>
              <a:t>vs. manual planning</a:t>
            </a:r>
            <a:endParaRPr lang="en-US" sz="1467" dirty="0"/>
          </a:p>
        </p:txBody>
      </p:sp>
      <p:sp>
        <p:nvSpPr>
          <p:cNvPr id="22" name="Text 15">
            <a:extLst>
              <a:ext uri="{FF2B5EF4-FFF2-40B4-BE49-F238E27FC236}">
                <a16:creationId xmlns:a16="http://schemas.microsoft.com/office/drawing/2014/main" id="{30939BBB-D2F4-08B1-7555-5884235CC57A}"/>
              </a:ext>
            </a:extLst>
          </p:cNvPr>
          <p:cNvSpPr/>
          <p:nvPr/>
        </p:nvSpPr>
        <p:spPr>
          <a:xfrm>
            <a:off x="426720" y="3765805"/>
            <a:ext cx="11397850" cy="288492"/>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What SAP clients are struggling with today</a:t>
            </a:r>
            <a:endParaRPr lang="en-US" sz="1867" dirty="0"/>
          </a:p>
        </p:txBody>
      </p:sp>
      <p:sp>
        <p:nvSpPr>
          <p:cNvPr id="23" name="Shape 16">
            <a:extLst>
              <a:ext uri="{FF2B5EF4-FFF2-40B4-BE49-F238E27FC236}">
                <a16:creationId xmlns:a16="http://schemas.microsoft.com/office/drawing/2014/main" id="{22C8E8E6-B95E-F4B0-B706-51FB1D686B8F}"/>
              </a:ext>
            </a:extLst>
          </p:cNvPr>
          <p:cNvSpPr/>
          <p:nvPr/>
        </p:nvSpPr>
        <p:spPr>
          <a:xfrm>
            <a:off x="426720" y="4314445"/>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4" name="Image 0" descr="preencoded.png">
            <a:extLst>
              <a:ext uri="{FF2B5EF4-FFF2-40B4-BE49-F238E27FC236}">
                <a16:creationId xmlns:a16="http://schemas.microsoft.com/office/drawing/2014/main" id="{3ECCA9F0-050B-2245-3E27-E87757B7F494}"/>
              </a:ext>
            </a:extLst>
          </p:cNvPr>
          <p:cNvPicPr>
            <a:picLocks noChangeAspect="1"/>
          </p:cNvPicPr>
          <p:nvPr/>
        </p:nvPicPr>
        <p:blipFill>
          <a:blip r:embed="rId2"/>
          <a:stretch>
            <a:fillRect/>
          </a:stretch>
        </p:blipFill>
        <p:spPr>
          <a:xfrm>
            <a:off x="585215" y="4363212"/>
            <a:ext cx="367673" cy="367673"/>
          </a:xfrm>
          <a:prstGeom prst="rect">
            <a:avLst/>
          </a:prstGeom>
        </p:spPr>
      </p:pic>
      <p:sp>
        <p:nvSpPr>
          <p:cNvPr id="25" name="Text 17">
            <a:extLst>
              <a:ext uri="{FF2B5EF4-FFF2-40B4-BE49-F238E27FC236}">
                <a16:creationId xmlns:a16="http://schemas.microsoft.com/office/drawing/2014/main" id="{7AB095EA-5FE3-E561-E77F-AC15720BD1E9}"/>
              </a:ext>
            </a:extLst>
          </p:cNvPr>
          <p:cNvSpPr/>
          <p:nvPr/>
        </p:nvSpPr>
        <p:spPr>
          <a:xfrm>
            <a:off x="1097279" y="4375405"/>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SAP data trapped in ECC/S4HANA — no real-time analytics layer</a:t>
            </a:r>
            <a:endParaRPr lang="en-US" sz="1600" dirty="0"/>
          </a:p>
        </p:txBody>
      </p:sp>
      <p:sp>
        <p:nvSpPr>
          <p:cNvPr id="26" name="Shape 18">
            <a:extLst>
              <a:ext uri="{FF2B5EF4-FFF2-40B4-BE49-F238E27FC236}">
                <a16:creationId xmlns:a16="http://schemas.microsoft.com/office/drawing/2014/main" id="{25A7F006-A970-09AE-EFC6-F3D377B2FF21}"/>
              </a:ext>
            </a:extLst>
          </p:cNvPr>
          <p:cNvSpPr/>
          <p:nvPr/>
        </p:nvSpPr>
        <p:spPr>
          <a:xfrm>
            <a:off x="426720" y="4887469"/>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7" name="Image 1" descr="preencoded.png">
            <a:extLst>
              <a:ext uri="{FF2B5EF4-FFF2-40B4-BE49-F238E27FC236}">
                <a16:creationId xmlns:a16="http://schemas.microsoft.com/office/drawing/2014/main" id="{AF90209A-E7D4-89C3-B8ED-835107CE0023}"/>
              </a:ext>
            </a:extLst>
          </p:cNvPr>
          <p:cNvPicPr>
            <a:picLocks noChangeAspect="1"/>
          </p:cNvPicPr>
          <p:nvPr/>
        </p:nvPicPr>
        <p:blipFill>
          <a:blip r:embed="rId3"/>
          <a:stretch>
            <a:fillRect/>
          </a:stretch>
        </p:blipFill>
        <p:spPr>
          <a:xfrm>
            <a:off x="585215" y="4936236"/>
            <a:ext cx="367673" cy="367673"/>
          </a:xfrm>
          <a:prstGeom prst="rect">
            <a:avLst/>
          </a:prstGeom>
        </p:spPr>
      </p:pic>
      <p:sp>
        <p:nvSpPr>
          <p:cNvPr id="28" name="Text 19">
            <a:extLst>
              <a:ext uri="{FF2B5EF4-FFF2-40B4-BE49-F238E27FC236}">
                <a16:creationId xmlns:a16="http://schemas.microsoft.com/office/drawing/2014/main" id="{FC4695B1-DC75-CDF3-9684-8534A79EB424}"/>
              </a:ext>
            </a:extLst>
          </p:cNvPr>
          <p:cNvSpPr/>
          <p:nvPr/>
        </p:nvSpPr>
        <p:spPr>
          <a:xfrm>
            <a:off x="1097279" y="4948429"/>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Demand forecasting done in Excel — no ML, no confidence intervals</a:t>
            </a:r>
            <a:endParaRPr lang="en-US" sz="1600" dirty="0"/>
          </a:p>
        </p:txBody>
      </p:sp>
      <p:sp>
        <p:nvSpPr>
          <p:cNvPr id="29" name="Shape 20">
            <a:extLst>
              <a:ext uri="{FF2B5EF4-FFF2-40B4-BE49-F238E27FC236}">
                <a16:creationId xmlns:a16="http://schemas.microsoft.com/office/drawing/2014/main" id="{194FE803-EFB4-FFF5-BF23-BF8F0021219C}"/>
              </a:ext>
            </a:extLst>
          </p:cNvPr>
          <p:cNvSpPr/>
          <p:nvPr/>
        </p:nvSpPr>
        <p:spPr>
          <a:xfrm>
            <a:off x="426720" y="5460493"/>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0" name="Image 2" descr="preencoded.png">
            <a:extLst>
              <a:ext uri="{FF2B5EF4-FFF2-40B4-BE49-F238E27FC236}">
                <a16:creationId xmlns:a16="http://schemas.microsoft.com/office/drawing/2014/main" id="{539C3912-5474-F8B8-52E3-3C9391CBB618}"/>
              </a:ext>
            </a:extLst>
          </p:cNvPr>
          <p:cNvPicPr>
            <a:picLocks noChangeAspect="1"/>
          </p:cNvPicPr>
          <p:nvPr/>
        </p:nvPicPr>
        <p:blipFill>
          <a:blip r:embed="rId4"/>
          <a:stretch>
            <a:fillRect/>
          </a:stretch>
        </p:blipFill>
        <p:spPr>
          <a:xfrm>
            <a:off x="585215" y="5509260"/>
            <a:ext cx="367673" cy="367673"/>
          </a:xfrm>
          <a:prstGeom prst="rect">
            <a:avLst/>
          </a:prstGeom>
        </p:spPr>
      </p:pic>
      <p:sp>
        <p:nvSpPr>
          <p:cNvPr id="31" name="Text 21">
            <a:extLst>
              <a:ext uri="{FF2B5EF4-FFF2-40B4-BE49-F238E27FC236}">
                <a16:creationId xmlns:a16="http://schemas.microsoft.com/office/drawing/2014/main" id="{99836D00-E57B-D477-534F-31B8CC0449D2}"/>
              </a:ext>
            </a:extLst>
          </p:cNvPr>
          <p:cNvSpPr/>
          <p:nvPr/>
        </p:nvSpPr>
        <p:spPr>
          <a:xfrm>
            <a:off x="1097279" y="5521453"/>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Inventory decisions lag 2–4 weeks behind actual consumption signals</a:t>
            </a:r>
            <a:endParaRPr lang="en-US" sz="1600" dirty="0"/>
          </a:p>
        </p:txBody>
      </p:sp>
      <p:sp>
        <p:nvSpPr>
          <p:cNvPr id="32" name="Shape 22">
            <a:extLst>
              <a:ext uri="{FF2B5EF4-FFF2-40B4-BE49-F238E27FC236}">
                <a16:creationId xmlns:a16="http://schemas.microsoft.com/office/drawing/2014/main" id="{D77B9CBF-1A56-2F58-52C1-3D97C26F7180}"/>
              </a:ext>
            </a:extLst>
          </p:cNvPr>
          <p:cNvSpPr/>
          <p:nvPr/>
        </p:nvSpPr>
        <p:spPr>
          <a:xfrm>
            <a:off x="426720" y="6033517"/>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3" name="Image 3" descr="preencoded.png">
            <a:extLst>
              <a:ext uri="{FF2B5EF4-FFF2-40B4-BE49-F238E27FC236}">
                <a16:creationId xmlns:a16="http://schemas.microsoft.com/office/drawing/2014/main" id="{8BB1056C-1411-68AC-4E1F-A073BC9A1B95}"/>
              </a:ext>
            </a:extLst>
          </p:cNvPr>
          <p:cNvPicPr>
            <a:picLocks noChangeAspect="1"/>
          </p:cNvPicPr>
          <p:nvPr/>
        </p:nvPicPr>
        <p:blipFill>
          <a:blip r:embed="rId5"/>
          <a:stretch>
            <a:fillRect/>
          </a:stretch>
        </p:blipFill>
        <p:spPr>
          <a:xfrm>
            <a:off x="585215" y="6082284"/>
            <a:ext cx="367673" cy="367673"/>
          </a:xfrm>
          <a:prstGeom prst="rect">
            <a:avLst/>
          </a:prstGeom>
        </p:spPr>
      </p:pic>
      <p:sp>
        <p:nvSpPr>
          <p:cNvPr id="34" name="Text 23">
            <a:extLst>
              <a:ext uri="{FF2B5EF4-FFF2-40B4-BE49-F238E27FC236}">
                <a16:creationId xmlns:a16="http://schemas.microsoft.com/office/drawing/2014/main" id="{AB880E87-D4AB-C940-C41B-75F3ACC1C19A}"/>
              </a:ext>
            </a:extLst>
          </p:cNvPr>
          <p:cNvSpPr/>
          <p:nvPr/>
        </p:nvSpPr>
        <p:spPr>
          <a:xfrm>
            <a:off x="1097279" y="6094477"/>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Logistics routes manually planned — no dynamic rerouting or ETA prediction</a:t>
            </a:r>
            <a:endParaRPr lang="en-US" sz="1600" dirty="0"/>
          </a:p>
        </p:txBody>
      </p:sp>
      <p:sp>
        <p:nvSpPr>
          <p:cNvPr id="35" name="Rounded Rectangle 34"/>
          <p:cNvSpPr/>
          <p:nvPr/>
        </p:nvSpPr>
        <p:spPr>
          <a:xfrm>
            <a:off x="8800000" y="1200000"/>
            <a:ext cx="3000000" cy="14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00000" y="1250000"/>
            <a:ext cx="2800000" cy="500000"/>
          </a:xfrm>
          <a:prstGeom prst="rect">
            <a:avLst/>
          </a:prstGeom>
          <a:noFill/>
        </p:spPr>
        <p:txBody>
          <a:bodyPr wrap="square">
            <a:spAutoFit/>
          </a:bodyPr>
          <a:lstStyle/>
          <a:p>
            <a:pPr algn="ctr"/>
            <a:r>
              <a:rPr sz="4533" b="1" i="0">
                <a:solidFill>
                  <a:srgbClr val="FF8C00"/>
                </a:solidFill>
              </a:rPr>
              <a:t>$1.9T</a:t>
            </a:r>
          </a:p>
        </p:txBody>
      </p:sp>
      <p:sp>
        <p:nvSpPr>
          <p:cNvPr id="37" name="TextBox 36"/>
          <p:cNvSpPr txBox="1"/>
          <p:nvPr/>
        </p:nvSpPr>
        <p:spPr>
          <a:xfrm>
            <a:off x="8900000" y="1800000"/>
            <a:ext cx="2800000" cy="600000"/>
          </a:xfrm>
          <a:prstGeom prst="rect">
            <a:avLst/>
          </a:prstGeom>
          <a:noFill/>
        </p:spPr>
        <p:txBody>
          <a:bodyPr wrap="square">
            <a:spAutoFit/>
          </a:bodyPr>
          <a:lstStyle/>
          <a:p>
            <a:pPr algn="ctr">
              <a:spcAft>
                <a:spcPts val="400"/>
              </a:spcAft>
            </a:pPr>
            <a:r>
              <a:rPr sz="1467" b="0">
                <a:solidFill>
                  <a:srgbClr val="B8CFE8"/>
                </a:solidFill>
              </a:rPr>
              <a:t>global automotive supply</a:t>
            </a:r>
          </a:p>
          <a:p>
            <a:pPr algn="ctr">
              <a:spcAft>
                <a:spcPts val="400"/>
              </a:spcAft>
            </a:pPr>
            <a:r>
              <a:rPr sz="1467" b="0">
                <a:solidFill>
                  <a:srgbClr val="B8CFE8"/>
                </a:solidFill>
              </a:rPr>
              <a:t>chain market by 2027</a:t>
            </a:r>
          </a:p>
        </p:txBody>
      </p:sp>
    </p:spTree>
    <p:extLst>
      <p:ext uri="{BB962C8B-B14F-4D97-AF65-F5344CB8AC3E}">
        <p14:creationId xmlns:p14="http://schemas.microsoft.com/office/powerpoint/2010/main" val="28240923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3DC6-00DA-D16C-8C76-5C4716CD06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9EF2C8-F70B-E3E9-FBD1-D22A70F64DDB}"/>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DB3533C8-2D1F-2A98-EAE1-AD3F063E45F3}"/>
              </a:ext>
            </a:extLst>
          </p:cNvPr>
          <p:cNvSpPr>
            <a:spLocks noGrp="1"/>
          </p:cNvSpPr>
          <p:nvPr>
            <p:ph type="sldNum" sz="quarter" idx="4"/>
          </p:nvPr>
        </p:nvSpPr>
        <p:spPr/>
        <p:txBody>
          <a:bodyPr/>
          <a:lstStyle/>
          <a:p>
            <a:fld id="{13CE6DAF-806F-404B-BC68-339BFCB57E5C}" type="slidenum">
              <a:rPr lang="en-US" smtClean="0"/>
              <a:pPr/>
              <a:t>3</a:t>
            </a:fld>
            <a:endParaRPr lang="en-US"/>
          </a:p>
        </p:txBody>
      </p:sp>
      <p:sp>
        <p:nvSpPr>
          <p:cNvPr id="80" name="Shape 0">
            <a:extLst>
              <a:ext uri="{FF2B5EF4-FFF2-40B4-BE49-F238E27FC236}">
                <a16:creationId xmlns:a16="http://schemas.microsoft.com/office/drawing/2014/main" id="{0D51C177-F2CA-B86D-9C9E-F49346B5CA84}"/>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81" name="Text 1">
            <a:extLst>
              <a:ext uri="{FF2B5EF4-FFF2-40B4-BE49-F238E27FC236}">
                <a16:creationId xmlns:a16="http://schemas.microsoft.com/office/drawing/2014/main" id="{DA290C1D-FD9B-5502-95A9-317913A1C1DD}"/>
              </a:ext>
            </a:extLst>
          </p:cNvPr>
          <p:cNvSpPr/>
          <p:nvPr/>
        </p:nvSpPr>
        <p:spPr>
          <a:xfrm>
            <a:off x="426720" y="219456"/>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Our Approach: SAP → Azure → AI → Action</a:t>
            </a:r>
            <a:endParaRPr lang="en-US" sz="3467" dirty="0">
              <a:latin typeface="+mj-lt"/>
            </a:endParaRPr>
          </a:p>
        </p:txBody>
      </p:sp>
      <p:sp>
        <p:nvSpPr>
          <p:cNvPr id="82" name="Text 2">
            <a:extLst>
              <a:ext uri="{FF2B5EF4-FFF2-40B4-BE49-F238E27FC236}">
                <a16:creationId xmlns:a16="http://schemas.microsoft.com/office/drawing/2014/main" id="{15B7999A-1E82-72A5-75CC-C7FE2FDEAA7D}"/>
              </a:ext>
            </a:extLst>
          </p:cNvPr>
          <p:cNvSpPr/>
          <p:nvPr/>
        </p:nvSpPr>
        <p:spPr>
          <a:xfrm>
            <a:off x="371475" y="914400"/>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A three-layer intelligence architecture that SAP clients cannot replicate alone</a:t>
            </a:r>
            <a:endParaRPr lang="en-US" sz="1733" dirty="0"/>
          </a:p>
        </p:txBody>
      </p:sp>
      <p:sp>
        <p:nvSpPr>
          <p:cNvPr id="83" name="Shape 3">
            <a:extLst>
              <a:ext uri="{FF2B5EF4-FFF2-40B4-BE49-F238E27FC236}">
                <a16:creationId xmlns:a16="http://schemas.microsoft.com/office/drawing/2014/main" id="{3053DA9C-9AF8-1622-7EA5-8A6BB275D889}"/>
              </a:ext>
            </a:extLst>
          </p:cNvPr>
          <p:cNvSpPr/>
          <p:nvPr/>
        </p:nvSpPr>
        <p:spPr>
          <a:xfrm>
            <a:off x="426720" y="1463040"/>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84" name="Shape 4">
            <a:extLst>
              <a:ext uri="{FF2B5EF4-FFF2-40B4-BE49-F238E27FC236}">
                <a16:creationId xmlns:a16="http://schemas.microsoft.com/office/drawing/2014/main" id="{2D4E4E0A-42FD-E1AC-9E58-6E92C8787312}"/>
              </a:ext>
            </a:extLst>
          </p:cNvPr>
          <p:cNvSpPr/>
          <p:nvPr/>
        </p:nvSpPr>
        <p:spPr>
          <a:xfrm>
            <a:off x="426720" y="1463040"/>
            <a:ext cx="85344" cy="1463040"/>
          </a:xfrm>
          <a:prstGeom prst="rect">
            <a:avLst/>
          </a:prstGeom>
          <a:solidFill>
            <a:srgbClr val="0078D4"/>
          </a:solidFill>
          <a:ln w="12700">
            <a:solidFill>
              <a:srgbClr val="0078D4"/>
            </a:solidFill>
            <a:prstDash val="solid"/>
          </a:ln>
        </p:spPr>
        <p:txBody>
          <a:bodyPr/>
          <a:lstStyle/>
          <a:p>
            <a:endParaRPr lang="en-IN" sz="1867"/>
          </a:p>
        </p:txBody>
      </p:sp>
      <p:pic>
        <p:nvPicPr>
          <p:cNvPr id="85" name="Image 0" descr="preencoded.png">
            <a:extLst>
              <a:ext uri="{FF2B5EF4-FFF2-40B4-BE49-F238E27FC236}">
                <a16:creationId xmlns:a16="http://schemas.microsoft.com/office/drawing/2014/main" id="{886B5595-945E-F5A8-9594-5CE794960F0E}"/>
              </a:ext>
            </a:extLst>
          </p:cNvPr>
          <p:cNvPicPr>
            <a:picLocks noChangeAspect="1"/>
          </p:cNvPicPr>
          <p:nvPr/>
        </p:nvPicPr>
        <p:blipFill>
          <a:blip r:embed="rId2"/>
          <a:stretch>
            <a:fillRect/>
          </a:stretch>
        </p:blipFill>
        <p:spPr>
          <a:xfrm>
            <a:off x="731520" y="1889760"/>
            <a:ext cx="609600" cy="609600"/>
          </a:xfrm>
          <a:prstGeom prst="rect">
            <a:avLst/>
          </a:prstGeom>
        </p:spPr>
      </p:pic>
      <p:sp>
        <p:nvSpPr>
          <p:cNvPr id="86" name="Text 5">
            <a:extLst>
              <a:ext uri="{FF2B5EF4-FFF2-40B4-BE49-F238E27FC236}">
                <a16:creationId xmlns:a16="http://schemas.microsoft.com/office/drawing/2014/main" id="{9D948425-347B-25A7-3C38-C8CFE29094B4}"/>
              </a:ext>
            </a:extLst>
          </p:cNvPr>
          <p:cNvSpPr/>
          <p:nvPr/>
        </p:nvSpPr>
        <p:spPr>
          <a:xfrm>
            <a:off x="1584960" y="1584960"/>
            <a:ext cx="4876800" cy="463296"/>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Layer 1 — DATA INGESTION</a:t>
            </a:r>
            <a:endParaRPr lang="en-US" sz="1733" dirty="0"/>
          </a:p>
        </p:txBody>
      </p:sp>
      <p:sp>
        <p:nvSpPr>
          <p:cNvPr id="87" name="Text 6">
            <a:extLst>
              <a:ext uri="{FF2B5EF4-FFF2-40B4-BE49-F238E27FC236}">
                <a16:creationId xmlns:a16="http://schemas.microsoft.com/office/drawing/2014/main" id="{462FFF5C-A078-A4D9-15E3-EF0C7664FC47}"/>
              </a:ext>
            </a:extLst>
          </p:cNvPr>
          <p:cNvSpPr/>
          <p:nvPr/>
        </p:nvSpPr>
        <p:spPr>
          <a:xfrm>
            <a:off x="1584960" y="2011680"/>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SAP ECC / S4HANA / BW → Azure</a:t>
            </a:r>
            <a:endParaRPr lang="en-US" sz="1467" dirty="0"/>
          </a:p>
        </p:txBody>
      </p:sp>
      <p:sp>
        <p:nvSpPr>
          <p:cNvPr id="88" name="Text 7">
            <a:extLst>
              <a:ext uri="{FF2B5EF4-FFF2-40B4-BE49-F238E27FC236}">
                <a16:creationId xmlns:a16="http://schemas.microsoft.com/office/drawing/2014/main" id="{3E3150A1-77F5-8EFB-E337-D77E83D73004}"/>
              </a:ext>
            </a:extLst>
          </p:cNvPr>
          <p:cNvSpPr/>
          <p:nvPr/>
        </p:nvSpPr>
        <p:spPr>
          <a:xfrm>
            <a:off x="6461760" y="1609344"/>
            <a:ext cx="4998720" cy="1097280"/>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ADF + SAP ODP/BAPI connectors, CDC pipelines, Delta Lake on Fabric Lakehouse. Full fidelity of SD, MM, PP, WM, TM modules.</a:t>
            </a:r>
            <a:endParaRPr lang="en-US" sz="1467" dirty="0"/>
          </a:p>
        </p:txBody>
      </p:sp>
      <p:sp>
        <p:nvSpPr>
          <p:cNvPr id="89" name="Shape 8">
            <a:extLst>
              <a:ext uri="{FF2B5EF4-FFF2-40B4-BE49-F238E27FC236}">
                <a16:creationId xmlns:a16="http://schemas.microsoft.com/office/drawing/2014/main" id="{A8548714-4332-D799-66F3-C424633A23E0}"/>
              </a:ext>
            </a:extLst>
          </p:cNvPr>
          <p:cNvSpPr/>
          <p:nvPr/>
        </p:nvSpPr>
        <p:spPr>
          <a:xfrm>
            <a:off x="426720" y="3145536"/>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0" name="Shape 9">
            <a:extLst>
              <a:ext uri="{FF2B5EF4-FFF2-40B4-BE49-F238E27FC236}">
                <a16:creationId xmlns:a16="http://schemas.microsoft.com/office/drawing/2014/main" id="{BE8A871B-5503-C0A4-80C6-4156AF03E0A9}"/>
              </a:ext>
            </a:extLst>
          </p:cNvPr>
          <p:cNvSpPr/>
          <p:nvPr/>
        </p:nvSpPr>
        <p:spPr>
          <a:xfrm>
            <a:off x="426720" y="3145536"/>
            <a:ext cx="85344" cy="1463040"/>
          </a:xfrm>
          <a:prstGeom prst="rect">
            <a:avLst/>
          </a:prstGeom>
          <a:solidFill>
            <a:srgbClr val="FFB900"/>
          </a:solidFill>
          <a:ln w="12700">
            <a:solidFill>
              <a:srgbClr val="FFB900"/>
            </a:solidFill>
            <a:prstDash val="solid"/>
          </a:ln>
        </p:spPr>
        <p:txBody>
          <a:bodyPr/>
          <a:lstStyle/>
          <a:p>
            <a:endParaRPr lang="en-IN" sz="1867"/>
          </a:p>
        </p:txBody>
      </p:sp>
      <p:pic>
        <p:nvPicPr>
          <p:cNvPr id="91" name="Image 1" descr="preencoded.png">
            <a:extLst>
              <a:ext uri="{FF2B5EF4-FFF2-40B4-BE49-F238E27FC236}">
                <a16:creationId xmlns:a16="http://schemas.microsoft.com/office/drawing/2014/main" id="{6C9EAAFB-FF64-AFC7-694E-5E169DC3A7A0}"/>
              </a:ext>
            </a:extLst>
          </p:cNvPr>
          <p:cNvPicPr>
            <a:picLocks noChangeAspect="1"/>
          </p:cNvPicPr>
          <p:nvPr/>
        </p:nvPicPr>
        <p:blipFill>
          <a:blip r:embed="rId3"/>
          <a:stretch>
            <a:fillRect/>
          </a:stretch>
        </p:blipFill>
        <p:spPr>
          <a:xfrm>
            <a:off x="731520" y="3572256"/>
            <a:ext cx="609600" cy="609600"/>
          </a:xfrm>
          <a:prstGeom prst="rect">
            <a:avLst/>
          </a:prstGeom>
        </p:spPr>
      </p:pic>
      <p:sp>
        <p:nvSpPr>
          <p:cNvPr id="92" name="Text 10">
            <a:extLst>
              <a:ext uri="{FF2B5EF4-FFF2-40B4-BE49-F238E27FC236}">
                <a16:creationId xmlns:a16="http://schemas.microsoft.com/office/drawing/2014/main" id="{178A3451-6D54-4C6B-3AED-FABA494F9DE2}"/>
              </a:ext>
            </a:extLst>
          </p:cNvPr>
          <p:cNvSpPr/>
          <p:nvPr/>
        </p:nvSpPr>
        <p:spPr>
          <a:xfrm>
            <a:off x="1584960" y="3267456"/>
            <a:ext cx="4876800" cy="463296"/>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Layer 2 — AI &amp; ANALYTICS</a:t>
            </a:r>
            <a:endParaRPr lang="en-US" sz="1733" dirty="0"/>
          </a:p>
        </p:txBody>
      </p:sp>
      <p:sp>
        <p:nvSpPr>
          <p:cNvPr id="93" name="Text 11">
            <a:extLst>
              <a:ext uri="{FF2B5EF4-FFF2-40B4-BE49-F238E27FC236}">
                <a16:creationId xmlns:a16="http://schemas.microsoft.com/office/drawing/2014/main" id="{6E0749DF-A339-C041-76C1-548C30AEEA1D}"/>
              </a:ext>
            </a:extLst>
          </p:cNvPr>
          <p:cNvSpPr/>
          <p:nvPr/>
        </p:nvSpPr>
        <p:spPr>
          <a:xfrm>
            <a:off x="1584960" y="3694176"/>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Microsoft Fabric · Azure ML · OpenAI</a:t>
            </a:r>
            <a:endParaRPr lang="en-US" sz="1467" dirty="0"/>
          </a:p>
        </p:txBody>
      </p:sp>
      <p:sp>
        <p:nvSpPr>
          <p:cNvPr id="94" name="Text 12">
            <a:extLst>
              <a:ext uri="{FF2B5EF4-FFF2-40B4-BE49-F238E27FC236}">
                <a16:creationId xmlns:a16="http://schemas.microsoft.com/office/drawing/2014/main" id="{E073A63F-C896-3363-C308-03DC89C88E48}"/>
              </a:ext>
            </a:extLst>
          </p:cNvPr>
          <p:cNvSpPr/>
          <p:nvPr/>
        </p:nvSpPr>
        <p:spPr>
          <a:xfrm>
            <a:off x="6461760" y="3291840"/>
            <a:ext cx="4998720" cy="1097280"/>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Prophet, LightGBM, LSTM for forecasting. OR-Tools for optimization. Semantic models in Power BI. Real-time scoring APIs.</a:t>
            </a:r>
            <a:endParaRPr lang="en-US" sz="1467" dirty="0"/>
          </a:p>
        </p:txBody>
      </p:sp>
      <p:sp>
        <p:nvSpPr>
          <p:cNvPr id="95" name="Shape 13">
            <a:extLst>
              <a:ext uri="{FF2B5EF4-FFF2-40B4-BE49-F238E27FC236}">
                <a16:creationId xmlns:a16="http://schemas.microsoft.com/office/drawing/2014/main" id="{9C5655DE-0A6C-9012-14FD-F21AFB088A32}"/>
              </a:ext>
            </a:extLst>
          </p:cNvPr>
          <p:cNvSpPr/>
          <p:nvPr/>
        </p:nvSpPr>
        <p:spPr>
          <a:xfrm>
            <a:off x="426720" y="4828032"/>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6" name="Shape 14">
            <a:extLst>
              <a:ext uri="{FF2B5EF4-FFF2-40B4-BE49-F238E27FC236}">
                <a16:creationId xmlns:a16="http://schemas.microsoft.com/office/drawing/2014/main" id="{E6317006-5F4F-8730-9B71-BEAE8ECF7498}"/>
              </a:ext>
            </a:extLst>
          </p:cNvPr>
          <p:cNvSpPr/>
          <p:nvPr/>
        </p:nvSpPr>
        <p:spPr>
          <a:xfrm>
            <a:off x="426720" y="4828032"/>
            <a:ext cx="85344" cy="1463040"/>
          </a:xfrm>
          <a:prstGeom prst="rect">
            <a:avLst/>
          </a:prstGeom>
          <a:solidFill>
            <a:srgbClr val="00B294"/>
          </a:solidFill>
          <a:ln w="12700">
            <a:solidFill>
              <a:srgbClr val="00B294"/>
            </a:solidFill>
            <a:prstDash val="solid"/>
          </a:ln>
        </p:spPr>
        <p:txBody>
          <a:bodyPr/>
          <a:lstStyle/>
          <a:p>
            <a:endParaRPr lang="en-IN" sz="1867"/>
          </a:p>
        </p:txBody>
      </p:sp>
      <p:pic>
        <p:nvPicPr>
          <p:cNvPr id="97" name="Image 2" descr="preencoded.png">
            <a:extLst>
              <a:ext uri="{FF2B5EF4-FFF2-40B4-BE49-F238E27FC236}">
                <a16:creationId xmlns:a16="http://schemas.microsoft.com/office/drawing/2014/main" id="{95FA7820-861B-459A-60D9-8E781E43F02A}"/>
              </a:ext>
            </a:extLst>
          </p:cNvPr>
          <p:cNvPicPr>
            <a:picLocks noChangeAspect="1"/>
          </p:cNvPicPr>
          <p:nvPr/>
        </p:nvPicPr>
        <p:blipFill>
          <a:blip r:embed="rId4"/>
          <a:stretch>
            <a:fillRect/>
          </a:stretch>
        </p:blipFill>
        <p:spPr>
          <a:xfrm>
            <a:off x="731520" y="5254752"/>
            <a:ext cx="609600" cy="609600"/>
          </a:xfrm>
          <a:prstGeom prst="rect">
            <a:avLst/>
          </a:prstGeom>
        </p:spPr>
      </p:pic>
      <p:sp>
        <p:nvSpPr>
          <p:cNvPr id="98" name="Text 15">
            <a:extLst>
              <a:ext uri="{FF2B5EF4-FFF2-40B4-BE49-F238E27FC236}">
                <a16:creationId xmlns:a16="http://schemas.microsoft.com/office/drawing/2014/main" id="{572BD2C2-9575-E83B-8F67-19790FC6AFA1}"/>
              </a:ext>
            </a:extLst>
          </p:cNvPr>
          <p:cNvSpPr/>
          <p:nvPr/>
        </p:nvSpPr>
        <p:spPr>
          <a:xfrm>
            <a:off x="1584960" y="4949952"/>
            <a:ext cx="4876800" cy="463296"/>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Layer 3 — AGENTIC BOT</a:t>
            </a:r>
            <a:endParaRPr lang="en-US" sz="1733" dirty="0"/>
          </a:p>
        </p:txBody>
      </p:sp>
      <p:sp>
        <p:nvSpPr>
          <p:cNvPr id="99" name="Text 16">
            <a:extLst>
              <a:ext uri="{FF2B5EF4-FFF2-40B4-BE49-F238E27FC236}">
                <a16:creationId xmlns:a16="http://schemas.microsoft.com/office/drawing/2014/main" id="{71DB4528-F4CB-8208-DDAF-D04D37590A8A}"/>
              </a:ext>
            </a:extLst>
          </p:cNvPr>
          <p:cNvSpPr/>
          <p:nvPr/>
        </p:nvSpPr>
        <p:spPr>
          <a:xfrm>
            <a:off x="1584960" y="5376672"/>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Copilot Studio + Azure OpenAI</a:t>
            </a:r>
            <a:endParaRPr lang="en-US" sz="1467" dirty="0"/>
          </a:p>
        </p:txBody>
      </p:sp>
      <p:sp>
        <p:nvSpPr>
          <p:cNvPr id="100" name="Text 17">
            <a:extLst>
              <a:ext uri="{FF2B5EF4-FFF2-40B4-BE49-F238E27FC236}">
                <a16:creationId xmlns:a16="http://schemas.microsoft.com/office/drawing/2014/main" id="{52205459-3990-28AF-88B2-1B80BD1CDD3E}"/>
              </a:ext>
            </a:extLst>
          </p:cNvPr>
          <p:cNvSpPr/>
          <p:nvPr/>
        </p:nvSpPr>
        <p:spPr>
          <a:xfrm>
            <a:off x="6461760" y="4974336"/>
            <a:ext cx="4998720" cy="1097280"/>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Natural language interface wrapping all AI models. Autonomous decision loops — order, alert, reroute. Integrated with SAP back-write via APIs.</a:t>
            </a:r>
            <a:endParaRPr lang="en-US" sz="1467" dirty="0"/>
          </a:p>
        </p:txBody>
      </p:sp>
      <p:sp>
        <p:nvSpPr>
          <p:cNvPr id="101" name="Shape 18">
            <a:extLst>
              <a:ext uri="{FF2B5EF4-FFF2-40B4-BE49-F238E27FC236}">
                <a16:creationId xmlns:a16="http://schemas.microsoft.com/office/drawing/2014/main" id="{BD29556C-CFB7-3C35-E8C8-2884EB6D39DE}"/>
              </a:ext>
            </a:extLst>
          </p:cNvPr>
          <p:cNvSpPr/>
          <p:nvPr/>
        </p:nvSpPr>
        <p:spPr>
          <a:xfrm>
            <a:off x="5730240" y="2913888"/>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2" name="Image 3" descr="preencoded.png">
            <a:extLst>
              <a:ext uri="{FF2B5EF4-FFF2-40B4-BE49-F238E27FC236}">
                <a16:creationId xmlns:a16="http://schemas.microsoft.com/office/drawing/2014/main" id="{B9CF1961-803F-6FB9-491C-4797455C04A4}"/>
              </a:ext>
            </a:extLst>
          </p:cNvPr>
          <p:cNvPicPr>
            <a:picLocks noChangeAspect="1"/>
          </p:cNvPicPr>
          <p:nvPr/>
        </p:nvPicPr>
        <p:blipFill>
          <a:blip r:embed="rId5"/>
          <a:stretch>
            <a:fillRect/>
          </a:stretch>
        </p:blipFill>
        <p:spPr>
          <a:xfrm>
            <a:off x="5791200" y="2865120"/>
            <a:ext cx="304800" cy="304800"/>
          </a:xfrm>
          <a:prstGeom prst="rect">
            <a:avLst/>
          </a:prstGeom>
        </p:spPr>
      </p:pic>
      <p:sp>
        <p:nvSpPr>
          <p:cNvPr id="103" name="Shape 19">
            <a:extLst>
              <a:ext uri="{FF2B5EF4-FFF2-40B4-BE49-F238E27FC236}">
                <a16:creationId xmlns:a16="http://schemas.microsoft.com/office/drawing/2014/main" id="{34658C87-CE00-786D-D510-C15C4E412CE7}"/>
              </a:ext>
            </a:extLst>
          </p:cNvPr>
          <p:cNvSpPr/>
          <p:nvPr/>
        </p:nvSpPr>
        <p:spPr>
          <a:xfrm>
            <a:off x="5730240" y="4596384"/>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4" name="Image 4" descr="preencoded.png">
            <a:extLst>
              <a:ext uri="{FF2B5EF4-FFF2-40B4-BE49-F238E27FC236}">
                <a16:creationId xmlns:a16="http://schemas.microsoft.com/office/drawing/2014/main" id="{E655B131-58AD-278D-6811-9B54B483F412}"/>
              </a:ext>
            </a:extLst>
          </p:cNvPr>
          <p:cNvPicPr>
            <a:picLocks noChangeAspect="1"/>
          </p:cNvPicPr>
          <p:nvPr/>
        </p:nvPicPr>
        <p:blipFill>
          <a:blip r:embed="rId5"/>
          <a:stretch>
            <a:fillRect/>
          </a:stretch>
        </p:blipFill>
        <p:spPr>
          <a:xfrm>
            <a:off x="5791200" y="4547616"/>
            <a:ext cx="304800" cy="304800"/>
          </a:xfrm>
          <a:prstGeom prst="rect">
            <a:avLst/>
          </a:prstGeom>
        </p:spPr>
      </p:pic>
    </p:spTree>
    <p:extLst>
      <p:ext uri="{BB962C8B-B14F-4D97-AF65-F5344CB8AC3E}">
        <p14:creationId xmlns:p14="http://schemas.microsoft.com/office/powerpoint/2010/main" val="1650460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5B2DE-9F4F-1687-1D1F-B164B899FE2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05F73E-9262-CC8F-6917-50AA63EFE56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8BB1DE2-1916-0397-10B0-E7E159E6B8D6}"/>
              </a:ext>
            </a:extLst>
          </p:cNvPr>
          <p:cNvSpPr>
            <a:spLocks noGrp="1"/>
          </p:cNvSpPr>
          <p:nvPr>
            <p:ph type="sldNum" sz="quarter" idx="4"/>
          </p:nvPr>
        </p:nvSpPr>
        <p:spPr/>
        <p:txBody>
          <a:bodyPr/>
          <a:lstStyle/>
          <a:p>
            <a:fld id="{13CE6DAF-806F-404B-BC68-339BFCB57E5C}" type="slidenum">
              <a:rPr lang="en-US" smtClean="0"/>
              <a:pPr/>
              <a:t>4</a:t>
            </a:fld>
            <a:endParaRPr lang="en-US"/>
          </a:p>
        </p:txBody>
      </p:sp>
      <p:sp>
        <p:nvSpPr>
          <p:cNvPr id="5" name="Shape 0">
            <a:extLst>
              <a:ext uri="{FF2B5EF4-FFF2-40B4-BE49-F238E27FC236}">
                <a16:creationId xmlns:a16="http://schemas.microsoft.com/office/drawing/2014/main" id="{61BB300C-3338-6368-5AD6-6F6A0454D283}"/>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4EFAAFAD-2ACD-AA97-B028-F0D24491F940}"/>
              </a:ext>
            </a:extLst>
          </p:cNvPr>
          <p:cNvSpPr/>
          <p:nvPr/>
        </p:nvSpPr>
        <p:spPr>
          <a:xfrm>
            <a:off x="371475" y="223521"/>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Data Integration: SAP → Microsoft Fabric</a:t>
            </a:r>
            <a:endParaRPr lang="en-US" sz="3467" dirty="0">
              <a:latin typeface="+mj-lt"/>
            </a:endParaRPr>
          </a:p>
        </p:txBody>
      </p:sp>
      <p:sp>
        <p:nvSpPr>
          <p:cNvPr id="7" name="Text 2">
            <a:extLst>
              <a:ext uri="{FF2B5EF4-FFF2-40B4-BE49-F238E27FC236}">
                <a16:creationId xmlns:a16="http://schemas.microsoft.com/office/drawing/2014/main" id="{610F473D-A129-52F9-95D1-1E9D057F49CE}"/>
              </a:ext>
            </a:extLst>
          </p:cNvPr>
          <p:cNvSpPr/>
          <p:nvPr/>
        </p:nvSpPr>
        <p:spPr>
          <a:xfrm>
            <a:off x="457200" y="866998"/>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MDP methods that maintain data fidelity and governance</a:t>
            </a:r>
            <a:endParaRPr lang="en-US" sz="1733" dirty="0"/>
          </a:p>
        </p:txBody>
      </p:sp>
      <p:sp>
        <p:nvSpPr>
          <p:cNvPr id="8" name="Text 3">
            <a:extLst>
              <a:ext uri="{FF2B5EF4-FFF2-40B4-BE49-F238E27FC236}">
                <a16:creationId xmlns:a16="http://schemas.microsoft.com/office/drawing/2014/main" id="{E8956B63-7BDF-0C04-1C20-813A1E2F57F3}"/>
              </a:ext>
            </a:extLst>
          </p:cNvPr>
          <p:cNvSpPr/>
          <p:nvPr/>
        </p:nvSpPr>
        <p:spPr>
          <a:xfrm>
            <a:off x="426720" y="1487424"/>
            <a:ext cx="5486400" cy="426720"/>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Extraction Methods</a:t>
            </a:r>
            <a:endParaRPr lang="en-US" sz="1867" dirty="0"/>
          </a:p>
        </p:txBody>
      </p:sp>
      <p:sp>
        <p:nvSpPr>
          <p:cNvPr id="9" name="Shape 4">
            <a:extLst>
              <a:ext uri="{FF2B5EF4-FFF2-40B4-BE49-F238E27FC236}">
                <a16:creationId xmlns:a16="http://schemas.microsoft.com/office/drawing/2014/main" id="{FA6DBF8A-F32F-C80C-0831-ACE37C13E247}"/>
              </a:ext>
            </a:extLst>
          </p:cNvPr>
          <p:cNvSpPr/>
          <p:nvPr/>
        </p:nvSpPr>
        <p:spPr>
          <a:xfrm>
            <a:off x="426720" y="2011680"/>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0" name="Text 5">
            <a:extLst>
              <a:ext uri="{FF2B5EF4-FFF2-40B4-BE49-F238E27FC236}">
                <a16:creationId xmlns:a16="http://schemas.microsoft.com/office/drawing/2014/main" id="{205189F8-3780-F7A9-668A-81D54A294001}"/>
              </a:ext>
            </a:extLst>
          </p:cNvPr>
          <p:cNvSpPr/>
          <p:nvPr/>
        </p:nvSpPr>
        <p:spPr>
          <a:xfrm>
            <a:off x="609600" y="2060448"/>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ODP</a:t>
            </a:r>
            <a:endParaRPr lang="en-US" sz="1533" dirty="0"/>
          </a:p>
        </p:txBody>
      </p:sp>
      <p:sp>
        <p:nvSpPr>
          <p:cNvPr id="11" name="Text 6">
            <a:extLst>
              <a:ext uri="{FF2B5EF4-FFF2-40B4-BE49-F238E27FC236}">
                <a16:creationId xmlns:a16="http://schemas.microsoft.com/office/drawing/2014/main" id="{07C3C8F4-A62E-E24B-DCD1-66B099D72C90}"/>
              </a:ext>
            </a:extLst>
          </p:cNvPr>
          <p:cNvSpPr/>
          <p:nvPr/>
        </p:nvSpPr>
        <p:spPr>
          <a:xfrm>
            <a:off x="609600" y="2340864"/>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Operational Data Provisioning — delta extracts from BW/S4</a:t>
            </a:r>
            <a:endParaRPr lang="en-US" sz="1333" dirty="0"/>
          </a:p>
        </p:txBody>
      </p:sp>
      <p:sp>
        <p:nvSpPr>
          <p:cNvPr id="12" name="Shape 7">
            <a:extLst>
              <a:ext uri="{FF2B5EF4-FFF2-40B4-BE49-F238E27FC236}">
                <a16:creationId xmlns:a16="http://schemas.microsoft.com/office/drawing/2014/main" id="{57BE1349-444A-1342-8714-8CDB2F1B3CD1}"/>
              </a:ext>
            </a:extLst>
          </p:cNvPr>
          <p:cNvSpPr/>
          <p:nvPr/>
        </p:nvSpPr>
        <p:spPr>
          <a:xfrm>
            <a:off x="426720" y="2828544"/>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Text 8">
            <a:extLst>
              <a:ext uri="{FF2B5EF4-FFF2-40B4-BE49-F238E27FC236}">
                <a16:creationId xmlns:a16="http://schemas.microsoft.com/office/drawing/2014/main" id="{A1FDB9EA-9757-6957-CE3A-E969B5BBF4E7}"/>
              </a:ext>
            </a:extLst>
          </p:cNvPr>
          <p:cNvSpPr/>
          <p:nvPr/>
        </p:nvSpPr>
        <p:spPr>
          <a:xfrm>
            <a:off x="609600" y="2877312"/>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BAPI/RFC</a:t>
            </a:r>
            <a:endParaRPr lang="en-US" sz="1533" dirty="0"/>
          </a:p>
        </p:txBody>
      </p:sp>
      <p:sp>
        <p:nvSpPr>
          <p:cNvPr id="14" name="Text 9">
            <a:extLst>
              <a:ext uri="{FF2B5EF4-FFF2-40B4-BE49-F238E27FC236}">
                <a16:creationId xmlns:a16="http://schemas.microsoft.com/office/drawing/2014/main" id="{F89020FE-A229-9F4B-7457-E0A5A1ABDA2B}"/>
              </a:ext>
            </a:extLst>
          </p:cNvPr>
          <p:cNvSpPr/>
          <p:nvPr/>
        </p:nvSpPr>
        <p:spPr>
          <a:xfrm>
            <a:off x="609600" y="3157728"/>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Standard function modules for MM, SD, PP master &amp; transactional data</a:t>
            </a:r>
            <a:endParaRPr lang="en-US" sz="1333" dirty="0"/>
          </a:p>
        </p:txBody>
      </p:sp>
      <p:sp>
        <p:nvSpPr>
          <p:cNvPr id="15" name="Shape 10">
            <a:extLst>
              <a:ext uri="{FF2B5EF4-FFF2-40B4-BE49-F238E27FC236}">
                <a16:creationId xmlns:a16="http://schemas.microsoft.com/office/drawing/2014/main" id="{35DA93C3-3AF1-F683-8B47-02C7ADDE4064}"/>
              </a:ext>
            </a:extLst>
          </p:cNvPr>
          <p:cNvSpPr/>
          <p:nvPr/>
        </p:nvSpPr>
        <p:spPr>
          <a:xfrm>
            <a:off x="426720" y="3645408"/>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Text 11">
            <a:extLst>
              <a:ext uri="{FF2B5EF4-FFF2-40B4-BE49-F238E27FC236}">
                <a16:creationId xmlns:a16="http://schemas.microsoft.com/office/drawing/2014/main" id="{63CDA991-0EC5-E348-3348-BF616F0D6738}"/>
              </a:ext>
            </a:extLst>
          </p:cNvPr>
          <p:cNvSpPr/>
          <p:nvPr/>
        </p:nvSpPr>
        <p:spPr>
          <a:xfrm>
            <a:off x="609600" y="3694176"/>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Extractor</a:t>
            </a:r>
            <a:endParaRPr lang="en-US" sz="1533" dirty="0"/>
          </a:p>
        </p:txBody>
      </p:sp>
      <p:sp>
        <p:nvSpPr>
          <p:cNvPr id="17" name="Text 12">
            <a:extLst>
              <a:ext uri="{FF2B5EF4-FFF2-40B4-BE49-F238E27FC236}">
                <a16:creationId xmlns:a16="http://schemas.microsoft.com/office/drawing/2014/main" id="{0031CBB8-703F-4156-27AA-551329EE54D0}"/>
              </a:ext>
            </a:extLst>
          </p:cNvPr>
          <p:cNvSpPr/>
          <p:nvPr/>
        </p:nvSpPr>
        <p:spPr>
          <a:xfrm>
            <a:off x="609600" y="3974592"/>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LO Cockpit extractors for logistics movements, GR/GI events</a:t>
            </a:r>
            <a:endParaRPr lang="en-US" sz="1333" dirty="0"/>
          </a:p>
        </p:txBody>
      </p:sp>
      <p:sp>
        <p:nvSpPr>
          <p:cNvPr id="18" name="Shape 13">
            <a:extLst>
              <a:ext uri="{FF2B5EF4-FFF2-40B4-BE49-F238E27FC236}">
                <a16:creationId xmlns:a16="http://schemas.microsoft.com/office/drawing/2014/main" id="{59E6C67C-C66B-49DB-B479-2B7B60CA5CE4}"/>
              </a:ext>
            </a:extLst>
          </p:cNvPr>
          <p:cNvSpPr/>
          <p:nvPr/>
        </p:nvSpPr>
        <p:spPr>
          <a:xfrm>
            <a:off x="426720" y="4462272"/>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Text 14">
            <a:extLst>
              <a:ext uri="{FF2B5EF4-FFF2-40B4-BE49-F238E27FC236}">
                <a16:creationId xmlns:a16="http://schemas.microsoft.com/office/drawing/2014/main" id="{3A6C3609-6483-4889-8D3B-C5BADAA63712}"/>
              </a:ext>
            </a:extLst>
          </p:cNvPr>
          <p:cNvSpPr/>
          <p:nvPr/>
        </p:nvSpPr>
        <p:spPr>
          <a:xfrm>
            <a:off x="609600" y="4511040"/>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ADF SAP Connector</a:t>
            </a:r>
            <a:endParaRPr lang="en-US" sz="1533" dirty="0"/>
          </a:p>
        </p:txBody>
      </p:sp>
      <p:sp>
        <p:nvSpPr>
          <p:cNvPr id="20" name="Text 15">
            <a:extLst>
              <a:ext uri="{FF2B5EF4-FFF2-40B4-BE49-F238E27FC236}">
                <a16:creationId xmlns:a16="http://schemas.microsoft.com/office/drawing/2014/main" id="{96386F67-DD8F-06B2-6F31-D00E8ED66D59}"/>
              </a:ext>
            </a:extLst>
          </p:cNvPr>
          <p:cNvSpPr/>
          <p:nvPr/>
        </p:nvSpPr>
        <p:spPr>
          <a:xfrm>
            <a:off x="609600" y="4791456"/>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Native Azure Data Factory connector — no middleware needed</a:t>
            </a:r>
            <a:endParaRPr lang="en-US" sz="1333" dirty="0"/>
          </a:p>
        </p:txBody>
      </p:sp>
      <p:sp>
        <p:nvSpPr>
          <p:cNvPr id="21" name="Shape 16">
            <a:extLst>
              <a:ext uri="{FF2B5EF4-FFF2-40B4-BE49-F238E27FC236}">
                <a16:creationId xmlns:a16="http://schemas.microsoft.com/office/drawing/2014/main" id="{535037A9-A56E-9F64-AE8B-9DD01E149992}"/>
              </a:ext>
            </a:extLst>
          </p:cNvPr>
          <p:cNvSpPr/>
          <p:nvPr/>
        </p:nvSpPr>
        <p:spPr>
          <a:xfrm>
            <a:off x="426720" y="5279136"/>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Text 17">
            <a:extLst>
              <a:ext uri="{FF2B5EF4-FFF2-40B4-BE49-F238E27FC236}">
                <a16:creationId xmlns:a16="http://schemas.microsoft.com/office/drawing/2014/main" id="{001B0D00-6AD8-B5FB-2BF7-1877A766BD43}"/>
              </a:ext>
            </a:extLst>
          </p:cNvPr>
          <p:cNvSpPr/>
          <p:nvPr/>
        </p:nvSpPr>
        <p:spPr>
          <a:xfrm>
            <a:off x="609600" y="5327904"/>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Change Data Capture</a:t>
            </a:r>
            <a:endParaRPr lang="en-US" sz="1533" dirty="0"/>
          </a:p>
        </p:txBody>
      </p:sp>
      <p:sp>
        <p:nvSpPr>
          <p:cNvPr id="23" name="Text 18">
            <a:extLst>
              <a:ext uri="{FF2B5EF4-FFF2-40B4-BE49-F238E27FC236}">
                <a16:creationId xmlns:a16="http://schemas.microsoft.com/office/drawing/2014/main" id="{AE4288CE-849B-5D1A-7E7E-0DC3DA5260FF}"/>
              </a:ext>
            </a:extLst>
          </p:cNvPr>
          <p:cNvSpPr/>
          <p:nvPr/>
        </p:nvSpPr>
        <p:spPr>
          <a:xfrm>
            <a:off x="609600" y="5608320"/>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Near real-time via SLT / OData streaming to Event Hub</a:t>
            </a:r>
            <a:endParaRPr lang="en-US" sz="1333" dirty="0"/>
          </a:p>
        </p:txBody>
      </p:sp>
      <p:sp>
        <p:nvSpPr>
          <p:cNvPr id="24" name="Text 19">
            <a:extLst>
              <a:ext uri="{FF2B5EF4-FFF2-40B4-BE49-F238E27FC236}">
                <a16:creationId xmlns:a16="http://schemas.microsoft.com/office/drawing/2014/main" id="{29CDCC8B-5ADD-FE49-B4A3-A82CD9767C3F}"/>
              </a:ext>
            </a:extLst>
          </p:cNvPr>
          <p:cNvSpPr/>
          <p:nvPr/>
        </p:nvSpPr>
        <p:spPr>
          <a:xfrm>
            <a:off x="6339840" y="1487424"/>
            <a:ext cx="5486400" cy="426720"/>
          </a:xfrm>
          <a:prstGeom prst="rect">
            <a:avLst/>
          </a:prstGeom>
          <a:noFill/>
          <a:ln/>
        </p:spPr>
        <p:txBody>
          <a:bodyPr wrap="square" lIns="0" tIns="0" rIns="0" bIns="0" rtlCol="0" anchor="ctr"/>
          <a:lstStyle/>
          <a:p>
            <a:r>
              <a:rPr lang="en-US" sz="1867" b="1" dirty="0">
                <a:solidFill>
                  <a:srgbClr val="FFB900"/>
                </a:solidFill>
                <a:ea typeface="Calibri" pitchFamily="34" charset="-122"/>
                <a:cs typeface="Calibri" pitchFamily="34" charset="-120"/>
              </a:rPr>
              <a:t>Microsoft Fabric Zones</a:t>
            </a:r>
            <a:endParaRPr lang="en-US" sz="1867" dirty="0"/>
          </a:p>
        </p:txBody>
      </p:sp>
      <p:sp>
        <p:nvSpPr>
          <p:cNvPr id="25" name="Shape 20">
            <a:extLst>
              <a:ext uri="{FF2B5EF4-FFF2-40B4-BE49-F238E27FC236}">
                <a16:creationId xmlns:a16="http://schemas.microsoft.com/office/drawing/2014/main" id="{4C92F7D5-707A-81F1-0D9C-A970B85C7EA7}"/>
              </a:ext>
            </a:extLst>
          </p:cNvPr>
          <p:cNvSpPr/>
          <p:nvPr/>
        </p:nvSpPr>
        <p:spPr>
          <a:xfrm>
            <a:off x="6278880" y="201168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21">
            <a:extLst>
              <a:ext uri="{FF2B5EF4-FFF2-40B4-BE49-F238E27FC236}">
                <a16:creationId xmlns:a16="http://schemas.microsoft.com/office/drawing/2014/main" id="{2B90EE87-8DC9-77D0-A921-4493BD7F8CAA}"/>
              </a:ext>
            </a:extLst>
          </p:cNvPr>
          <p:cNvSpPr/>
          <p:nvPr/>
        </p:nvSpPr>
        <p:spPr>
          <a:xfrm>
            <a:off x="6278880" y="2011680"/>
            <a:ext cx="5547360" cy="85344"/>
          </a:xfrm>
          <a:prstGeom prst="rect">
            <a:avLst/>
          </a:prstGeom>
          <a:solidFill>
            <a:srgbClr val="0078D4"/>
          </a:solidFill>
          <a:ln w="12700">
            <a:solidFill>
              <a:srgbClr val="0078D4"/>
            </a:solidFill>
            <a:prstDash val="solid"/>
          </a:ln>
        </p:spPr>
        <p:txBody>
          <a:bodyPr/>
          <a:lstStyle/>
          <a:p>
            <a:endParaRPr lang="en-IN" sz="1867"/>
          </a:p>
        </p:txBody>
      </p:sp>
      <p:sp>
        <p:nvSpPr>
          <p:cNvPr id="27" name="Text 22">
            <a:extLst>
              <a:ext uri="{FF2B5EF4-FFF2-40B4-BE49-F238E27FC236}">
                <a16:creationId xmlns:a16="http://schemas.microsoft.com/office/drawing/2014/main" id="{A3891F65-5BEB-AD77-647C-6D28A06896C2}"/>
              </a:ext>
            </a:extLst>
          </p:cNvPr>
          <p:cNvSpPr/>
          <p:nvPr/>
        </p:nvSpPr>
        <p:spPr>
          <a:xfrm>
            <a:off x="6461760" y="2194560"/>
            <a:ext cx="5120640" cy="365760"/>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Bronze / Raw</a:t>
            </a:r>
            <a:endParaRPr lang="en-US" sz="1733" dirty="0"/>
          </a:p>
        </p:txBody>
      </p:sp>
      <p:sp>
        <p:nvSpPr>
          <p:cNvPr id="28" name="Text 23">
            <a:extLst>
              <a:ext uri="{FF2B5EF4-FFF2-40B4-BE49-F238E27FC236}">
                <a16:creationId xmlns:a16="http://schemas.microsoft.com/office/drawing/2014/main" id="{017C1519-9466-6FF1-0A54-F288CCDADB2B}"/>
              </a:ext>
            </a:extLst>
          </p:cNvPr>
          <p:cNvSpPr/>
          <p:nvPr/>
        </p:nvSpPr>
        <p:spPr>
          <a:xfrm>
            <a:off x="6461760" y="259689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Full-fidelity SAP tables — VBAK, EKKO, MARA, MSEG, LIPS…</a:t>
            </a:r>
            <a:endParaRPr lang="en-US" sz="1467" dirty="0"/>
          </a:p>
        </p:txBody>
      </p:sp>
      <p:sp>
        <p:nvSpPr>
          <p:cNvPr id="29" name="Shape 24">
            <a:extLst>
              <a:ext uri="{FF2B5EF4-FFF2-40B4-BE49-F238E27FC236}">
                <a16:creationId xmlns:a16="http://schemas.microsoft.com/office/drawing/2014/main" id="{425FBEBB-70DF-ABDC-4A8B-60619F929456}"/>
              </a:ext>
            </a:extLst>
          </p:cNvPr>
          <p:cNvSpPr/>
          <p:nvPr/>
        </p:nvSpPr>
        <p:spPr>
          <a:xfrm>
            <a:off x="6278880" y="335280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0" name="Shape 25">
            <a:extLst>
              <a:ext uri="{FF2B5EF4-FFF2-40B4-BE49-F238E27FC236}">
                <a16:creationId xmlns:a16="http://schemas.microsoft.com/office/drawing/2014/main" id="{A903FAC6-CFB9-9592-E2B2-20C9537FC747}"/>
              </a:ext>
            </a:extLst>
          </p:cNvPr>
          <p:cNvSpPr/>
          <p:nvPr/>
        </p:nvSpPr>
        <p:spPr>
          <a:xfrm>
            <a:off x="6278880" y="3352800"/>
            <a:ext cx="5547360" cy="85344"/>
          </a:xfrm>
          <a:prstGeom prst="rect">
            <a:avLst/>
          </a:prstGeom>
          <a:solidFill>
            <a:srgbClr val="00B294"/>
          </a:solidFill>
          <a:ln w="12700">
            <a:solidFill>
              <a:srgbClr val="00B294"/>
            </a:solidFill>
            <a:prstDash val="solid"/>
          </a:ln>
        </p:spPr>
        <p:txBody>
          <a:bodyPr/>
          <a:lstStyle/>
          <a:p>
            <a:endParaRPr lang="en-IN" sz="1867"/>
          </a:p>
        </p:txBody>
      </p:sp>
      <p:sp>
        <p:nvSpPr>
          <p:cNvPr id="31" name="Text 26">
            <a:extLst>
              <a:ext uri="{FF2B5EF4-FFF2-40B4-BE49-F238E27FC236}">
                <a16:creationId xmlns:a16="http://schemas.microsoft.com/office/drawing/2014/main" id="{1CBDF03C-C4B5-8B55-BAE2-9572DBBE10EC}"/>
              </a:ext>
            </a:extLst>
          </p:cNvPr>
          <p:cNvSpPr/>
          <p:nvPr/>
        </p:nvSpPr>
        <p:spPr>
          <a:xfrm>
            <a:off x="6461760" y="3535680"/>
            <a:ext cx="5120640" cy="365760"/>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Silver / Curated</a:t>
            </a:r>
            <a:endParaRPr lang="en-US" sz="1733" dirty="0"/>
          </a:p>
        </p:txBody>
      </p:sp>
      <p:sp>
        <p:nvSpPr>
          <p:cNvPr id="32" name="Text 27">
            <a:extLst>
              <a:ext uri="{FF2B5EF4-FFF2-40B4-BE49-F238E27FC236}">
                <a16:creationId xmlns:a16="http://schemas.microsoft.com/office/drawing/2014/main" id="{725EA9F8-C1E9-3547-78F1-E8F4DDCDBDB8}"/>
              </a:ext>
            </a:extLst>
          </p:cNvPr>
          <p:cNvSpPr/>
          <p:nvPr/>
        </p:nvSpPr>
        <p:spPr>
          <a:xfrm>
            <a:off x="6461760" y="393801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Cleansed, joined, SCD2 history — ready for ML feature engineering</a:t>
            </a:r>
            <a:endParaRPr lang="en-US" sz="1467" dirty="0"/>
          </a:p>
        </p:txBody>
      </p:sp>
      <p:sp>
        <p:nvSpPr>
          <p:cNvPr id="33" name="Shape 28">
            <a:extLst>
              <a:ext uri="{FF2B5EF4-FFF2-40B4-BE49-F238E27FC236}">
                <a16:creationId xmlns:a16="http://schemas.microsoft.com/office/drawing/2014/main" id="{E5CF8B6F-336F-6DAB-59DF-D667DAD04CCB}"/>
              </a:ext>
            </a:extLst>
          </p:cNvPr>
          <p:cNvSpPr/>
          <p:nvPr/>
        </p:nvSpPr>
        <p:spPr>
          <a:xfrm>
            <a:off x="6278880" y="469392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4" name="Shape 29">
            <a:extLst>
              <a:ext uri="{FF2B5EF4-FFF2-40B4-BE49-F238E27FC236}">
                <a16:creationId xmlns:a16="http://schemas.microsoft.com/office/drawing/2014/main" id="{904678ED-D451-17E0-85DC-F3291C7A3F2C}"/>
              </a:ext>
            </a:extLst>
          </p:cNvPr>
          <p:cNvSpPr/>
          <p:nvPr/>
        </p:nvSpPr>
        <p:spPr>
          <a:xfrm>
            <a:off x="6278880" y="4693920"/>
            <a:ext cx="5547360" cy="85344"/>
          </a:xfrm>
          <a:prstGeom prst="rect">
            <a:avLst/>
          </a:prstGeom>
          <a:solidFill>
            <a:srgbClr val="FFB900"/>
          </a:solidFill>
          <a:ln w="12700">
            <a:solidFill>
              <a:srgbClr val="FFB900"/>
            </a:solidFill>
            <a:prstDash val="solid"/>
          </a:ln>
        </p:spPr>
        <p:txBody>
          <a:bodyPr/>
          <a:lstStyle/>
          <a:p>
            <a:endParaRPr lang="en-IN" sz="1867"/>
          </a:p>
        </p:txBody>
      </p:sp>
      <p:sp>
        <p:nvSpPr>
          <p:cNvPr id="35" name="Text 30">
            <a:extLst>
              <a:ext uri="{FF2B5EF4-FFF2-40B4-BE49-F238E27FC236}">
                <a16:creationId xmlns:a16="http://schemas.microsoft.com/office/drawing/2014/main" id="{B50EB87B-C9E0-4731-7EB9-F0D2E8AE80A0}"/>
              </a:ext>
            </a:extLst>
          </p:cNvPr>
          <p:cNvSpPr/>
          <p:nvPr/>
        </p:nvSpPr>
        <p:spPr>
          <a:xfrm>
            <a:off x="6461760" y="4876800"/>
            <a:ext cx="5120640" cy="36576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Gold / Semantic</a:t>
            </a:r>
            <a:endParaRPr lang="en-US" sz="1733" dirty="0"/>
          </a:p>
        </p:txBody>
      </p:sp>
      <p:sp>
        <p:nvSpPr>
          <p:cNvPr id="36" name="Text 31">
            <a:extLst>
              <a:ext uri="{FF2B5EF4-FFF2-40B4-BE49-F238E27FC236}">
                <a16:creationId xmlns:a16="http://schemas.microsoft.com/office/drawing/2014/main" id="{3D2317E0-7A27-C33D-63A8-FAC70C412796}"/>
              </a:ext>
            </a:extLst>
          </p:cNvPr>
          <p:cNvSpPr/>
          <p:nvPr/>
        </p:nvSpPr>
        <p:spPr>
          <a:xfrm>
            <a:off x="6461760" y="527913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Star-schema Power BI models + feature store for real-time scoring</a:t>
            </a:r>
            <a:endParaRPr lang="en-US" sz="1467" dirty="0"/>
          </a:p>
        </p:txBody>
      </p:sp>
      <p:sp>
        <p:nvSpPr>
          <p:cNvPr id="37" name="Shape 32">
            <a:extLst>
              <a:ext uri="{FF2B5EF4-FFF2-40B4-BE49-F238E27FC236}">
                <a16:creationId xmlns:a16="http://schemas.microsoft.com/office/drawing/2014/main" id="{E460F730-0640-DA17-D1B2-3AC520E0A7B2}"/>
              </a:ext>
            </a:extLst>
          </p:cNvPr>
          <p:cNvSpPr/>
          <p:nvPr/>
        </p:nvSpPr>
        <p:spPr>
          <a:xfrm>
            <a:off x="6278880" y="5913120"/>
            <a:ext cx="5547360" cy="54864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8" name="Image 0" descr="preencoded.png">
            <a:extLst>
              <a:ext uri="{FF2B5EF4-FFF2-40B4-BE49-F238E27FC236}">
                <a16:creationId xmlns:a16="http://schemas.microsoft.com/office/drawing/2014/main" id="{26CEDC74-33A9-3F84-4B58-0999F6CC73B6}"/>
              </a:ext>
            </a:extLst>
          </p:cNvPr>
          <p:cNvPicPr>
            <a:picLocks noChangeAspect="1"/>
          </p:cNvPicPr>
          <p:nvPr/>
        </p:nvPicPr>
        <p:blipFill>
          <a:blip r:embed="rId2"/>
          <a:stretch>
            <a:fillRect/>
          </a:stretch>
        </p:blipFill>
        <p:spPr>
          <a:xfrm>
            <a:off x="6461760" y="5967984"/>
            <a:ext cx="365760" cy="365760"/>
          </a:xfrm>
          <a:prstGeom prst="rect">
            <a:avLst/>
          </a:prstGeom>
        </p:spPr>
      </p:pic>
      <p:sp>
        <p:nvSpPr>
          <p:cNvPr id="39" name="Text 33">
            <a:extLst>
              <a:ext uri="{FF2B5EF4-FFF2-40B4-BE49-F238E27FC236}">
                <a16:creationId xmlns:a16="http://schemas.microsoft.com/office/drawing/2014/main" id="{8310ACE1-DBD5-77B5-AAFA-7D90FFA731AF}"/>
              </a:ext>
            </a:extLst>
          </p:cNvPr>
          <p:cNvSpPr/>
          <p:nvPr/>
        </p:nvSpPr>
        <p:spPr>
          <a:xfrm>
            <a:off x="7010400" y="5992619"/>
            <a:ext cx="4754880" cy="390144"/>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Microsoft Purview for lineage, RBAC &amp; compliance — SAP data never leaves your Azure tenant</a:t>
            </a:r>
            <a:endParaRPr lang="en-US" sz="1333" dirty="0"/>
          </a:p>
        </p:txBody>
      </p:sp>
    </p:spTree>
    <p:extLst>
      <p:ext uri="{BB962C8B-B14F-4D97-AF65-F5344CB8AC3E}">
        <p14:creationId xmlns:p14="http://schemas.microsoft.com/office/powerpoint/2010/main" val="1545650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E2282-B8AD-2EB0-950A-E1A04B53C4A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2349B83-2E17-DDEA-2FC3-8919CA4A1B13}"/>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AD1D4E8E-B3D1-4E37-9DF1-4EB3AFE3C068}"/>
              </a:ext>
            </a:extLst>
          </p:cNvPr>
          <p:cNvSpPr>
            <a:spLocks noGrp="1"/>
          </p:cNvSpPr>
          <p:nvPr>
            <p:ph type="sldNum" sz="quarter" idx="4"/>
          </p:nvPr>
        </p:nvSpPr>
        <p:spPr/>
        <p:txBody>
          <a:bodyPr/>
          <a:lstStyle/>
          <a:p>
            <a:fld id="{13CE6DAF-806F-404B-BC68-339BFCB57E5C}" type="slidenum">
              <a:rPr lang="en-US" smtClean="0"/>
              <a:pPr/>
              <a:t>5</a:t>
            </a:fld>
            <a:endParaRPr lang="en-US"/>
          </a:p>
        </p:txBody>
      </p:sp>
      <p:sp>
        <p:nvSpPr>
          <p:cNvPr id="5" name="Shape 0">
            <a:extLst>
              <a:ext uri="{FF2B5EF4-FFF2-40B4-BE49-F238E27FC236}">
                <a16:creationId xmlns:a16="http://schemas.microsoft.com/office/drawing/2014/main" id="{B75BBA05-AD24-ECC4-F4CC-297754F926D8}"/>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Shape 1">
            <a:extLst>
              <a:ext uri="{FF2B5EF4-FFF2-40B4-BE49-F238E27FC236}">
                <a16:creationId xmlns:a16="http://schemas.microsoft.com/office/drawing/2014/main" id="{DEBFDEF0-3159-EE63-18EB-2F435755F64F}"/>
              </a:ext>
            </a:extLst>
          </p:cNvPr>
          <p:cNvSpPr/>
          <p:nvPr/>
        </p:nvSpPr>
        <p:spPr>
          <a:xfrm>
            <a:off x="426720" y="268224"/>
            <a:ext cx="853440" cy="853440"/>
          </a:xfrm>
          <a:prstGeom prst="ellipse">
            <a:avLst/>
          </a:prstGeom>
          <a:solidFill>
            <a:srgbClr val="0078D4"/>
          </a:solidFill>
          <a:ln w="12700">
            <a:solidFill>
              <a:srgbClr val="0078D4"/>
            </a:solidFill>
            <a:prstDash val="solid"/>
          </a:ln>
        </p:spPr>
        <p:txBody>
          <a:bodyPr/>
          <a:lstStyle/>
          <a:p>
            <a:endParaRPr lang="en-IN" sz="1867"/>
          </a:p>
        </p:txBody>
      </p:sp>
      <p:sp>
        <p:nvSpPr>
          <p:cNvPr id="7" name="Text 2">
            <a:extLst>
              <a:ext uri="{FF2B5EF4-FFF2-40B4-BE49-F238E27FC236}">
                <a16:creationId xmlns:a16="http://schemas.microsoft.com/office/drawing/2014/main" id="{9E8BD547-39D0-EE8F-1A54-C1CE95243A81}"/>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01</a:t>
            </a:r>
            <a:endParaRPr lang="en-US" sz="2400" dirty="0"/>
          </a:p>
        </p:txBody>
      </p:sp>
      <p:sp>
        <p:nvSpPr>
          <p:cNvPr id="8" name="Text 3">
            <a:extLst>
              <a:ext uri="{FF2B5EF4-FFF2-40B4-BE49-F238E27FC236}">
                <a16:creationId xmlns:a16="http://schemas.microsoft.com/office/drawing/2014/main" id="{9F761309-389F-5524-B60E-6A93B1EF3DA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Demand Forecasting</a:t>
            </a:r>
            <a:endParaRPr lang="en-US" sz="3467" dirty="0">
              <a:latin typeface="+mj-lt"/>
            </a:endParaRPr>
          </a:p>
        </p:txBody>
      </p:sp>
      <p:sp>
        <p:nvSpPr>
          <p:cNvPr id="9" name="Text 4">
            <a:extLst>
              <a:ext uri="{FF2B5EF4-FFF2-40B4-BE49-F238E27FC236}">
                <a16:creationId xmlns:a16="http://schemas.microsoft.com/office/drawing/2014/main" id="{48FEAE6F-A123-C0F1-4EB2-6A93886ACD08}"/>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Predict dealership demand for vehicles and parts weeks and months ahead</a:t>
            </a:r>
            <a:endParaRPr lang="en-US" sz="1667" dirty="0"/>
          </a:p>
        </p:txBody>
      </p:sp>
      <p:sp>
        <p:nvSpPr>
          <p:cNvPr id="10" name="Shape 5">
            <a:extLst>
              <a:ext uri="{FF2B5EF4-FFF2-40B4-BE49-F238E27FC236}">
                <a16:creationId xmlns:a16="http://schemas.microsoft.com/office/drawing/2014/main" id="{FFF539ED-D746-B7FB-9D45-941CCB4703D0}"/>
              </a:ext>
            </a:extLst>
          </p:cNvPr>
          <p:cNvSpPr/>
          <p:nvPr/>
        </p:nvSpPr>
        <p:spPr>
          <a:xfrm>
            <a:off x="426720" y="14020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C385606C-E104-3790-BFA1-D2F41AFDBD7D}"/>
              </a:ext>
            </a:extLst>
          </p:cNvPr>
          <p:cNvSpPr/>
          <p:nvPr/>
        </p:nvSpPr>
        <p:spPr>
          <a:xfrm>
            <a:off x="426720" y="14020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929384BE-75B8-8BBE-81BB-1658E886AB8E}"/>
              </a:ext>
            </a:extLst>
          </p:cNvPr>
          <p:cNvPicPr>
            <a:picLocks noChangeAspect="1"/>
          </p:cNvPicPr>
          <p:nvPr/>
        </p:nvPicPr>
        <p:blipFill>
          <a:blip r:embed="rId2"/>
          <a:stretch>
            <a:fillRect/>
          </a:stretch>
        </p:blipFill>
        <p:spPr>
          <a:xfrm>
            <a:off x="731520" y="1645920"/>
            <a:ext cx="512064" cy="512064"/>
          </a:xfrm>
          <a:prstGeom prst="rect">
            <a:avLst/>
          </a:prstGeom>
        </p:spPr>
      </p:pic>
      <p:sp>
        <p:nvSpPr>
          <p:cNvPr id="13" name="Text 7">
            <a:extLst>
              <a:ext uri="{FF2B5EF4-FFF2-40B4-BE49-F238E27FC236}">
                <a16:creationId xmlns:a16="http://schemas.microsoft.com/office/drawing/2014/main" id="{DA2961F9-8ECF-CFAC-DAB7-E407B043ED88}"/>
              </a:ext>
            </a:extLst>
          </p:cNvPr>
          <p:cNvSpPr/>
          <p:nvPr/>
        </p:nvSpPr>
        <p:spPr>
          <a:xfrm>
            <a:off x="1438656" y="14996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SAP Data Signals</a:t>
            </a:r>
            <a:endParaRPr lang="en-US" sz="1600" dirty="0"/>
          </a:p>
        </p:txBody>
      </p:sp>
      <p:sp>
        <p:nvSpPr>
          <p:cNvPr id="14" name="Text 8">
            <a:extLst>
              <a:ext uri="{FF2B5EF4-FFF2-40B4-BE49-F238E27FC236}">
                <a16:creationId xmlns:a16="http://schemas.microsoft.com/office/drawing/2014/main" id="{6FCAE242-F8DD-A6AB-9A2A-780A03515CBE}"/>
              </a:ext>
            </a:extLst>
          </p:cNvPr>
          <p:cNvSpPr/>
          <p:nvPr/>
        </p:nvSpPr>
        <p:spPr>
          <a:xfrm>
            <a:off x="1438656" y="18653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Sales orders (VBAK/VBAP), delivery history (LIPS), goods movements (MSEG), pricing (A004)</a:t>
            </a:r>
            <a:endParaRPr lang="en-US" dirty="0"/>
          </a:p>
        </p:txBody>
      </p:sp>
      <p:sp>
        <p:nvSpPr>
          <p:cNvPr id="15" name="Shape 9">
            <a:extLst>
              <a:ext uri="{FF2B5EF4-FFF2-40B4-BE49-F238E27FC236}">
                <a16:creationId xmlns:a16="http://schemas.microsoft.com/office/drawing/2014/main" id="{D6685FF8-CC22-5D3E-AE25-57304ECCC1F4}"/>
              </a:ext>
            </a:extLst>
          </p:cNvPr>
          <p:cNvSpPr/>
          <p:nvPr/>
        </p:nvSpPr>
        <p:spPr>
          <a:xfrm>
            <a:off x="426720" y="26212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Shape 10">
            <a:extLst>
              <a:ext uri="{FF2B5EF4-FFF2-40B4-BE49-F238E27FC236}">
                <a16:creationId xmlns:a16="http://schemas.microsoft.com/office/drawing/2014/main" id="{2C613A1E-D91E-77E5-C549-BDD83D1DBAB2}"/>
              </a:ext>
            </a:extLst>
          </p:cNvPr>
          <p:cNvSpPr/>
          <p:nvPr/>
        </p:nvSpPr>
        <p:spPr>
          <a:xfrm>
            <a:off x="426720" y="26212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7" name="Image 1" descr="preencoded.png">
            <a:extLst>
              <a:ext uri="{FF2B5EF4-FFF2-40B4-BE49-F238E27FC236}">
                <a16:creationId xmlns:a16="http://schemas.microsoft.com/office/drawing/2014/main" id="{7EA9883E-4530-DCB7-F832-F58F71567CCF}"/>
              </a:ext>
            </a:extLst>
          </p:cNvPr>
          <p:cNvPicPr>
            <a:picLocks noChangeAspect="1"/>
          </p:cNvPicPr>
          <p:nvPr/>
        </p:nvPicPr>
        <p:blipFill>
          <a:blip r:embed="rId3"/>
          <a:stretch>
            <a:fillRect/>
          </a:stretch>
        </p:blipFill>
        <p:spPr>
          <a:xfrm>
            <a:off x="731520" y="2865120"/>
            <a:ext cx="512064" cy="512064"/>
          </a:xfrm>
          <a:prstGeom prst="rect">
            <a:avLst/>
          </a:prstGeom>
        </p:spPr>
      </p:pic>
      <p:sp>
        <p:nvSpPr>
          <p:cNvPr id="18" name="Text 11">
            <a:extLst>
              <a:ext uri="{FF2B5EF4-FFF2-40B4-BE49-F238E27FC236}">
                <a16:creationId xmlns:a16="http://schemas.microsoft.com/office/drawing/2014/main" id="{32B1474F-7E47-9B49-E278-5BA918E6DADC}"/>
              </a:ext>
            </a:extLst>
          </p:cNvPr>
          <p:cNvSpPr/>
          <p:nvPr/>
        </p:nvSpPr>
        <p:spPr>
          <a:xfrm>
            <a:off x="1438656" y="27188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Enrichment Layer</a:t>
            </a:r>
            <a:endParaRPr lang="en-US" sz="1600" dirty="0"/>
          </a:p>
        </p:txBody>
      </p:sp>
      <p:sp>
        <p:nvSpPr>
          <p:cNvPr id="19" name="Text 12">
            <a:extLst>
              <a:ext uri="{FF2B5EF4-FFF2-40B4-BE49-F238E27FC236}">
                <a16:creationId xmlns:a16="http://schemas.microsoft.com/office/drawing/2014/main" id="{F3E13A4C-1529-E041-C4A2-12A727D52331}"/>
              </a:ext>
            </a:extLst>
          </p:cNvPr>
          <p:cNvSpPr/>
          <p:nvPr/>
        </p:nvSpPr>
        <p:spPr>
          <a:xfrm>
            <a:off x="1438656" y="30845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External: Weather, economic indicators, festive calendar, competitor data via Azure API Management</a:t>
            </a:r>
            <a:endParaRPr lang="en-US" dirty="0"/>
          </a:p>
        </p:txBody>
      </p:sp>
      <p:sp>
        <p:nvSpPr>
          <p:cNvPr id="20" name="Shape 13">
            <a:extLst>
              <a:ext uri="{FF2B5EF4-FFF2-40B4-BE49-F238E27FC236}">
                <a16:creationId xmlns:a16="http://schemas.microsoft.com/office/drawing/2014/main" id="{370046B2-3F6D-81E5-9D18-110CB4377978}"/>
              </a:ext>
            </a:extLst>
          </p:cNvPr>
          <p:cNvSpPr/>
          <p:nvPr/>
        </p:nvSpPr>
        <p:spPr>
          <a:xfrm>
            <a:off x="426720" y="38404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4">
            <a:extLst>
              <a:ext uri="{FF2B5EF4-FFF2-40B4-BE49-F238E27FC236}">
                <a16:creationId xmlns:a16="http://schemas.microsoft.com/office/drawing/2014/main" id="{2335F91C-38A1-CCE4-643F-B80C4FE62E44}"/>
              </a:ext>
            </a:extLst>
          </p:cNvPr>
          <p:cNvSpPr/>
          <p:nvPr/>
        </p:nvSpPr>
        <p:spPr>
          <a:xfrm>
            <a:off x="426720" y="38404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2" name="Image 2" descr="preencoded.png">
            <a:extLst>
              <a:ext uri="{FF2B5EF4-FFF2-40B4-BE49-F238E27FC236}">
                <a16:creationId xmlns:a16="http://schemas.microsoft.com/office/drawing/2014/main" id="{AED6DA97-4C20-15D6-70F2-81A6D7185474}"/>
              </a:ext>
            </a:extLst>
          </p:cNvPr>
          <p:cNvPicPr>
            <a:picLocks noChangeAspect="1"/>
          </p:cNvPicPr>
          <p:nvPr/>
        </p:nvPicPr>
        <p:blipFill>
          <a:blip r:embed="rId4"/>
          <a:stretch>
            <a:fillRect/>
          </a:stretch>
        </p:blipFill>
        <p:spPr>
          <a:xfrm>
            <a:off x="731520" y="4084320"/>
            <a:ext cx="512064" cy="512064"/>
          </a:xfrm>
          <a:prstGeom prst="rect">
            <a:avLst/>
          </a:prstGeom>
        </p:spPr>
      </p:pic>
      <p:sp>
        <p:nvSpPr>
          <p:cNvPr id="23" name="Text 15">
            <a:extLst>
              <a:ext uri="{FF2B5EF4-FFF2-40B4-BE49-F238E27FC236}">
                <a16:creationId xmlns:a16="http://schemas.microsoft.com/office/drawing/2014/main" id="{B2411B16-0138-47F8-2A7F-5C53BC683411}"/>
              </a:ext>
            </a:extLst>
          </p:cNvPr>
          <p:cNvSpPr/>
          <p:nvPr/>
        </p:nvSpPr>
        <p:spPr>
          <a:xfrm>
            <a:off x="1438656" y="39380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AI Models</a:t>
            </a:r>
            <a:endParaRPr lang="en-US" sz="1600" dirty="0"/>
          </a:p>
        </p:txBody>
      </p:sp>
      <p:sp>
        <p:nvSpPr>
          <p:cNvPr id="24" name="Text 16">
            <a:extLst>
              <a:ext uri="{FF2B5EF4-FFF2-40B4-BE49-F238E27FC236}">
                <a16:creationId xmlns:a16="http://schemas.microsoft.com/office/drawing/2014/main" id="{731A7ECA-21B7-D5F6-631C-958B70ECCC5B}"/>
              </a:ext>
            </a:extLst>
          </p:cNvPr>
          <p:cNvSpPr/>
          <p:nvPr/>
        </p:nvSpPr>
        <p:spPr>
          <a:xfrm>
            <a:off x="1438656" y="43037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Hierarchical Prophet for seasonality · LightGBM for promo lift · LSTM for long-range demand sensing</a:t>
            </a:r>
            <a:endParaRPr lang="en-US" dirty="0"/>
          </a:p>
        </p:txBody>
      </p:sp>
      <p:sp>
        <p:nvSpPr>
          <p:cNvPr id="25" name="Shape 17">
            <a:extLst>
              <a:ext uri="{FF2B5EF4-FFF2-40B4-BE49-F238E27FC236}">
                <a16:creationId xmlns:a16="http://schemas.microsoft.com/office/drawing/2014/main" id="{B58A7E4D-CB17-A985-198B-B43200288AD9}"/>
              </a:ext>
            </a:extLst>
          </p:cNvPr>
          <p:cNvSpPr/>
          <p:nvPr/>
        </p:nvSpPr>
        <p:spPr>
          <a:xfrm>
            <a:off x="426720" y="50596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18">
            <a:extLst>
              <a:ext uri="{FF2B5EF4-FFF2-40B4-BE49-F238E27FC236}">
                <a16:creationId xmlns:a16="http://schemas.microsoft.com/office/drawing/2014/main" id="{716E6C5A-C98B-17A9-6DED-5D296C27ACA6}"/>
              </a:ext>
            </a:extLst>
          </p:cNvPr>
          <p:cNvSpPr/>
          <p:nvPr/>
        </p:nvSpPr>
        <p:spPr>
          <a:xfrm>
            <a:off x="426720" y="50596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7" name="Image 3" descr="preencoded.png">
            <a:extLst>
              <a:ext uri="{FF2B5EF4-FFF2-40B4-BE49-F238E27FC236}">
                <a16:creationId xmlns:a16="http://schemas.microsoft.com/office/drawing/2014/main" id="{EC5793AA-CF7E-EEEC-82F1-3B586033F9E1}"/>
              </a:ext>
            </a:extLst>
          </p:cNvPr>
          <p:cNvPicPr>
            <a:picLocks noChangeAspect="1"/>
          </p:cNvPicPr>
          <p:nvPr/>
        </p:nvPicPr>
        <p:blipFill>
          <a:blip r:embed="rId5"/>
          <a:stretch>
            <a:fillRect/>
          </a:stretch>
        </p:blipFill>
        <p:spPr>
          <a:xfrm>
            <a:off x="731520" y="5303520"/>
            <a:ext cx="512064" cy="512064"/>
          </a:xfrm>
          <a:prstGeom prst="rect">
            <a:avLst/>
          </a:prstGeom>
        </p:spPr>
      </p:pic>
      <p:sp>
        <p:nvSpPr>
          <p:cNvPr id="28" name="Text 19">
            <a:extLst>
              <a:ext uri="{FF2B5EF4-FFF2-40B4-BE49-F238E27FC236}">
                <a16:creationId xmlns:a16="http://schemas.microsoft.com/office/drawing/2014/main" id="{629474E3-41E7-E226-F7E0-4A0D082EE73E}"/>
              </a:ext>
            </a:extLst>
          </p:cNvPr>
          <p:cNvSpPr/>
          <p:nvPr/>
        </p:nvSpPr>
        <p:spPr>
          <a:xfrm>
            <a:off x="1438656" y="51572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Output</a:t>
            </a:r>
            <a:endParaRPr lang="en-US" sz="1600" dirty="0"/>
          </a:p>
        </p:txBody>
      </p:sp>
      <p:sp>
        <p:nvSpPr>
          <p:cNvPr id="29" name="Text 20">
            <a:extLst>
              <a:ext uri="{FF2B5EF4-FFF2-40B4-BE49-F238E27FC236}">
                <a16:creationId xmlns:a16="http://schemas.microsoft.com/office/drawing/2014/main" id="{DDB79EC0-7588-8280-F4E8-D01D42529398}"/>
              </a:ext>
            </a:extLst>
          </p:cNvPr>
          <p:cNvSpPr/>
          <p:nvPr/>
        </p:nvSpPr>
        <p:spPr>
          <a:xfrm>
            <a:off x="1438656" y="55229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SKU-level forecast at dealership + region. Confidence bands. Anomaly alerts. Push to SAP MRP via API.</a:t>
            </a:r>
            <a:endParaRPr lang="en-US" dirty="0"/>
          </a:p>
        </p:txBody>
      </p:sp>
      <p:sp>
        <p:nvSpPr>
          <p:cNvPr id="30" name="Text 21">
            <a:extLst>
              <a:ext uri="{FF2B5EF4-FFF2-40B4-BE49-F238E27FC236}">
                <a16:creationId xmlns:a16="http://schemas.microsoft.com/office/drawing/2014/main" id="{D19C4598-5B09-9C35-7AFD-67B3DC262840}"/>
              </a:ext>
            </a:extLst>
          </p:cNvPr>
          <p:cNvSpPr/>
          <p:nvPr/>
        </p:nvSpPr>
        <p:spPr>
          <a:xfrm>
            <a:off x="7559040" y="1341120"/>
            <a:ext cx="4267200" cy="42672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Business Impact</a:t>
            </a:r>
            <a:endParaRPr lang="en-US" sz="1733" dirty="0"/>
          </a:p>
        </p:txBody>
      </p:sp>
      <p:sp>
        <p:nvSpPr>
          <p:cNvPr id="31" name="Shape 22">
            <a:extLst>
              <a:ext uri="{FF2B5EF4-FFF2-40B4-BE49-F238E27FC236}">
                <a16:creationId xmlns:a16="http://schemas.microsoft.com/office/drawing/2014/main" id="{D0225F10-3F35-E04E-0AAC-84CB8BCA08C1}"/>
              </a:ext>
            </a:extLst>
          </p:cNvPr>
          <p:cNvSpPr/>
          <p:nvPr/>
        </p:nvSpPr>
        <p:spPr>
          <a:xfrm>
            <a:off x="731520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Text 23">
            <a:extLst>
              <a:ext uri="{FF2B5EF4-FFF2-40B4-BE49-F238E27FC236}">
                <a16:creationId xmlns:a16="http://schemas.microsoft.com/office/drawing/2014/main" id="{1BB401E1-F767-6926-ABB2-C8B2F60F0351}"/>
              </a:ext>
            </a:extLst>
          </p:cNvPr>
          <p:cNvSpPr/>
          <p:nvPr/>
        </p:nvSpPr>
        <p:spPr>
          <a:xfrm>
            <a:off x="731520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30–40%</a:t>
            </a:r>
            <a:endParaRPr lang="en-US" sz="2933" dirty="0"/>
          </a:p>
        </p:txBody>
      </p:sp>
      <p:sp>
        <p:nvSpPr>
          <p:cNvPr id="33" name="Text 24">
            <a:extLst>
              <a:ext uri="{FF2B5EF4-FFF2-40B4-BE49-F238E27FC236}">
                <a16:creationId xmlns:a16="http://schemas.microsoft.com/office/drawing/2014/main" id="{6A4703AE-8594-DC18-6879-2C145FC276E3}"/>
              </a:ext>
            </a:extLst>
          </p:cNvPr>
          <p:cNvSpPr/>
          <p:nvPr/>
        </p:nvSpPr>
        <p:spPr>
          <a:xfrm>
            <a:off x="731520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forecast error</a:t>
            </a:r>
            <a:endParaRPr lang="en-US" sz="1333" dirty="0"/>
          </a:p>
        </p:txBody>
      </p:sp>
      <p:sp>
        <p:nvSpPr>
          <p:cNvPr id="34" name="Shape 25">
            <a:extLst>
              <a:ext uri="{FF2B5EF4-FFF2-40B4-BE49-F238E27FC236}">
                <a16:creationId xmlns:a16="http://schemas.microsoft.com/office/drawing/2014/main" id="{CC1EB75F-7D3D-C749-B920-A105FA7173DE}"/>
              </a:ext>
            </a:extLst>
          </p:cNvPr>
          <p:cNvSpPr/>
          <p:nvPr/>
        </p:nvSpPr>
        <p:spPr>
          <a:xfrm>
            <a:off x="957072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5" name="Text 26">
            <a:extLst>
              <a:ext uri="{FF2B5EF4-FFF2-40B4-BE49-F238E27FC236}">
                <a16:creationId xmlns:a16="http://schemas.microsoft.com/office/drawing/2014/main" id="{86D4C42F-7761-DB8E-6E7D-6074AA9AF12E}"/>
              </a:ext>
            </a:extLst>
          </p:cNvPr>
          <p:cNvSpPr/>
          <p:nvPr/>
        </p:nvSpPr>
        <p:spPr>
          <a:xfrm>
            <a:off x="957072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₹2–5Cr</a:t>
            </a:r>
            <a:endParaRPr lang="en-US" sz="2933" dirty="0"/>
          </a:p>
        </p:txBody>
      </p:sp>
      <p:sp>
        <p:nvSpPr>
          <p:cNvPr id="36" name="Text 27">
            <a:extLst>
              <a:ext uri="{FF2B5EF4-FFF2-40B4-BE49-F238E27FC236}">
                <a16:creationId xmlns:a16="http://schemas.microsoft.com/office/drawing/2014/main" id="{F358F366-4C02-103E-9AAA-3D05883E60C1}"/>
              </a:ext>
            </a:extLst>
          </p:cNvPr>
          <p:cNvSpPr/>
          <p:nvPr/>
        </p:nvSpPr>
        <p:spPr>
          <a:xfrm>
            <a:off x="957072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working capital</a:t>
            </a:r>
            <a:endParaRPr lang="en-US" sz="1333" dirty="0"/>
          </a:p>
          <a:p>
            <a:pPr algn="ctr"/>
            <a:r>
              <a:rPr lang="en-US" sz="1333" dirty="0">
                <a:solidFill>
                  <a:srgbClr val="B8CFE8"/>
                </a:solidFill>
                <a:ea typeface="Calibri" pitchFamily="34" charset="-122"/>
                <a:cs typeface="Calibri" pitchFamily="34" charset="-120"/>
              </a:rPr>
              <a:t>freed per plant</a:t>
            </a:r>
            <a:endParaRPr lang="en-US" sz="1333" dirty="0"/>
          </a:p>
        </p:txBody>
      </p:sp>
      <p:sp>
        <p:nvSpPr>
          <p:cNvPr id="37" name="Shape 28">
            <a:extLst>
              <a:ext uri="{FF2B5EF4-FFF2-40B4-BE49-F238E27FC236}">
                <a16:creationId xmlns:a16="http://schemas.microsoft.com/office/drawing/2014/main" id="{13B9B00E-8B29-893B-F7DE-CA15FD110B61}"/>
              </a:ext>
            </a:extLst>
          </p:cNvPr>
          <p:cNvSpPr/>
          <p:nvPr/>
        </p:nvSpPr>
        <p:spPr>
          <a:xfrm>
            <a:off x="7315200" y="31089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8" name="Text 29">
            <a:extLst>
              <a:ext uri="{FF2B5EF4-FFF2-40B4-BE49-F238E27FC236}">
                <a16:creationId xmlns:a16="http://schemas.microsoft.com/office/drawing/2014/main" id="{FFC3A8FC-04FF-651E-86FE-9F6AAA618DCC}"/>
              </a:ext>
            </a:extLst>
          </p:cNvPr>
          <p:cNvSpPr/>
          <p:nvPr/>
        </p:nvSpPr>
        <p:spPr>
          <a:xfrm>
            <a:off x="7315200" y="31699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15%</a:t>
            </a:r>
            <a:endParaRPr lang="en-US" sz="2933" dirty="0"/>
          </a:p>
        </p:txBody>
      </p:sp>
      <p:sp>
        <p:nvSpPr>
          <p:cNvPr id="39" name="Text 30">
            <a:extLst>
              <a:ext uri="{FF2B5EF4-FFF2-40B4-BE49-F238E27FC236}">
                <a16:creationId xmlns:a16="http://schemas.microsoft.com/office/drawing/2014/main" id="{45DB6244-BB14-4EB8-775B-B93C0693A6BE}"/>
              </a:ext>
            </a:extLst>
          </p:cNvPr>
          <p:cNvSpPr/>
          <p:nvPr/>
        </p:nvSpPr>
        <p:spPr>
          <a:xfrm>
            <a:off x="7315200" y="36332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lost sales</a:t>
            </a:r>
            <a:endParaRPr lang="en-US" sz="1333" dirty="0"/>
          </a:p>
        </p:txBody>
      </p:sp>
      <p:sp>
        <p:nvSpPr>
          <p:cNvPr id="40" name="Shape 31">
            <a:extLst>
              <a:ext uri="{FF2B5EF4-FFF2-40B4-BE49-F238E27FC236}">
                <a16:creationId xmlns:a16="http://schemas.microsoft.com/office/drawing/2014/main" id="{6F10F870-5B1B-4E01-6EB1-3E11FF60F0DB}"/>
              </a:ext>
            </a:extLst>
          </p:cNvPr>
          <p:cNvSpPr/>
          <p:nvPr/>
        </p:nvSpPr>
        <p:spPr>
          <a:xfrm>
            <a:off x="7254240" y="4364736"/>
            <a:ext cx="4511040" cy="195072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2">
            <a:extLst>
              <a:ext uri="{FF2B5EF4-FFF2-40B4-BE49-F238E27FC236}">
                <a16:creationId xmlns:a16="http://schemas.microsoft.com/office/drawing/2014/main" id="{F7839621-45DD-9D91-01F8-0D9F5E4395B3}"/>
              </a:ext>
            </a:extLst>
          </p:cNvPr>
          <p:cNvSpPr/>
          <p:nvPr/>
        </p:nvSpPr>
        <p:spPr>
          <a:xfrm>
            <a:off x="7254240" y="4364736"/>
            <a:ext cx="4511040" cy="85344"/>
          </a:xfrm>
          <a:prstGeom prst="rect">
            <a:avLst/>
          </a:prstGeom>
          <a:solidFill>
            <a:srgbClr val="FFB900"/>
          </a:solidFill>
          <a:ln w="12700">
            <a:solidFill>
              <a:srgbClr val="FFB900"/>
            </a:solidFill>
            <a:prstDash val="solid"/>
          </a:ln>
        </p:spPr>
        <p:txBody>
          <a:bodyPr/>
          <a:lstStyle/>
          <a:p>
            <a:endParaRPr lang="en-IN" sz="1867"/>
          </a:p>
        </p:txBody>
      </p:sp>
      <p:pic>
        <p:nvPicPr>
          <p:cNvPr id="42" name="Image 4" descr="preencoded.png">
            <a:extLst>
              <a:ext uri="{FF2B5EF4-FFF2-40B4-BE49-F238E27FC236}">
                <a16:creationId xmlns:a16="http://schemas.microsoft.com/office/drawing/2014/main" id="{A3758169-2A9A-1E49-A12F-9FFD5A5DB330}"/>
              </a:ext>
            </a:extLst>
          </p:cNvPr>
          <p:cNvPicPr>
            <a:picLocks noChangeAspect="1"/>
          </p:cNvPicPr>
          <p:nvPr/>
        </p:nvPicPr>
        <p:blipFill>
          <a:blip r:embed="rId6"/>
          <a:stretch>
            <a:fillRect/>
          </a:stretch>
        </p:blipFill>
        <p:spPr>
          <a:xfrm>
            <a:off x="7437120" y="4535424"/>
            <a:ext cx="548640" cy="548640"/>
          </a:xfrm>
          <a:prstGeom prst="rect">
            <a:avLst/>
          </a:prstGeom>
        </p:spPr>
      </p:pic>
      <p:sp>
        <p:nvSpPr>
          <p:cNvPr id="43" name="Text 33">
            <a:extLst>
              <a:ext uri="{FF2B5EF4-FFF2-40B4-BE49-F238E27FC236}">
                <a16:creationId xmlns:a16="http://schemas.microsoft.com/office/drawing/2014/main" id="{1894BC7D-1C97-FE2A-F8BC-78862C1364FC}"/>
              </a:ext>
            </a:extLst>
          </p:cNvPr>
          <p:cNvSpPr/>
          <p:nvPr/>
        </p:nvSpPr>
        <p:spPr>
          <a:xfrm>
            <a:off x="8107680" y="4535424"/>
            <a:ext cx="3413760" cy="36576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Demand Forecast Agent</a:t>
            </a:r>
            <a:endParaRPr lang="en-US" sz="1600" dirty="0"/>
          </a:p>
        </p:txBody>
      </p:sp>
      <p:sp>
        <p:nvSpPr>
          <p:cNvPr id="44" name="Text 34">
            <a:extLst>
              <a:ext uri="{FF2B5EF4-FFF2-40B4-BE49-F238E27FC236}">
                <a16:creationId xmlns:a16="http://schemas.microsoft.com/office/drawing/2014/main" id="{300B71D2-5F34-D4A0-3EEF-052D0377533D}"/>
              </a:ext>
            </a:extLst>
          </p:cNvPr>
          <p:cNvSpPr/>
          <p:nvPr/>
        </p:nvSpPr>
        <p:spPr>
          <a:xfrm>
            <a:off x="7437120" y="5120640"/>
            <a:ext cx="4206240" cy="1036320"/>
          </a:xfrm>
          <a:prstGeom prst="rect">
            <a:avLst/>
          </a:prstGeom>
          <a:noFill/>
          <a:ln/>
        </p:spPr>
        <p:txBody>
          <a:bodyPr wrap="square" lIns="0" tIns="0" rIns="0" bIns="0" rtlCol="0" anchor="ctr"/>
          <a:lstStyle/>
          <a:p>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"What is next month's demand for SKU X at Delhi dealers?"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Auto-raises purchase orders when forecast &gt; safety stock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Slack/Teams alerts when model detects demand spike</a:t>
            </a:r>
            <a:endParaRPr lang="en-US" sz="1333" dirty="0"/>
          </a:p>
        </p:txBody>
      </p:sp>
      <p:sp>
        <p:nvSpPr>
          <p:cNvPr id="45" name="Rounded Rectangle 44"/>
          <p:cNvSpPr/>
          <p:nvPr/>
        </p:nvSpPr>
        <p:spPr>
          <a:xfrm>
            <a:off x="350000" y="5600000"/>
            <a:ext cx="5400000" cy="8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0000" y="5620000"/>
            <a:ext cx="2500000" cy="300000"/>
          </a:xfrm>
          <a:prstGeom prst="rect">
            <a:avLst/>
          </a:prstGeom>
          <a:noFill/>
        </p:spPr>
        <p:txBody>
          <a:bodyPr wrap="square">
            <a:spAutoFit/>
          </a:bodyPr>
          <a:lstStyle/>
          <a:p>
            <a:pPr algn="ctr"/>
            <a:r>
              <a:rPr sz="1333" b="1" i="0">
                <a:solidFill>
                  <a:srgbClr val="FF8C00"/>
                </a:solidFill>
              </a:rPr>
              <a:t>Before (Excel)</a:t>
            </a:r>
          </a:p>
        </p:txBody>
      </p:sp>
      <p:sp>
        <p:nvSpPr>
          <p:cNvPr id="47" name="TextBox 46"/>
          <p:cNvSpPr txBox="1"/>
          <p:nvPr/>
        </p:nvSpPr>
        <p:spPr>
          <a:xfrm>
            <a:off x="3200000" y="5620000"/>
            <a:ext cx="2500000" cy="300000"/>
          </a:xfrm>
          <a:prstGeom prst="rect">
            <a:avLst/>
          </a:prstGeom>
          <a:noFill/>
        </p:spPr>
        <p:txBody>
          <a:bodyPr wrap="square">
            <a:spAutoFit/>
          </a:bodyPr>
          <a:lstStyle/>
          <a:p>
            <a:pPr algn="ctr"/>
            <a:r>
              <a:rPr sz="1333" b="1" i="0">
                <a:solidFill>
                  <a:srgbClr val="00B294"/>
                </a:solidFill>
              </a:rPr>
              <a:t>After (AI/ML)</a:t>
            </a:r>
          </a:p>
        </p:txBody>
      </p:sp>
      <p:sp>
        <p:nvSpPr>
          <p:cNvPr id="48" name="TextBox 47"/>
          <p:cNvSpPr txBox="1"/>
          <p:nvPr/>
        </p:nvSpPr>
        <p:spPr>
          <a:xfrm>
            <a:off x="450000" y="5920000"/>
            <a:ext cx="2500000" cy="500000"/>
          </a:xfrm>
          <a:prstGeom prst="rect">
            <a:avLst/>
          </a:prstGeom>
          <a:noFill/>
        </p:spPr>
        <p:txBody>
          <a:bodyPr wrap="square">
            <a:spAutoFit/>
          </a:bodyPr>
          <a:lstStyle/>
          <a:p>
            <a:pPr algn="ctr"/>
            <a:r>
              <a:rPr sz="1062" b="0" i="0">
                <a:solidFill>
                  <a:srgbClr val="B8CFE8"/>
                </a:solidFill>
              </a:rPr>
              <a:t>MAPE 35-50%  |  Monthly refresh
No confidence bands  |  Manual overrides</a:t>
            </a:r>
          </a:p>
        </p:txBody>
      </p:sp>
      <p:sp>
        <p:nvSpPr>
          <p:cNvPr id="49" name="TextBox 48"/>
          <p:cNvSpPr txBox="1"/>
          <p:nvPr/>
        </p:nvSpPr>
        <p:spPr>
          <a:xfrm>
            <a:off x="3200000" y="5920000"/>
            <a:ext cx="2500000" cy="500000"/>
          </a:xfrm>
          <a:prstGeom prst="rect">
            <a:avLst/>
          </a:prstGeom>
          <a:noFill/>
        </p:spPr>
        <p:txBody>
          <a:bodyPr wrap="square">
            <a:spAutoFit/>
          </a:bodyPr>
          <a:lstStyle/>
          <a:p>
            <a:pPr algn="ctr"/>
            <a:r>
              <a:rPr sz="1062" b="0" i="0">
                <a:solidFill>
                  <a:srgbClr val="E8F4FD"/>
                </a:solidFill>
              </a:rPr>
              <a:t>MAPE 10-15%  |  Daily refresh
95% confidence bands  |  Auto-trigger POs</a:t>
            </a:r>
          </a:p>
        </p:txBody>
      </p:sp>
    </p:spTree>
    <p:extLst>
      <p:ext uri="{BB962C8B-B14F-4D97-AF65-F5344CB8AC3E}">
        <p14:creationId xmlns:p14="http://schemas.microsoft.com/office/powerpoint/2010/main" val="23593063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1260D-C690-6650-CD2F-CBB8E915FF4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A35BC7F-6918-B1AD-0A9B-DC54504F01B8}"/>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43160A75-0373-502B-1F39-734162A67BC4}"/>
              </a:ext>
            </a:extLst>
          </p:cNvPr>
          <p:cNvSpPr>
            <a:spLocks noGrp="1"/>
          </p:cNvSpPr>
          <p:nvPr>
            <p:ph type="sldNum" sz="quarter" idx="4"/>
          </p:nvPr>
        </p:nvSpPr>
        <p:spPr/>
        <p:txBody>
          <a:bodyPr/>
          <a:lstStyle/>
          <a:p>
            <a:fld id="{13CE6DAF-806F-404B-BC68-339BFCB57E5C}" type="slidenum">
              <a:rPr lang="en-US" smtClean="0"/>
              <a:pPr/>
              <a:t>6</a:t>
            </a:fld>
            <a:endParaRPr lang="en-US"/>
          </a:p>
        </p:txBody>
      </p:sp>
      <p:sp>
        <p:nvSpPr>
          <p:cNvPr id="35" name="Shape 0">
            <a:extLst>
              <a:ext uri="{FF2B5EF4-FFF2-40B4-BE49-F238E27FC236}">
                <a16:creationId xmlns:a16="http://schemas.microsoft.com/office/drawing/2014/main" id="{0F08EC8A-0D24-F3B6-17D8-2874D96CBCE9}"/>
              </a:ext>
            </a:extLst>
          </p:cNvPr>
          <p:cNvSpPr/>
          <p:nvPr/>
        </p:nvSpPr>
        <p:spPr>
          <a:xfrm>
            <a:off x="0" y="0"/>
            <a:ext cx="12121065" cy="48886"/>
          </a:xfrm>
          <a:prstGeom prst="rect">
            <a:avLst/>
          </a:prstGeom>
          <a:solidFill>
            <a:srgbClr val="FFB900"/>
          </a:solidFill>
          <a:ln w="12700">
            <a:solidFill>
              <a:srgbClr val="FFB900"/>
            </a:solidFill>
            <a:prstDash val="solid"/>
          </a:ln>
        </p:spPr>
        <p:txBody>
          <a:bodyPr/>
          <a:lstStyle/>
          <a:p>
            <a:endParaRPr lang="en-IN" sz="1867"/>
          </a:p>
        </p:txBody>
      </p:sp>
      <p:sp>
        <p:nvSpPr>
          <p:cNvPr id="36" name="Shape 1">
            <a:extLst>
              <a:ext uri="{FF2B5EF4-FFF2-40B4-BE49-F238E27FC236}">
                <a16:creationId xmlns:a16="http://schemas.microsoft.com/office/drawing/2014/main" id="{6E951F34-D129-0ADD-3ECE-3BFD53DA3363}"/>
              </a:ext>
            </a:extLst>
          </p:cNvPr>
          <p:cNvSpPr/>
          <p:nvPr/>
        </p:nvSpPr>
        <p:spPr>
          <a:xfrm>
            <a:off x="426720" y="268224"/>
            <a:ext cx="848475" cy="570341"/>
          </a:xfrm>
          <a:prstGeom prst="ellipse">
            <a:avLst/>
          </a:prstGeom>
          <a:solidFill>
            <a:srgbClr val="FFB900"/>
          </a:solidFill>
          <a:ln w="12700">
            <a:solidFill>
              <a:srgbClr val="FFB900"/>
            </a:solidFill>
            <a:prstDash val="solid"/>
          </a:ln>
        </p:spPr>
        <p:txBody>
          <a:bodyPr/>
          <a:lstStyle/>
          <a:p>
            <a:endParaRPr lang="en-IN" sz="1867"/>
          </a:p>
        </p:txBody>
      </p:sp>
      <p:sp>
        <p:nvSpPr>
          <p:cNvPr id="37" name="Text 2">
            <a:extLst>
              <a:ext uri="{FF2B5EF4-FFF2-40B4-BE49-F238E27FC236}">
                <a16:creationId xmlns:a16="http://schemas.microsoft.com/office/drawing/2014/main" id="{1CAF35B8-6EF5-9C4D-71F4-14972A94BFE0}"/>
              </a:ext>
            </a:extLst>
          </p:cNvPr>
          <p:cNvSpPr/>
          <p:nvPr/>
        </p:nvSpPr>
        <p:spPr>
          <a:xfrm>
            <a:off x="426720" y="268224"/>
            <a:ext cx="848475" cy="570341"/>
          </a:xfrm>
          <a:prstGeom prst="rect">
            <a:avLst/>
          </a:prstGeom>
          <a:noFill/>
          <a:ln/>
        </p:spPr>
        <p:txBody>
          <a:bodyPr wrap="square" lIns="0" tIns="0" rIns="0" bIns="0" rtlCol="0" anchor="ctr"/>
          <a:lstStyle/>
          <a:p>
            <a:pPr algn="ctr"/>
            <a:r>
              <a:rPr lang="en-US" sz="2400" b="1" dirty="0">
                <a:solidFill>
                  <a:srgbClr val="0A1628"/>
                </a:solidFill>
                <a:ea typeface="Calibri" pitchFamily="34" charset="-122"/>
                <a:cs typeface="Calibri" pitchFamily="34" charset="-120"/>
              </a:rPr>
              <a:t>02</a:t>
            </a:r>
            <a:endParaRPr lang="en-US" sz="2400" dirty="0"/>
          </a:p>
        </p:txBody>
      </p:sp>
      <p:sp>
        <p:nvSpPr>
          <p:cNvPr id="38" name="Text 3">
            <a:extLst>
              <a:ext uri="{FF2B5EF4-FFF2-40B4-BE49-F238E27FC236}">
                <a16:creationId xmlns:a16="http://schemas.microsoft.com/office/drawing/2014/main" id="{EA835C74-5D46-4264-8DF5-99774D10B4B8}"/>
              </a:ext>
            </a:extLst>
          </p:cNvPr>
          <p:cNvSpPr/>
          <p:nvPr/>
        </p:nvSpPr>
        <p:spPr>
          <a:xfrm>
            <a:off x="1463040" y="304800"/>
            <a:ext cx="9696852" cy="36664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Inventory Optimisation</a:t>
            </a:r>
            <a:endParaRPr lang="en-US" sz="3467" dirty="0">
              <a:latin typeface="+mj-lt"/>
            </a:endParaRPr>
          </a:p>
        </p:txBody>
      </p:sp>
      <p:sp>
        <p:nvSpPr>
          <p:cNvPr id="39" name="Text 4">
            <a:extLst>
              <a:ext uri="{FF2B5EF4-FFF2-40B4-BE49-F238E27FC236}">
                <a16:creationId xmlns:a16="http://schemas.microsoft.com/office/drawing/2014/main" id="{D3522569-DDD0-F1DE-2149-5539209E78A0}"/>
              </a:ext>
            </a:extLst>
          </p:cNvPr>
          <p:cNvSpPr/>
          <p:nvPr/>
        </p:nvSpPr>
        <p:spPr>
          <a:xfrm>
            <a:off x="1463040" y="853440"/>
            <a:ext cx="9696852" cy="244432"/>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Maintain optimal stock across warehouses and dealer networks zero overstock, zero stockout</a:t>
            </a:r>
            <a:endParaRPr lang="en-US" sz="1667" dirty="0"/>
          </a:p>
        </p:txBody>
      </p:sp>
      <p:sp>
        <p:nvSpPr>
          <p:cNvPr id="40" name="Shape 5">
            <a:extLst>
              <a:ext uri="{FF2B5EF4-FFF2-40B4-BE49-F238E27FC236}">
                <a16:creationId xmlns:a16="http://schemas.microsoft.com/office/drawing/2014/main" id="{19FF66A1-6626-49E1-7BC5-B8D9E7EC9155}"/>
              </a:ext>
            </a:extLst>
          </p:cNvPr>
          <p:cNvSpPr/>
          <p:nvPr/>
        </p:nvSpPr>
        <p:spPr>
          <a:xfrm>
            <a:off x="42672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6">
            <a:extLst>
              <a:ext uri="{FF2B5EF4-FFF2-40B4-BE49-F238E27FC236}">
                <a16:creationId xmlns:a16="http://schemas.microsoft.com/office/drawing/2014/main" id="{15B715AA-BDCA-FEB8-E3D1-DEF28C68619E}"/>
              </a:ext>
            </a:extLst>
          </p:cNvPr>
          <p:cNvSpPr/>
          <p:nvPr/>
        </p:nvSpPr>
        <p:spPr>
          <a:xfrm>
            <a:off x="426720" y="146304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42" name="Image 0" descr="preencoded.png">
            <a:extLst>
              <a:ext uri="{FF2B5EF4-FFF2-40B4-BE49-F238E27FC236}">
                <a16:creationId xmlns:a16="http://schemas.microsoft.com/office/drawing/2014/main" id="{0294ACFC-561E-EC3E-33A0-59056D24A659}"/>
              </a:ext>
            </a:extLst>
          </p:cNvPr>
          <p:cNvPicPr>
            <a:picLocks noChangeAspect="1"/>
          </p:cNvPicPr>
          <p:nvPr/>
        </p:nvPicPr>
        <p:blipFill>
          <a:blip r:embed="rId2"/>
          <a:stretch>
            <a:fillRect/>
          </a:stretch>
        </p:blipFill>
        <p:spPr>
          <a:xfrm>
            <a:off x="609600" y="1591729"/>
            <a:ext cx="545448" cy="545448"/>
          </a:xfrm>
          <a:prstGeom prst="rect">
            <a:avLst/>
          </a:prstGeom>
        </p:spPr>
      </p:pic>
      <p:sp>
        <p:nvSpPr>
          <p:cNvPr id="43" name="Text 7">
            <a:extLst>
              <a:ext uri="{FF2B5EF4-FFF2-40B4-BE49-F238E27FC236}">
                <a16:creationId xmlns:a16="http://schemas.microsoft.com/office/drawing/2014/main" id="{7F43A17A-3E11-F34B-E97A-6577896F48B2}"/>
              </a:ext>
            </a:extLst>
          </p:cNvPr>
          <p:cNvSpPr/>
          <p:nvPr/>
        </p:nvSpPr>
        <p:spPr>
          <a:xfrm>
            <a:off x="1341120" y="168249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Multi-Echelon Safety Stock</a:t>
            </a:r>
            <a:endParaRPr lang="en-US" sz="1600" dirty="0"/>
          </a:p>
        </p:txBody>
      </p:sp>
      <p:sp>
        <p:nvSpPr>
          <p:cNvPr id="44" name="Text 8">
            <a:extLst>
              <a:ext uri="{FF2B5EF4-FFF2-40B4-BE49-F238E27FC236}">
                <a16:creationId xmlns:a16="http://schemas.microsoft.com/office/drawing/2014/main" id="{9C54E60D-2980-C61C-C52A-8EAD9AADCC2D}"/>
              </a:ext>
            </a:extLst>
          </p:cNvPr>
          <p:cNvSpPr/>
          <p:nvPr/>
        </p:nvSpPr>
        <p:spPr>
          <a:xfrm>
            <a:off x="60959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Dynamic safety stock computed per warehouse tier using service-level targets and lead-time variability from SAP MM.</a:t>
            </a:r>
            <a:endParaRPr lang="en-US" dirty="0"/>
          </a:p>
        </p:txBody>
      </p:sp>
      <p:sp>
        <p:nvSpPr>
          <p:cNvPr id="45" name="Shape 9">
            <a:extLst>
              <a:ext uri="{FF2B5EF4-FFF2-40B4-BE49-F238E27FC236}">
                <a16:creationId xmlns:a16="http://schemas.microsoft.com/office/drawing/2014/main" id="{FDB8274F-0951-6F0C-3380-9DEB395DBBF2}"/>
              </a:ext>
            </a:extLst>
          </p:cNvPr>
          <p:cNvSpPr/>
          <p:nvPr/>
        </p:nvSpPr>
        <p:spPr>
          <a:xfrm>
            <a:off x="633984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6" name="Shape 10">
            <a:extLst>
              <a:ext uri="{FF2B5EF4-FFF2-40B4-BE49-F238E27FC236}">
                <a16:creationId xmlns:a16="http://schemas.microsoft.com/office/drawing/2014/main" id="{6887655C-8D45-D08A-FDCB-9BA84CFE7557}"/>
              </a:ext>
            </a:extLst>
          </p:cNvPr>
          <p:cNvSpPr/>
          <p:nvPr/>
        </p:nvSpPr>
        <p:spPr>
          <a:xfrm>
            <a:off x="6339840" y="1463040"/>
            <a:ext cx="5515084" cy="48886"/>
          </a:xfrm>
          <a:prstGeom prst="rect">
            <a:avLst/>
          </a:prstGeom>
          <a:solidFill>
            <a:srgbClr val="FFB900"/>
          </a:solidFill>
          <a:ln w="12700">
            <a:solidFill>
              <a:srgbClr val="FFB900"/>
            </a:solidFill>
            <a:prstDash val="solid"/>
          </a:ln>
        </p:spPr>
        <p:txBody>
          <a:bodyPr/>
          <a:lstStyle/>
          <a:p>
            <a:endParaRPr lang="en-IN" sz="1867"/>
          </a:p>
        </p:txBody>
      </p:sp>
      <p:pic>
        <p:nvPicPr>
          <p:cNvPr id="47" name="Image 1" descr="preencoded.png">
            <a:extLst>
              <a:ext uri="{FF2B5EF4-FFF2-40B4-BE49-F238E27FC236}">
                <a16:creationId xmlns:a16="http://schemas.microsoft.com/office/drawing/2014/main" id="{136443D9-4B0D-D6E7-380A-3BC78E898FC8}"/>
              </a:ext>
            </a:extLst>
          </p:cNvPr>
          <p:cNvPicPr>
            <a:picLocks noChangeAspect="1"/>
          </p:cNvPicPr>
          <p:nvPr/>
        </p:nvPicPr>
        <p:blipFill>
          <a:blip r:embed="rId3"/>
          <a:stretch>
            <a:fillRect/>
          </a:stretch>
        </p:blipFill>
        <p:spPr>
          <a:xfrm>
            <a:off x="6522720" y="1591729"/>
            <a:ext cx="545448" cy="545448"/>
          </a:xfrm>
          <a:prstGeom prst="rect">
            <a:avLst/>
          </a:prstGeom>
        </p:spPr>
      </p:pic>
      <p:sp>
        <p:nvSpPr>
          <p:cNvPr id="48" name="Text 11">
            <a:extLst>
              <a:ext uri="{FF2B5EF4-FFF2-40B4-BE49-F238E27FC236}">
                <a16:creationId xmlns:a16="http://schemas.microsoft.com/office/drawing/2014/main" id="{2353135C-440D-31E0-B30D-68005AB09876}"/>
              </a:ext>
            </a:extLst>
          </p:cNvPr>
          <p:cNvSpPr/>
          <p:nvPr/>
        </p:nvSpPr>
        <p:spPr>
          <a:xfrm>
            <a:off x="7254240" y="1682496"/>
            <a:ext cx="4363583" cy="28517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ABC-XYZ Segmentation</a:t>
            </a:r>
            <a:endParaRPr lang="en-US" sz="1600" dirty="0"/>
          </a:p>
        </p:txBody>
      </p:sp>
      <p:sp>
        <p:nvSpPr>
          <p:cNvPr id="49" name="Text 12">
            <a:extLst>
              <a:ext uri="{FF2B5EF4-FFF2-40B4-BE49-F238E27FC236}">
                <a16:creationId xmlns:a16="http://schemas.microsoft.com/office/drawing/2014/main" id="{74AFE10D-C788-62AD-047E-0EDFD0F1537A}"/>
              </a:ext>
            </a:extLst>
          </p:cNvPr>
          <p:cNvSpPr/>
          <p:nvPr/>
        </p:nvSpPr>
        <p:spPr>
          <a:xfrm>
            <a:off x="652271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Automated segmentation from SAP MARA/MSEG. Refreshed weekly on Fabric. Drives replenishment policy per SKU tier.</a:t>
            </a:r>
            <a:endParaRPr lang="en-US" dirty="0"/>
          </a:p>
        </p:txBody>
      </p:sp>
      <p:sp>
        <p:nvSpPr>
          <p:cNvPr id="50" name="Shape 13">
            <a:extLst>
              <a:ext uri="{FF2B5EF4-FFF2-40B4-BE49-F238E27FC236}">
                <a16:creationId xmlns:a16="http://schemas.microsoft.com/office/drawing/2014/main" id="{54B0E76A-BF7A-A880-B58A-234A85C035C4}"/>
              </a:ext>
            </a:extLst>
          </p:cNvPr>
          <p:cNvSpPr/>
          <p:nvPr/>
        </p:nvSpPr>
        <p:spPr>
          <a:xfrm>
            <a:off x="42672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1" name="Shape 14">
            <a:extLst>
              <a:ext uri="{FF2B5EF4-FFF2-40B4-BE49-F238E27FC236}">
                <a16:creationId xmlns:a16="http://schemas.microsoft.com/office/drawing/2014/main" id="{64D3C7A2-345C-BB32-E978-4AA7ED86F639}"/>
              </a:ext>
            </a:extLst>
          </p:cNvPr>
          <p:cNvSpPr/>
          <p:nvPr/>
        </p:nvSpPr>
        <p:spPr>
          <a:xfrm>
            <a:off x="426720" y="3474720"/>
            <a:ext cx="5515084" cy="48886"/>
          </a:xfrm>
          <a:prstGeom prst="rect">
            <a:avLst/>
          </a:prstGeom>
          <a:solidFill>
            <a:srgbClr val="00B294"/>
          </a:solidFill>
          <a:ln w="12700">
            <a:solidFill>
              <a:srgbClr val="00B294"/>
            </a:solidFill>
            <a:prstDash val="solid"/>
          </a:ln>
        </p:spPr>
        <p:txBody>
          <a:bodyPr/>
          <a:lstStyle/>
          <a:p>
            <a:endParaRPr lang="en-IN" sz="1867"/>
          </a:p>
        </p:txBody>
      </p:sp>
      <p:pic>
        <p:nvPicPr>
          <p:cNvPr id="52" name="Image 2" descr="preencoded.png">
            <a:extLst>
              <a:ext uri="{FF2B5EF4-FFF2-40B4-BE49-F238E27FC236}">
                <a16:creationId xmlns:a16="http://schemas.microsoft.com/office/drawing/2014/main" id="{8D4EADAD-DE1F-9709-0107-0916DDA348ED}"/>
              </a:ext>
            </a:extLst>
          </p:cNvPr>
          <p:cNvPicPr>
            <a:picLocks noChangeAspect="1"/>
          </p:cNvPicPr>
          <p:nvPr/>
        </p:nvPicPr>
        <p:blipFill>
          <a:blip r:embed="rId4"/>
          <a:stretch>
            <a:fillRect/>
          </a:stretch>
        </p:blipFill>
        <p:spPr>
          <a:xfrm>
            <a:off x="609600" y="3530391"/>
            <a:ext cx="545448" cy="545448"/>
          </a:xfrm>
          <a:prstGeom prst="rect">
            <a:avLst/>
          </a:prstGeom>
        </p:spPr>
      </p:pic>
      <p:sp>
        <p:nvSpPr>
          <p:cNvPr id="53" name="Text 15">
            <a:extLst>
              <a:ext uri="{FF2B5EF4-FFF2-40B4-BE49-F238E27FC236}">
                <a16:creationId xmlns:a16="http://schemas.microsoft.com/office/drawing/2014/main" id="{303BAAC4-A259-B076-0ABD-BAF013D21077}"/>
              </a:ext>
            </a:extLst>
          </p:cNvPr>
          <p:cNvSpPr/>
          <p:nvPr/>
        </p:nvSpPr>
        <p:spPr>
          <a:xfrm>
            <a:off x="1341120" y="3694176"/>
            <a:ext cx="4363583" cy="285170"/>
          </a:xfrm>
          <a:prstGeom prst="rect">
            <a:avLst/>
          </a:prstGeom>
          <a:noFill/>
          <a:ln/>
        </p:spPr>
        <p:txBody>
          <a:bodyPr wrap="square" lIns="0" tIns="0" rIns="0" bIns="0" rtlCol="0" anchor="ctr"/>
          <a:lstStyle/>
          <a:p>
            <a:r>
              <a:rPr lang="en-US" sz="1600" b="1" dirty="0">
                <a:solidFill>
                  <a:srgbClr val="00B294"/>
                </a:solidFill>
                <a:ea typeface="Calibri" pitchFamily="34" charset="-122"/>
                <a:cs typeface="Calibri" pitchFamily="34" charset="-120"/>
              </a:rPr>
              <a:t>Replenishment Triggers</a:t>
            </a:r>
            <a:endParaRPr lang="en-US" sz="1600" dirty="0"/>
          </a:p>
        </p:txBody>
      </p:sp>
      <p:sp>
        <p:nvSpPr>
          <p:cNvPr id="54" name="Text 16">
            <a:extLst>
              <a:ext uri="{FF2B5EF4-FFF2-40B4-BE49-F238E27FC236}">
                <a16:creationId xmlns:a16="http://schemas.microsoft.com/office/drawing/2014/main" id="{0AC18F27-9505-8674-7244-F6E73C1DA888}"/>
              </a:ext>
            </a:extLst>
          </p:cNvPr>
          <p:cNvSpPr/>
          <p:nvPr/>
        </p:nvSpPr>
        <p:spPr>
          <a:xfrm>
            <a:off x="578433" y="4115044"/>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Real-time reorder point monitoring. Auto-generates SAP PR/PO via RFC when stock falls below dynamic ROP.</a:t>
            </a:r>
            <a:endParaRPr lang="en-US" dirty="0"/>
          </a:p>
        </p:txBody>
      </p:sp>
      <p:sp>
        <p:nvSpPr>
          <p:cNvPr id="55" name="Shape 17">
            <a:extLst>
              <a:ext uri="{FF2B5EF4-FFF2-40B4-BE49-F238E27FC236}">
                <a16:creationId xmlns:a16="http://schemas.microsoft.com/office/drawing/2014/main" id="{8600F9B9-2697-2170-02F0-4CF2EF1FBEBC}"/>
              </a:ext>
            </a:extLst>
          </p:cNvPr>
          <p:cNvSpPr/>
          <p:nvPr/>
        </p:nvSpPr>
        <p:spPr>
          <a:xfrm>
            <a:off x="633984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6" name="Shape 18">
            <a:extLst>
              <a:ext uri="{FF2B5EF4-FFF2-40B4-BE49-F238E27FC236}">
                <a16:creationId xmlns:a16="http://schemas.microsoft.com/office/drawing/2014/main" id="{0ECF1050-281B-4AD2-88BF-38449F2296B5}"/>
              </a:ext>
            </a:extLst>
          </p:cNvPr>
          <p:cNvSpPr/>
          <p:nvPr/>
        </p:nvSpPr>
        <p:spPr>
          <a:xfrm>
            <a:off x="6339840" y="347472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57" name="Image 3" descr="preencoded.png">
            <a:extLst>
              <a:ext uri="{FF2B5EF4-FFF2-40B4-BE49-F238E27FC236}">
                <a16:creationId xmlns:a16="http://schemas.microsoft.com/office/drawing/2014/main" id="{6641D6D5-F86A-9C27-4FF3-450E3445C448}"/>
              </a:ext>
            </a:extLst>
          </p:cNvPr>
          <p:cNvPicPr>
            <a:picLocks noChangeAspect="1"/>
          </p:cNvPicPr>
          <p:nvPr/>
        </p:nvPicPr>
        <p:blipFill>
          <a:blip r:embed="rId5"/>
          <a:stretch>
            <a:fillRect/>
          </a:stretch>
        </p:blipFill>
        <p:spPr>
          <a:xfrm>
            <a:off x="6541582" y="3540351"/>
            <a:ext cx="545448" cy="545448"/>
          </a:xfrm>
          <a:prstGeom prst="rect">
            <a:avLst/>
          </a:prstGeom>
        </p:spPr>
      </p:pic>
      <p:sp>
        <p:nvSpPr>
          <p:cNvPr id="58" name="Text 19">
            <a:extLst>
              <a:ext uri="{FF2B5EF4-FFF2-40B4-BE49-F238E27FC236}">
                <a16:creationId xmlns:a16="http://schemas.microsoft.com/office/drawing/2014/main" id="{DBBE5CEA-ACCB-A4F8-9DD5-60E7A1FFBE9F}"/>
              </a:ext>
            </a:extLst>
          </p:cNvPr>
          <p:cNvSpPr/>
          <p:nvPr/>
        </p:nvSpPr>
        <p:spPr>
          <a:xfrm>
            <a:off x="7254240" y="369417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Inter-Depot Balancing</a:t>
            </a:r>
            <a:endParaRPr lang="en-US" sz="1600" dirty="0"/>
          </a:p>
        </p:txBody>
      </p:sp>
      <p:sp>
        <p:nvSpPr>
          <p:cNvPr id="59" name="Text 20">
            <a:extLst>
              <a:ext uri="{FF2B5EF4-FFF2-40B4-BE49-F238E27FC236}">
                <a16:creationId xmlns:a16="http://schemas.microsoft.com/office/drawing/2014/main" id="{4160D965-64B4-345A-91B0-79917A40C0DF}"/>
              </a:ext>
            </a:extLst>
          </p:cNvPr>
          <p:cNvSpPr/>
          <p:nvPr/>
        </p:nvSpPr>
        <p:spPr>
          <a:xfrm>
            <a:off x="6522718" y="4090692"/>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recommends stock transfers between depots to avoid regional imbalances. OR-Tools solver runs nightly on Azure.</a:t>
            </a:r>
            <a:endParaRPr lang="en-US" dirty="0"/>
          </a:p>
        </p:txBody>
      </p:sp>
      <p:sp>
        <p:nvSpPr>
          <p:cNvPr id="60" name="Shape 21">
            <a:extLst>
              <a:ext uri="{FF2B5EF4-FFF2-40B4-BE49-F238E27FC236}">
                <a16:creationId xmlns:a16="http://schemas.microsoft.com/office/drawing/2014/main" id="{60F67134-A06D-05E6-0E37-80C313CB6444}"/>
              </a:ext>
            </a:extLst>
          </p:cNvPr>
          <p:cNvSpPr/>
          <p:nvPr/>
        </p:nvSpPr>
        <p:spPr>
          <a:xfrm>
            <a:off x="426720" y="5669280"/>
            <a:ext cx="11272590" cy="62737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61" name="Shape 22">
            <a:extLst>
              <a:ext uri="{FF2B5EF4-FFF2-40B4-BE49-F238E27FC236}">
                <a16:creationId xmlns:a16="http://schemas.microsoft.com/office/drawing/2014/main" id="{2981F59A-2D87-8CF4-508E-CFD00B0C7B58}"/>
              </a:ext>
            </a:extLst>
          </p:cNvPr>
          <p:cNvSpPr/>
          <p:nvPr/>
        </p:nvSpPr>
        <p:spPr>
          <a:xfrm>
            <a:off x="426720" y="5669280"/>
            <a:ext cx="11272590" cy="48886"/>
          </a:xfrm>
          <a:prstGeom prst="rect">
            <a:avLst/>
          </a:prstGeom>
          <a:solidFill>
            <a:srgbClr val="FFB900"/>
          </a:solidFill>
          <a:ln w="12700">
            <a:solidFill>
              <a:srgbClr val="FFB900"/>
            </a:solidFill>
            <a:prstDash val="solid"/>
          </a:ln>
        </p:spPr>
        <p:txBody>
          <a:bodyPr/>
          <a:lstStyle/>
          <a:p>
            <a:endParaRPr lang="en-IN" sz="1867"/>
          </a:p>
        </p:txBody>
      </p:sp>
      <p:pic>
        <p:nvPicPr>
          <p:cNvPr id="62" name="Image 4" descr="preencoded.png">
            <a:extLst>
              <a:ext uri="{FF2B5EF4-FFF2-40B4-BE49-F238E27FC236}">
                <a16:creationId xmlns:a16="http://schemas.microsoft.com/office/drawing/2014/main" id="{5039196B-8DD3-C8C2-DF73-72661A069162}"/>
              </a:ext>
            </a:extLst>
          </p:cNvPr>
          <p:cNvPicPr>
            <a:picLocks noChangeAspect="1"/>
          </p:cNvPicPr>
          <p:nvPr/>
        </p:nvPicPr>
        <p:blipFill>
          <a:blip r:embed="rId6"/>
          <a:stretch>
            <a:fillRect/>
          </a:stretch>
        </p:blipFill>
        <p:spPr>
          <a:xfrm>
            <a:off x="609600" y="5815584"/>
            <a:ext cx="460600" cy="460600"/>
          </a:xfrm>
          <a:prstGeom prst="rect">
            <a:avLst/>
          </a:prstGeom>
        </p:spPr>
      </p:pic>
      <p:sp>
        <p:nvSpPr>
          <p:cNvPr id="63" name="Text 23">
            <a:extLst>
              <a:ext uri="{FF2B5EF4-FFF2-40B4-BE49-F238E27FC236}">
                <a16:creationId xmlns:a16="http://schemas.microsoft.com/office/drawing/2014/main" id="{010B7016-9C98-DC43-345B-2B70620CFF4F}"/>
              </a:ext>
            </a:extLst>
          </p:cNvPr>
          <p:cNvSpPr/>
          <p:nvPr/>
        </p:nvSpPr>
        <p:spPr>
          <a:xfrm>
            <a:off x="1219200" y="5791200"/>
            <a:ext cx="1818160" cy="244432"/>
          </a:xfrm>
          <a:prstGeom prst="rect">
            <a:avLst/>
          </a:prstGeom>
          <a:noFill/>
          <a:ln/>
        </p:spPr>
        <p:txBody>
          <a:bodyPr wrap="square" lIns="0" tIns="0" rIns="0" bIns="0" rtlCol="0" anchor="ctr"/>
          <a:lstStyle/>
          <a:p>
            <a:r>
              <a:rPr lang="en-US" sz="1467" b="1" dirty="0">
                <a:solidFill>
                  <a:srgbClr val="FFB900"/>
                </a:solidFill>
                <a:ea typeface="Calibri" pitchFamily="34" charset="-122"/>
                <a:cs typeface="Calibri" pitchFamily="34" charset="-120"/>
              </a:rPr>
              <a:t>Inventory Agent:</a:t>
            </a:r>
            <a:endParaRPr lang="en-US" sz="1467" dirty="0"/>
          </a:p>
        </p:txBody>
      </p:sp>
      <p:sp>
        <p:nvSpPr>
          <p:cNvPr id="64" name="Text 24">
            <a:extLst>
              <a:ext uri="{FF2B5EF4-FFF2-40B4-BE49-F238E27FC236}">
                <a16:creationId xmlns:a16="http://schemas.microsoft.com/office/drawing/2014/main" id="{8AB5BFA1-6716-49E1-36D4-C5597DFFE2FE}"/>
              </a:ext>
            </a:extLst>
          </p:cNvPr>
          <p:cNvSpPr/>
          <p:nvPr/>
        </p:nvSpPr>
        <p:spPr>
          <a:xfrm>
            <a:off x="3108960" y="5815584"/>
            <a:ext cx="8363535" cy="448125"/>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"Which SKUs are at risk of stockout at Pune depot in next 14 days?" · Auto-initiates inter-depot transfer request · Sends WhatsApp alert to warehouse manager</a:t>
            </a:r>
            <a:endParaRPr lang="en-US" dirty="0"/>
          </a:p>
        </p:txBody>
      </p:sp>
    </p:spTree>
    <p:extLst>
      <p:ext uri="{BB962C8B-B14F-4D97-AF65-F5344CB8AC3E}">
        <p14:creationId xmlns:p14="http://schemas.microsoft.com/office/powerpoint/2010/main" val="28627857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E1505-8990-84D1-B1F1-D5D44982A9D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EF1ED3D-1A0B-9BDA-E8EF-F1409302B13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61A79BCA-84D5-C106-93C9-F9893E363E13}"/>
              </a:ext>
            </a:extLst>
          </p:cNvPr>
          <p:cNvSpPr>
            <a:spLocks noGrp="1"/>
          </p:cNvSpPr>
          <p:nvPr>
            <p:ph type="sldNum" sz="quarter" idx="4"/>
          </p:nvPr>
        </p:nvSpPr>
        <p:spPr/>
        <p:txBody>
          <a:bodyPr/>
          <a:lstStyle/>
          <a:p>
            <a:fld id="{13CE6DAF-806F-404B-BC68-339BFCB57E5C}" type="slidenum">
              <a:rPr lang="en-US" smtClean="0"/>
              <a:pPr/>
              <a:t>7</a:t>
            </a:fld>
            <a:endParaRPr lang="en-US"/>
          </a:p>
        </p:txBody>
      </p:sp>
      <p:sp>
        <p:nvSpPr>
          <p:cNvPr id="5" name="Shape 0">
            <a:extLst>
              <a:ext uri="{FF2B5EF4-FFF2-40B4-BE49-F238E27FC236}">
                <a16:creationId xmlns:a16="http://schemas.microsoft.com/office/drawing/2014/main" id="{A860A8C5-A0C6-7DE7-BB6F-AEB90F9FADC7}"/>
              </a:ext>
            </a:extLst>
          </p:cNvPr>
          <p:cNvSpPr/>
          <p:nvPr/>
        </p:nvSpPr>
        <p:spPr>
          <a:xfrm>
            <a:off x="0" y="0"/>
            <a:ext cx="12192000" cy="73152"/>
          </a:xfrm>
          <a:prstGeom prst="rect">
            <a:avLst/>
          </a:prstGeom>
          <a:solidFill>
            <a:srgbClr val="00B294"/>
          </a:solidFill>
          <a:ln w="12700">
            <a:solidFill>
              <a:srgbClr val="00B294"/>
            </a:solidFill>
            <a:prstDash val="solid"/>
          </a:ln>
        </p:spPr>
        <p:txBody>
          <a:bodyPr/>
          <a:lstStyle/>
          <a:p>
            <a:endParaRPr lang="en-IN" sz="1867"/>
          </a:p>
        </p:txBody>
      </p:sp>
      <p:sp>
        <p:nvSpPr>
          <p:cNvPr id="6" name="Shape 1">
            <a:extLst>
              <a:ext uri="{FF2B5EF4-FFF2-40B4-BE49-F238E27FC236}">
                <a16:creationId xmlns:a16="http://schemas.microsoft.com/office/drawing/2014/main" id="{270D7E66-71DE-C09F-FF49-20A6F92E0960}"/>
              </a:ext>
            </a:extLst>
          </p:cNvPr>
          <p:cNvSpPr/>
          <p:nvPr/>
        </p:nvSpPr>
        <p:spPr>
          <a:xfrm>
            <a:off x="426720" y="268224"/>
            <a:ext cx="853440" cy="853440"/>
          </a:xfrm>
          <a:prstGeom prst="ellipse">
            <a:avLst/>
          </a:prstGeom>
          <a:solidFill>
            <a:srgbClr val="00B294"/>
          </a:solidFill>
          <a:ln w="12700">
            <a:solidFill>
              <a:srgbClr val="00B294"/>
            </a:solidFill>
            <a:prstDash val="solid"/>
          </a:ln>
        </p:spPr>
        <p:txBody>
          <a:bodyPr/>
          <a:lstStyle/>
          <a:p>
            <a:endParaRPr lang="en-IN" sz="1867"/>
          </a:p>
        </p:txBody>
      </p:sp>
      <p:sp>
        <p:nvSpPr>
          <p:cNvPr id="7" name="Text 2">
            <a:extLst>
              <a:ext uri="{FF2B5EF4-FFF2-40B4-BE49-F238E27FC236}">
                <a16:creationId xmlns:a16="http://schemas.microsoft.com/office/drawing/2014/main" id="{65CC0B70-19C9-4929-0CE5-7532A4C306FD}"/>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03</a:t>
            </a:r>
            <a:endParaRPr lang="en-US" sz="2400" dirty="0"/>
          </a:p>
        </p:txBody>
      </p:sp>
      <p:sp>
        <p:nvSpPr>
          <p:cNvPr id="8" name="Text 3">
            <a:extLst>
              <a:ext uri="{FF2B5EF4-FFF2-40B4-BE49-F238E27FC236}">
                <a16:creationId xmlns:a16="http://schemas.microsoft.com/office/drawing/2014/main" id="{71EF54CB-F2B9-92C7-3C39-067718DEBDB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Supply Planning</a:t>
            </a:r>
            <a:endParaRPr lang="en-US" sz="3467" dirty="0">
              <a:latin typeface="+mj-lt"/>
            </a:endParaRPr>
          </a:p>
        </p:txBody>
      </p:sp>
      <p:sp>
        <p:nvSpPr>
          <p:cNvPr id="9" name="Text 4">
            <a:extLst>
              <a:ext uri="{FF2B5EF4-FFF2-40B4-BE49-F238E27FC236}">
                <a16:creationId xmlns:a16="http://schemas.microsoft.com/office/drawing/2014/main" id="{E2919965-0CAB-F419-CF84-3CEC5461C207}"/>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Adjust procurement and logistics dynamically based on AI-predicted demand signals</a:t>
            </a:r>
            <a:endParaRPr lang="en-US" sz="1667" dirty="0"/>
          </a:p>
        </p:txBody>
      </p:sp>
      <p:sp>
        <p:nvSpPr>
          <p:cNvPr id="10" name="Text 5">
            <a:extLst>
              <a:ext uri="{FF2B5EF4-FFF2-40B4-BE49-F238E27FC236}">
                <a16:creationId xmlns:a16="http://schemas.microsoft.com/office/drawing/2014/main" id="{0F1294B3-22E2-1231-02AA-E7302AFA881B}"/>
              </a:ext>
            </a:extLst>
          </p:cNvPr>
          <p:cNvSpPr/>
          <p:nvPr/>
        </p:nvSpPr>
        <p:spPr>
          <a:xfrm>
            <a:off x="426720" y="1365504"/>
            <a:ext cx="11338560" cy="426720"/>
          </a:xfrm>
          <a:prstGeom prst="rect">
            <a:avLst/>
          </a:prstGeom>
          <a:noFill/>
          <a:ln/>
        </p:spPr>
        <p:txBody>
          <a:bodyPr wrap="square" lIns="0" tIns="0" rIns="0" bIns="0" rtlCol="0" anchor="ctr"/>
          <a:lstStyle/>
          <a:p>
            <a:r>
              <a:rPr lang="en-US" sz="1800" b="1" dirty="0">
                <a:solidFill>
                  <a:srgbClr val="00B294"/>
                </a:solidFill>
                <a:ea typeface="Calibri" pitchFamily="34" charset="-122"/>
                <a:cs typeface="Calibri" pitchFamily="34" charset="-120"/>
              </a:rPr>
              <a:t>AI-Driven S&amp;OP Process Flow</a:t>
            </a:r>
            <a:endParaRPr lang="en-US" sz="1800" dirty="0"/>
          </a:p>
        </p:txBody>
      </p:sp>
      <p:sp>
        <p:nvSpPr>
          <p:cNvPr id="11" name="Shape 6">
            <a:extLst>
              <a:ext uri="{FF2B5EF4-FFF2-40B4-BE49-F238E27FC236}">
                <a16:creationId xmlns:a16="http://schemas.microsoft.com/office/drawing/2014/main" id="{B6F95C23-7821-C456-56F0-A07FFB05C871}"/>
              </a:ext>
            </a:extLst>
          </p:cNvPr>
          <p:cNvSpPr/>
          <p:nvPr/>
        </p:nvSpPr>
        <p:spPr>
          <a:xfrm>
            <a:off x="42672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2" name="Shape 7">
            <a:extLst>
              <a:ext uri="{FF2B5EF4-FFF2-40B4-BE49-F238E27FC236}">
                <a16:creationId xmlns:a16="http://schemas.microsoft.com/office/drawing/2014/main" id="{E890484B-FDBB-36D7-BAE7-6C0F5A787C79}"/>
              </a:ext>
            </a:extLst>
          </p:cNvPr>
          <p:cNvSpPr/>
          <p:nvPr/>
        </p:nvSpPr>
        <p:spPr>
          <a:xfrm>
            <a:off x="42672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3" name="Text 8">
            <a:extLst>
              <a:ext uri="{FF2B5EF4-FFF2-40B4-BE49-F238E27FC236}">
                <a16:creationId xmlns:a16="http://schemas.microsoft.com/office/drawing/2014/main" id="{C92D8A12-37C7-CEB0-A4BF-9D06786053FB}"/>
              </a:ext>
            </a:extLst>
          </p:cNvPr>
          <p:cNvSpPr/>
          <p:nvPr/>
        </p:nvSpPr>
        <p:spPr>
          <a:xfrm>
            <a:off x="42672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Demand</a:t>
            </a:r>
            <a:endParaRPr lang="en-US" sz="1733" dirty="0"/>
          </a:p>
          <a:p>
            <a:pPr algn="ctr"/>
            <a:r>
              <a:rPr lang="en-US" sz="1733" b="1" dirty="0">
                <a:solidFill>
                  <a:srgbClr val="00B294"/>
                </a:solidFill>
                <a:ea typeface="Calibri" pitchFamily="34" charset="-122"/>
                <a:cs typeface="Calibri" pitchFamily="34" charset="-120"/>
              </a:rPr>
              <a:t>Signal</a:t>
            </a:r>
            <a:endParaRPr lang="en-US" sz="1733" dirty="0"/>
          </a:p>
        </p:txBody>
      </p:sp>
      <p:sp>
        <p:nvSpPr>
          <p:cNvPr id="14" name="Text 9">
            <a:extLst>
              <a:ext uri="{FF2B5EF4-FFF2-40B4-BE49-F238E27FC236}">
                <a16:creationId xmlns:a16="http://schemas.microsoft.com/office/drawing/2014/main" id="{097E30F5-C34E-66F2-51B2-4C3A34694D5C}"/>
              </a:ext>
            </a:extLst>
          </p:cNvPr>
          <p:cNvSpPr/>
          <p:nvPr/>
        </p:nvSpPr>
        <p:spPr>
          <a:xfrm>
            <a:off x="52425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Forecast output</a:t>
            </a:r>
            <a:endParaRPr lang="en-US" sz="1333" dirty="0"/>
          </a:p>
          <a:p>
            <a:pPr algn="ctr"/>
            <a:r>
              <a:rPr lang="en-US" sz="1333" dirty="0">
                <a:solidFill>
                  <a:srgbClr val="B8CFE8"/>
                </a:solidFill>
                <a:ea typeface="Calibri" pitchFamily="34" charset="-122"/>
                <a:cs typeface="Calibri" pitchFamily="34" charset="-120"/>
              </a:rPr>
              <a:t>from Use Case 01</a:t>
            </a:r>
            <a:endParaRPr lang="en-US" sz="1333" dirty="0"/>
          </a:p>
        </p:txBody>
      </p:sp>
      <p:pic>
        <p:nvPicPr>
          <p:cNvPr id="15" name="Image 0" descr="preencoded.png">
            <a:extLst>
              <a:ext uri="{FF2B5EF4-FFF2-40B4-BE49-F238E27FC236}">
                <a16:creationId xmlns:a16="http://schemas.microsoft.com/office/drawing/2014/main" id="{DE23706F-7365-0973-D2F9-F4E1F1AD1DC1}"/>
              </a:ext>
            </a:extLst>
          </p:cNvPr>
          <p:cNvPicPr>
            <a:picLocks noChangeAspect="1"/>
          </p:cNvPicPr>
          <p:nvPr/>
        </p:nvPicPr>
        <p:blipFill>
          <a:blip r:embed="rId2"/>
          <a:stretch>
            <a:fillRect/>
          </a:stretch>
        </p:blipFill>
        <p:spPr>
          <a:xfrm>
            <a:off x="2523744" y="2560320"/>
            <a:ext cx="243840" cy="243840"/>
          </a:xfrm>
          <a:prstGeom prst="rect">
            <a:avLst/>
          </a:prstGeom>
        </p:spPr>
      </p:pic>
      <p:sp>
        <p:nvSpPr>
          <p:cNvPr id="16" name="Shape 10">
            <a:extLst>
              <a:ext uri="{FF2B5EF4-FFF2-40B4-BE49-F238E27FC236}">
                <a16:creationId xmlns:a16="http://schemas.microsoft.com/office/drawing/2014/main" id="{66164333-01E9-6186-2F41-2937F20FBA8D}"/>
              </a:ext>
            </a:extLst>
          </p:cNvPr>
          <p:cNvSpPr/>
          <p:nvPr/>
        </p:nvSpPr>
        <p:spPr>
          <a:xfrm>
            <a:off x="274320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6A0AB6D9-037F-87B7-DB07-EA890B846B63}"/>
              </a:ext>
            </a:extLst>
          </p:cNvPr>
          <p:cNvSpPr/>
          <p:nvPr/>
        </p:nvSpPr>
        <p:spPr>
          <a:xfrm>
            <a:off x="274320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8" name="Text 12">
            <a:extLst>
              <a:ext uri="{FF2B5EF4-FFF2-40B4-BE49-F238E27FC236}">
                <a16:creationId xmlns:a16="http://schemas.microsoft.com/office/drawing/2014/main" id="{7BBF57A5-6063-BBFA-E1DA-F75B70A6C392}"/>
              </a:ext>
            </a:extLst>
          </p:cNvPr>
          <p:cNvSpPr/>
          <p:nvPr/>
        </p:nvSpPr>
        <p:spPr>
          <a:xfrm>
            <a:off x="274320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Capacity</a:t>
            </a:r>
            <a:endParaRPr lang="en-US" sz="1733" dirty="0"/>
          </a:p>
          <a:p>
            <a:pPr algn="ctr"/>
            <a:r>
              <a:rPr lang="en-US" sz="1733" b="1" dirty="0">
                <a:solidFill>
                  <a:srgbClr val="00B294"/>
                </a:solidFill>
                <a:ea typeface="Calibri" pitchFamily="34" charset="-122"/>
                <a:cs typeface="Calibri" pitchFamily="34" charset="-120"/>
              </a:rPr>
              <a:t>Check</a:t>
            </a:r>
            <a:endParaRPr lang="en-US" sz="1733" dirty="0"/>
          </a:p>
        </p:txBody>
      </p:sp>
      <p:sp>
        <p:nvSpPr>
          <p:cNvPr id="19" name="Text 13">
            <a:extLst>
              <a:ext uri="{FF2B5EF4-FFF2-40B4-BE49-F238E27FC236}">
                <a16:creationId xmlns:a16="http://schemas.microsoft.com/office/drawing/2014/main" id="{C632693F-D898-8D17-DA9B-3D2E33BF7134}"/>
              </a:ext>
            </a:extLst>
          </p:cNvPr>
          <p:cNvSpPr/>
          <p:nvPr/>
        </p:nvSpPr>
        <p:spPr>
          <a:xfrm>
            <a:off x="284073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SAP PP integration</a:t>
            </a:r>
            <a:endParaRPr lang="en-US" sz="1333" dirty="0"/>
          </a:p>
          <a:p>
            <a:pPr algn="ctr"/>
            <a:r>
              <a:rPr lang="en-US" sz="1333" dirty="0">
                <a:solidFill>
                  <a:srgbClr val="B8CFE8"/>
                </a:solidFill>
                <a:ea typeface="Calibri" pitchFamily="34" charset="-122"/>
                <a:cs typeface="Calibri" pitchFamily="34" charset="-120"/>
              </a:rPr>
              <a:t>work centre loads</a:t>
            </a:r>
            <a:endParaRPr lang="en-US" sz="1333" dirty="0"/>
          </a:p>
        </p:txBody>
      </p:sp>
      <p:pic>
        <p:nvPicPr>
          <p:cNvPr id="20" name="Image 1" descr="preencoded.png">
            <a:extLst>
              <a:ext uri="{FF2B5EF4-FFF2-40B4-BE49-F238E27FC236}">
                <a16:creationId xmlns:a16="http://schemas.microsoft.com/office/drawing/2014/main" id="{EAE71086-42BC-743A-EA09-B8AD5034E4CC}"/>
              </a:ext>
            </a:extLst>
          </p:cNvPr>
          <p:cNvPicPr>
            <a:picLocks noChangeAspect="1"/>
          </p:cNvPicPr>
          <p:nvPr/>
        </p:nvPicPr>
        <p:blipFill>
          <a:blip r:embed="rId2"/>
          <a:stretch>
            <a:fillRect/>
          </a:stretch>
        </p:blipFill>
        <p:spPr>
          <a:xfrm>
            <a:off x="4840224" y="2560320"/>
            <a:ext cx="243840" cy="243840"/>
          </a:xfrm>
          <a:prstGeom prst="rect">
            <a:avLst/>
          </a:prstGeom>
        </p:spPr>
      </p:pic>
      <p:sp>
        <p:nvSpPr>
          <p:cNvPr id="21" name="Shape 14">
            <a:extLst>
              <a:ext uri="{FF2B5EF4-FFF2-40B4-BE49-F238E27FC236}">
                <a16:creationId xmlns:a16="http://schemas.microsoft.com/office/drawing/2014/main" id="{10E46DF2-AD78-1ACF-89B4-2FAD6D6BFBB4}"/>
              </a:ext>
            </a:extLst>
          </p:cNvPr>
          <p:cNvSpPr/>
          <p:nvPr/>
        </p:nvSpPr>
        <p:spPr>
          <a:xfrm>
            <a:off x="505968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Shape 15">
            <a:extLst>
              <a:ext uri="{FF2B5EF4-FFF2-40B4-BE49-F238E27FC236}">
                <a16:creationId xmlns:a16="http://schemas.microsoft.com/office/drawing/2014/main" id="{74DC7D9C-0A01-6739-8AB4-4A59D43BA8D5}"/>
              </a:ext>
            </a:extLst>
          </p:cNvPr>
          <p:cNvSpPr/>
          <p:nvPr/>
        </p:nvSpPr>
        <p:spPr>
          <a:xfrm>
            <a:off x="505968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3" name="Text 16">
            <a:extLst>
              <a:ext uri="{FF2B5EF4-FFF2-40B4-BE49-F238E27FC236}">
                <a16:creationId xmlns:a16="http://schemas.microsoft.com/office/drawing/2014/main" id="{227BC4ED-BD7B-F28D-0380-4F50F8892614}"/>
              </a:ext>
            </a:extLst>
          </p:cNvPr>
          <p:cNvSpPr/>
          <p:nvPr/>
        </p:nvSpPr>
        <p:spPr>
          <a:xfrm>
            <a:off x="505968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Supply</a:t>
            </a:r>
            <a:endParaRPr lang="en-US" sz="1733" dirty="0"/>
          </a:p>
          <a:p>
            <a:pPr algn="ctr"/>
            <a:r>
              <a:rPr lang="en-US" sz="1733" b="1" dirty="0">
                <a:solidFill>
                  <a:srgbClr val="00B294"/>
                </a:solidFill>
                <a:ea typeface="Calibri" pitchFamily="34" charset="-122"/>
                <a:cs typeface="Calibri" pitchFamily="34" charset="-120"/>
              </a:rPr>
              <a:t>Gaps</a:t>
            </a:r>
            <a:endParaRPr lang="en-US" sz="1733" dirty="0"/>
          </a:p>
        </p:txBody>
      </p:sp>
      <p:sp>
        <p:nvSpPr>
          <p:cNvPr id="24" name="Text 17">
            <a:extLst>
              <a:ext uri="{FF2B5EF4-FFF2-40B4-BE49-F238E27FC236}">
                <a16:creationId xmlns:a16="http://schemas.microsoft.com/office/drawing/2014/main" id="{3658C656-BEE5-4A22-11B0-4C2C45C3CF6D}"/>
              </a:ext>
            </a:extLst>
          </p:cNvPr>
          <p:cNvSpPr/>
          <p:nvPr/>
        </p:nvSpPr>
        <p:spPr>
          <a:xfrm>
            <a:off x="515721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ML detects under-</a:t>
            </a:r>
            <a:endParaRPr lang="en-US" sz="1333" dirty="0"/>
          </a:p>
          <a:p>
            <a:pPr algn="ctr"/>
            <a:r>
              <a:rPr lang="en-US" sz="1333" dirty="0">
                <a:solidFill>
                  <a:srgbClr val="B8CFE8"/>
                </a:solidFill>
                <a:ea typeface="Calibri" pitchFamily="34" charset="-122"/>
                <a:cs typeface="Calibri" pitchFamily="34" charset="-120"/>
              </a:rPr>
              <a:t>supply risk zones</a:t>
            </a:r>
            <a:endParaRPr lang="en-US" sz="1333" dirty="0"/>
          </a:p>
        </p:txBody>
      </p:sp>
      <p:pic>
        <p:nvPicPr>
          <p:cNvPr id="25" name="Image 2" descr="preencoded.png">
            <a:extLst>
              <a:ext uri="{FF2B5EF4-FFF2-40B4-BE49-F238E27FC236}">
                <a16:creationId xmlns:a16="http://schemas.microsoft.com/office/drawing/2014/main" id="{60224FB7-D080-B9F3-95F0-B5C86124A959}"/>
              </a:ext>
            </a:extLst>
          </p:cNvPr>
          <p:cNvPicPr>
            <a:picLocks noChangeAspect="1"/>
          </p:cNvPicPr>
          <p:nvPr/>
        </p:nvPicPr>
        <p:blipFill>
          <a:blip r:embed="rId2"/>
          <a:stretch>
            <a:fillRect/>
          </a:stretch>
        </p:blipFill>
        <p:spPr>
          <a:xfrm>
            <a:off x="7156704" y="2560320"/>
            <a:ext cx="243840" cy="243840"/>
          </a:xfrm>
          <a:prstGeom prst="rect">
            <a:avLst/>
          </a:prstGeom>
        </p:spPr>
      </p:pic>
      <p:sp>
        <p:nvSpPr>
          <p:cNvPr id="26" name="Shape 18">
            <a:extLst>
              <a:ext uri="{FF2B5EF4-FFF2-40B4-BE49-F238E27FC236}">
                <a16:creationId xmlns:a16="http://schemas.microsoft.com/office/drawing/2014/main" id="{566D117B-3F47-A93C-D757-2653A39198DB}"/>
              </a:ext>
            </a:extLst>
          </p:cNvPr>
          <p:cNvSpPr/>
          <p:nvPr/>
        </p:nvSpPr>
        <p:spPr>
          <a:xfrm>
            <a:off x="737616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7" name="Shape 19">
            <a:extLst>
              <a:ext uri="{FF2B5EF4-FFF2-40B4-BE49-F238E27FC236}">
                <a16:creationId xmlns:a16="http://schemas.microsoft.com/office/drawing/2014/main" id="{A6BA6F7B-2F6A-FAB4-C2E4-A531F03DC87A}"/>
              </a:ext>
            </a:extLst>
          </p:cNvPr>
          <p:cNvSpPr/>
          <p:nvPr/>
        </p:nvSpPr>
        <p:spPr>
          <a:xfrm>
            <a:off x="737616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8" name="Text 20">
            <a:extLst>
              <a:ext uri="{FF2B5EF4-FFF2-40B4-BE49-F238E27FC236}">
                <a16:creationId xmlns:a16="http://schemas.microsoft.com/office/drawing/2014/main" id="{02ABBDE4-F789-47FC-A954-635C24D33694}"/>
              </a:ext>
            </a:extLst>
          </p:cNvPr>
          <p:cNvSpPr/>
          <p:nvPr/>
        </p:nvSpPr>
        <p:spPr>
          <a:xfrm>
            <a:off x="737616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Vendor</a:t>
            </a:r>
            <a:endParaRPr lang="en-US" sz="1733" dirty="0"/>
          </a:p>
          <a:p>
            <a:pPr algn="ctr"/>
            <a:r>
              <a:rPr lang="en-US" sz="1733" b="1" dirty="0">
                <a:solidFill>
                  <a:srgbClr val="00B294"/>
                </a:solidFill>
                <a:ea typeface="Calibri" pitchFamily="34" charset="-122"/>
                <a:cs typeface="Calibri" pitchFamily="34" charset="-120"/>
              </a:rPr>
              <a:t>Scoring</a:t>
            </a:r>
            <a:endParaRPr lang="en-US" sz="1733" dirty="0"/>
          </a:p>
        </p:txBody>
      </p:sp>
      <p:sp>
        <p:nvSpPr>
          <p:cNvPr id="29" name="Text 21">
            <a:extLst>
              <a:ext uri="{FF2B5EF4-FFF2-40B4-BE49-F238E27FC236}">
                <a16:creationId xmlns:a16="http://schemas.microsoft.com/office/drawing/2014/main" id="{2F92EBF1-74D9-20BB-1D7D-474947BD7293}"/>
              </a:ext>
            </a:extLst>
          </p:cNvPr>
          <p:cNvSpPr/>
          <p:nvPr/>
        </p:nvSpPr>
        <p:spPr>
          <a:xfrm>
            <a:off x="747369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Azure ML scores</a:t>
            </a:r>
            <a:endParaRPr lang="en-US" sz="1333" dirty="0"/>
          </a:p>
          <a:p>
            <a:pPr algn="ctr"/>
            <a:r>
              <a:rPr lang="en-US" sz="1333" dirty="0">
                <a:solidFill>
                  <a:srgbClr val="B8CFE8"/>
                </a:solidFill>
                <a:ea typeface="Calibri" pitchFamily="34" charset="-122"/>
                <a:cs typeface="Calibri" pitchFamily="34" charset="-120"/>
              </a:rPr>
              <a:t>vendor reliability</a:t>
            </a:r>
            <a:endParaRPr lang="en-US" sz="1333" dirty="0"/>
          </a:p>
        </p:txBody>
      </p:sp>
      <p:pic>
        <p:nvPicPr>
          <p:cNvPr id="30" name="Image 3" descr="preencoded.png">
            <a:extLst>
              <a:ext uri="{FF2B5EF4-FFF2-40B4-BE49-F238E27FC236}">
                <a16:creationId xmlns:a16="http://schemas.microsoft.com/office/drawing/2014/main" id="{45834D6B-BE6D-9304-72E6-B653D12CAB61}"/>
              </a:ext>
            </a:extLst>
          </p:cNvPr>
          <p:cNvPicPr>
            <a:picLocks noChangeAspect="1"/>
          </p:cNvPicPr>
          <p:nvPr/>
        </p:nvPicPr>
        <p:blipFill>
          <a:blip r:embed="rId2"/>
          <a:stretch>
            <a:fillRect/>
          </a:stretch>
        </p:blipFill>
        <p:spPr>
          <a:xfrm>
            <a:off x="9473184" y="2560320"/>
            <a:ext cx="243840" cy="243840"/>
          </a:xfrm>
          <a:prstGeom prst="rect">
            <a:avLst/>
          </a:prstGeom>
        </p:spPr>
      </p:pic>
      <p:sp>
        <p:nvSpPr>
          <p:cNvPr id="31" name="Shape 22">
            <a:extLst>
              <a:ext uri="{FF2B5EF4-FFF2-40B4-BE49-F238E27FC236}">
                <a16:creationId xmlns:a16="http://schemas.microsoft.com/office/drawing/2014/main" id="{993859AB-C157-BE5B-F4C2-9F459A552F4E}"/>
              </a:ext>
            </a:extLst>
          </p:cNvPr>
          <p:cNvSpPr/>
          <p:nvPr/>
        </p:nvSpPr>
        <p:spPr>
          <a:xfrm>
            <a:off x="969264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Shape 23">
            <a:extLst>
              <a:ext uri="{FF2B5EF4-FFF2-40B4-BE49-F238E27FC236}">
                <a16:creationId xmlns:a16="http://schemas.microsoft.com/office/drawing/2014/main" id="{5E4E2B61-60C9-D041-79B5-7D42034AD7E7}"/>
              </a:ext>
            </a:extLst>
          </p:cNvPr>
          <p:cNvSpPr/>
          <p:nvPr/>
        </p:nvSpPr>
        <p:spPr>
          <a:xfrm>
            <a:off x="969264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33" name="Text 24">
            <a:extLst>
              <a:ext uri="{FF2B5EF4-FFF2-40B4-BE49-F238E27FC236}">
                <a16:creationId xmlns:a16="http://schemas.microsoft.com/office/drawing/2014/main" id="{EFEBA1CA-6155-49E7-2BAD-B751DAAF5303}"/>
              </a:ext>
            </a:extLst>
          </p:cNvPr>
          <p:cNvSpPr/>
          <p:nvPr/>
        </p:nvSpPr>
        <p:spPr>
          <a:xfrm>
            <a:off x="969264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PO</a:t>
            </a:r>
            <a:endParaRPr lang="en-US" sz="1733" dirty="0"/>
          </a:p>
          <a:p>
            <a:pPr algn="ctr"/>
            <a:r>
              <a:rPr lang="en-US" sz="1733" b="1" dirty="0">
                <a:solidFill>
                  <a:srgbClr val="00B294"/>
                </a:solidFill>
                <a:ea typeface="Calibri" pitchFamily="34" charset="-122"/>
                <a:cs typeface="Calibri" pitchFamily="34" charset="-120"/>
              </a:rPr>
              <a:t>Generation</a:t>
            </a:r>
            <a:endParaRPr lang="en-US" sz="1733" dirty="0"/>
          </a:p>
        </p:txBody>
      </p:sp>
      <p:sp>
        <p:nvSpPr>
          <p:cNvPr id="34" name="Text 25">
            <a:extLst>
              <a:ext uri="{FF2B5EF4-FFF2-40B4-BE49-F238E27FC236}">
                <a16:creationId xmlns:a16="http://schemas.microsoft.com/office/drawing/2014/main" id="{8333F7F8-B345-2510-154D-39FFADAB09DF}"/>
              </a:ext>
            </a:extLst>
          </p:cNvPr>
          <p:cNvSpPr/>
          <p:nvPr/>
        </p:nvSpPr>
        <p:spPr>
          <a:xfrm>
            <a:off x="979017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Auto-raised in SAP</a:t>
            </a:r>
            <a:endParaRPr lang="en-US" sz="1333" dirty="0"/>
          </a:p>
          <a:p>
            <a:pPr algn="ctr"/>
            <a:r>
              <a:rPr lang="en-US" sz="1333" dirty="0">
                <a:solidFill>
                  <a:srgbClr val="B8CFE8"/>
                </a:solidFill>
                <a:ea typeface="Calibri" pitchFamily="34" charset="-122"/>
                <a:cs typeface="Calibri" pitchFamily="34" charset="-120"/>
              </a:rPr>
              <a:t>via BAPI_PO_CREATE</a:t>
            </a:r>
            <a:endParaRPr lang="en-US" sz="1333" dirty="0"/>
          </a:p>
        </p:txBody>
      </p:sp>
      <p:sp>
        <p:nvSpPr>
          <p:cNvPr id="35" name="Text 26">
            <a:extLst>
              <a:ext uri="{FF2B5EF4-FFF2-40B4-BE49-F238E27FC236}">
                <a16:creationId xmlns:a16="http://schemas.microsoft.com/office/drawing/2014/main" id="{B3DBFAD8-0E8F-3577-CBE3-53FB7F5B7CCA}"/>
              </a:ext>
            </a:extLst>
          </p:cNvPr>
          <p:cNvSpPr/>
          <p:nvPr/>
        </p:nvSpPr>
        <p:spPr>
          <a:xfrm>
            <a:off x="426720" y="3718560"/>
            <a:ext cx="11338560" cy="426720"/>
          </a:xfrm>
          <a:prstGeom prst="rect">
            <a:avLst/>
          </a:prstGeom>
          <a:noFill/>
          <a:ln/>
        </p:spPr>
        <p:txBody>
          <a:bodyPr wrap="square" lIns="0" tIns="0" rIns="0" bIns="0" rtlCol="0" anchor="ctr"/>
          <a:lstStyle/>
          <a:p>
            <a:r>
              <a:rPr lang="en-US" sz="1733" b="1" dirty="0">
                <a:solidFill>
                  <a:srgbClr val="50E6FF"/>
                </a:solidFill>
                <a:ea typeface="Calibri" pitchFamily="34" charset="-122"/>
                <a:cs typeface="Calibri" pitchFamily="34" charset="-120"/>
              </a:rPr>
              <a:t>Disruption Intelligence (What makes this different)</a:t>
            </a:r>
            <a:endParaRPr lang="en-US" sz="1733" dirty="0"/>
          </a:p>
        </p:txBody>
      </p:sp>
      <p:sp>
        <p:nvSpPr>
          <p:cNvPr id="36" name="Shape 27">
            <a:extLst>
              <a:ext uri="{FF2B5EF4-FFF2-40B4-BE49-F238E27FC236}">
                <a16:creationId xmlns:a16="http://schemas.microsoft.com/office/drawing/2014/main" id="{D8B367B5-1D9A-E400-D3EF-C6D1CF082BDC}"/>
              </a:ext>
            </a:extLst>
          </p:cNvPr>
          <p:cNvSpPr/>
          <p:nvPr/>
        </p:nvSpPr>
        <p:spPr>
          <a:xfrm>
            <a:off x="426720" y="4242816"/>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37" name="Shape 28">
            <a:extLst>
              <a:ext uri="{FF2B5EF4-FFF2-40B4-BE49-F238E27FC236}">
                <a16:creationId xmlns:a16="http://schemas.microsoft.com/office/drawing/2014/main" id="{E116D94E-1992-FFD3-6B42-9EE1DF85C162}"/>
              </a:ext>
            </a:extLst>
          </p:cNvPr>
          <p:cNvSpPr/>
          <p:nvPr/>
        </p:nvSpPr>
        <p:spPr>
          <a:xfrm>
            <a:off x="426720" y="4242816"/>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38" name="Image 4" descr="preencoded.png">
            <a:extLst>
              <a:ext uri="{FF2B5EF4-FFF2-40B4-BE49-F238E27FC236}">
                <a16:creationId xmlns:a16="http://schemas.microsoft.com/office/drawing/2014/main" id="{45F035C2-7556-D40D-4262-F54B9090E323}"/>
              </a:ext>
            </a:extLst>
          </p:cNvPr>
          <p:cNvPicPr>
            <a:picLocks noChangeAspect="1"/>
          </p:cNvPicPr>
          <p:nvPr/>
        </p:nvPicPr>
        <p:blipFill>
          <a:blip r:embed="rId3"/>
          <a:stretch>
            <a:fillRect/>
          </a:stretch>
        </p:blipFill>
        <p:spPr>
          <a:xfrm>
            <a:off x="670560" y="4340352"/>
            <a:ext cx="365760" cy="365760"/>
          </a:xfrm>
          <a:prstGeom prst="rect">
            <a:avLst/>
          </a:prstGeom>
        </p:spPr>
      </p:pic>
      <p:sp>
        <p:nvSpPr>
          <p:cNvPr id="39" name="Text 29">
            <a:extLst>
              <a:ext uri="{FF2B5EF4-FFF2-40B4-BE49-F238E27FC236}">
                <a16:creationId xmlns:a16="http://schemas.microsoft.com/office/drawing/2014/main" id="{C9022BE3-8FE1-68BD-A596-5A1F27353F32}"/>
              </a:ext>
            </a:extLst>
          </p:cNvPr>
          <p:cNvSpPr/>
          <p:nvPr/>
        </p:nvSpPr>
        <p:spPr>
          <a:xfrm>
            <a:off x="1280160" y="4364736"/>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Port delay signals from web + customs data auto-adjust planned delivery dates in SAP</a:t>
            </a:r>
            <a:endParaRPr lang="en-US" sz="1467" dirty="0"/>
          </a:p>
        </p:txBody>
      </p:sp>
      <p:sp>
        <p:nvSpPr>
          <p:cNvPr id="40" name="Shape 30">
            <a:extLst>
              <a:ext uri="{FF2B5EF4-FFF2-40B4-BE49-F238E27FC236}">
                <a16:creationId xmlns:a16="http://schemas.microsoft.com/office/drawing/2014/main" id="{970F7307-2171-32FC-AE53-0AD4CF7AE0CC}"/>
              </a:ext>
            </a:extLst>
          </p:cNvPr>
          <p:cNvSpPr/>
          <p:nvPr/>
        </p:nvSpPr>
        <p:spPr>
          <a:xfrm>
            <a:off x="426720" y="4925568"/>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1">
            <a:extLst>
              <a:ext uri="{FF2B5EF4-FFF2-40B4-BE49-F238E27FC236}">
                <a16:creationId xmlns:a16="http://schemas.microsoft.com/office/drawing/2014/main" id="{D5B4A3DE-DDF3-A306-B823-B547924EAEAC}"/>
              </a:ext>
            </a:extLst>
          </p:cNvPr>
          <p:cNvSpPr/>
          <p:nvPr/>
        </p:nvSpPr>
        <p:spPr>
          <a:xfrm>
            <a:off x="426720" y="4925568"/>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2" name="Image 5" descr="preencoded.png">
            <a:extLst>
              <a:ext uri="{FF2B5EF4-FFF2-40B4-BE49-F238E27FC236}">
                <a16:creationId xmlns:a16="http://schemas.microsoft.com/office/drawing/2014/main" id="{2A9BA395-B35A-BFB9-5F3D-09F37E564526}"/>
              </a:ext>
            </a:extLst>
          </p:cNvPr>
          <p:cNvPicPr>
            <a:picLocks noChangeAspect="1"/>
          </p:cNvPicPr>
          <p:nvPr/>
        </p:nvPicPr>
        <p:blipFill>
          <a:blip r:embed="rId4"/>
          <a:stretch>
            <a:fillRect/>
          </a:stretch>
        </p:blipFill>
        <p:spPr>
          <a:xfrm>
            <a:off x="670560" y="5023104"/>
            <a:ext cx="365760" cy="365760"/>
          </a:xfrm>
          <a:prstGeom prst="rect">
            <a:avLst/>
          </a:prstGeom>
        </p:spPr>
      </p:pic>
      <p:sp>
        <p:nvSpPr>
          <p:cNvPr id="43" name="Text 32">
            <a:extLst>
              <a:ext uri="{FF2B5EF4-FFF2-40B4-BE49-F238E27FC236}">
                <a16:creationId xmlns:a16="http://schemas.microsoft.com/office/drawing/2014/main" id="{20D079C6-D37E-7C89-3726-49ADF88596B5}"/>
              </a:ext>
            </a:extLst>
          </p:cNvPr>
          <p:cNvSpPr/>
          <p:nvPr/>
        </p:nvSpPr>
        <p:spPr>
          <a:xfrm>
            <a:off x="1280160" y="5047488"/>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Vendor risk scoring from financial news feeds via Azure OpenAI — flags fragile suppliers</a:t>
            </a:r>
            <a:endParaRPr lang="en-US" sz="1467" dirty="0"/>
          </a:p>
        </p:txBody>
      </p:sp>
      <p:sp>
        <p:nvSpPr>
          <p:cNvPr id="44" name="Shape 33">
            <a:extLst>
              <a:ext uri="{FF2B5EF4-FFF2-40B4-BE49-F238E27FC236}">
                <a16:creationId xmlns:a16="http://schemas.microsoft.com/office/drawing/2014/main" id="{A4083835-063D-C823-F3D1-14B30C3B46C6}"/>
              </a:ext>
            </a:extLst>
          </p:cNvPr>
          <p:cNvSpPr/>
          <p:nvPr/>
        </p:nvSpPr>
        <p:spPr>
          <a:xfrm>
            <a:off x="426720" y="5608320"/>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5" name="Shape 34">
            <a:extLst>
              <a:ext uri="{FF2B5EF4-FFF2-40B4-BE49-F238E27FC236}">
                <a16:creationId xmlns:a16="http://schemas.microsoft.com/office/drawing/2014/main" id="{A6A11FCE-95F4-8FA8-C50D-6463F199D1ED}"/>
              </a:ext>
            </a:extLst>
          </p:cNvPr>
          <p:cNvSpPr/>
          <p:nvPr/>
        </p:nvSpPr>
        <p:spPr>
          <a:xfrm>
            <a:off x="426720" y="5608320"/>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6" name="Image 6" descr="preencoded.png">
            <a:extLst>
              <a:ext uri="{FF2B5EF4-FFF2-40B4-BE49-F238E27FC236}">
                <a16:creationId xmlns:a16="http://schemas.microsoft.com/office/drawing/2014/main" id="{1DF40D34-77A7-FF8D-B2E0-AF9920744193}"/>
              </a:ext>
            </a:extLst>
          </p:cNvPr>
          <p:cNvPicPr>
            <a:picLocks noChangeAspect="1"/>
          </p:cNvPicPr>
          <p:nvPr/>
        </p:nvPicPr>
        <p:blipFill>
          <a:blip r:embed="rId5"/>
          <a:stretch>
            <a:fillRect/>
          </a:stretch>
        </p:blipFill>
        <p:spPr>
          <a:xfrm>
            <a:off x="670560" y="5705856"/>
            <a:ext cx="365760" cy="365760"/>
          </a:xfrm>
          <a:prstGeom prst="rect">
            <a:avLst/>
          </a:prstGeom>
        </p:spPr>
      </p:pic>
      <p:sp>
        <p:nvSpPr>
          <p:cNvPr id="47" name="Text 35">
            <a:extLst>
              <a:ext uri="{FF2B5EF4-FFF2-40B4-BE49-F238E27FC236}">
                <a16:creationId xmlns:a16="http://schemas.microsoft.com/office/drawing/2014/main" id="{C059BC0F-7468-FBD9-71F3-EB9AE7C55322}"/>
              </a:ext>
            </a:extLst>
          </p:cNvPr>
          <p:cNvSpPr/>
          <p:nvPr/>
        </p:nvSpPr>
        <p:spPr>
          <a:xfrm>
            <a:off x="1280160" y="5730240"/>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Scenario planning — 'What if factory X shuts for 2 weeks?' — full impact simulation in minutes</a:t>
            </a:r>
            <a:endParaRPr lang="en-US" sz="1467" dirty="0"/>
          </a:p>
        </p:txBody>
      </p:sp>
    </p:spTree>
    <p:extLst>
      <p:ext uri="{BB962C8B-B14F-4D97-AF65-F5344CB8AC3E}">
        <p14:creationId xmlns:p14="http://schemas.microsoft.com/office/powerpoint/2010/main" val="4079212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BEBA3-448D-686D-675F-B57924AC7DF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414261E-9582-0C65-0DF6-92BF7A1A52B0}"/>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191493D-965C-B177-01B9-F725C6236915}"/>
              </a:ext>
            </a:extLst>
          </p:cNvPr>
          <p:cNvSpPr>
            <a:spLocks noGrp="1"/>
          </p:cNvSpPr>
          <p:nvPr>
            <p:ph type="sldNum" sz="quarter" idx="4"/>
          </p:nvPr>
        </p:nvSpPr>
        <p:spPr/>
        <p:txBody>
          <a:bodyPr/>
          <a:lstStyle/>
          <a:p>
            <a:fld id="{13CE6DAF-806F-404B-BC68-339BFCB57E5C}" type="slidenum">
              <a:rPr lang="en-US" smtClean="0"/>
              <a:pPr/>
              <a:t>8</a:t>
            </a:fld>
            <a:endParaRPr lang="en-US"/>
          </a:p>
        </p:txBody>
      </p:sp>
      <p:sp>
        <p:nvSpPr>
          <p:cNvPr id="5" name="Shape 0">
            <a:extLst>
              <a:ext uri="{FF2B5EF4-FFF2-40B4-BE49-F238E27FC236}">
                <a16:creationId xmlns:a16="http://schemas.microsoft.com/office/drawing/2014/main" id="{29AF02C0-DFBA-164B-72F0-5492630A0123}"/>
              </a:ext>
            </a:extLst>
          </p:cNvPr>
          <p:cNvSpPr/>
          <p:nvPr/>
        </p:nvSpPr>
        <p:spPr>
          <a:xfrm>
            <a:off x="0" y="0"/>
            <a:ext cx="12192000" cy="73152"/>
          </a:xfrm>
          <a:prstGeom prst="rect">
            <a:avLst/>
          </a:prstGeom>
          <a:solidFill>
            <a:srgbClr val="FF8C00"/>
          </a:solidFill>
          <a:ln w="12700">
            <a:solidFill>
              <a:srgbClr val="FF8C00"/>
            </a:solidFill>
            <a:prstDash val="solid"/>
          </a:ln>
        </p:spPr>
        <p:txBody>
          <a:bodyPr/>
          <a:lstStyle/>
          <a:p>
            <a:endParaRPr lang="en-IN" sz="1867"/>
          </a:p>
        </p:txBody>
      </p:sp>
      <p:sp>
        <p:nvSpPr>
          <p:cNvPr id="6" name="Shape 1">
            <a:extLst>
              <a:ext uri="{FF2B5EF4-FFF2-40B4-BE49-F238E27FC236}">
                <a16:creationId xmlns:a16="http://schemas.microsoft.com/office/drawing/2014/main" id="{DA79AC11-C37B-1BB8-F0DE-4ADE0E55300A}"/>
              </a:ext>
            </a:extLst>
          </p:cNvPr>
          <p:cNvSpPr/>
          <p:nvPr/>
        </p:nvSpPr>
        <p:spPr>
          <a:xfrm>
            <a:off x="426720" y="268224"/>
            <a:ext cx="853440" cy="853440"/>
          </a:xfrm>
          <a:prstGeom prst="ellipse">
            <a:avLst/>
          </a:prstGeom>
          <a:solidFill>
            <a:srgbClr val="FF8C00"/>
          </a:solidFill>
          <a:ln w="12700">
            <a:solidFill>
              <a:srgbClr val="FF8C00"/>
            </a:solidFill>
            <a:prstDash val="solid"/>
          </a:ln>
        </p:spPr>
        <p:txBody>
          <a:bodyPr/>
          <a:lstStyle/>
          <a:p>
            <a:endParaRPr lang="en-IN" sz="1867"/>
          </a:p>
        </p:txBody>
      </p:sp>
      <p:sp>
        <p:nvSpPr>
          <p:cNvPr id="7" name="Text 2">
            <a:extLst>
              <a:ext uri="{FF2B5EF4-FFF2-40B4-BE49-F238E27FC236}">
                <a16:creationId xmlns:a16="http://schemas.microsoft.com/office/drawing/2014/main" id="{F071C8DD-6274-0078-8536-3A5F24824447}"/>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04</a:t>
            </a:r>
            <a:endParaRPr lang="en-US" sz="2400" dirty="0"/>
          </a:p>
        </p:txBody>
      </p:sp>
      <p:sp>
        <p:nvSpPr>
          <p:cNvPr id="8" name="Text 3">
            <a:extLst>
              <a:ext uri="{FF2B5EF4-FFF2-40B4-BE49-F238E27FC236}">
                <a16:creationId xmlns:a16="http://schemas.microsoft.com/office/drawing/2014/main" id="{9703BA13-F67A-39E6-F332-A19B24A29B7D}"/>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Logistics Optimisation</a:t>
            </a:r>
            <a:endParaRPr lang="en-US" sz="3467" dirty="0">
              <a:latin typeface="+mj-lt"/>
            </a:endParaRPr>
          </a:p>
        </p:txBody>
      </p:sp>
      <p:sp>
        <p:nvSpPr>
          <p:cNvPr id="9" name="Text 4">
            <a:extLst>
              <a:ext uri="{FF2B5EF4-FFF2-40B4-BE49-F238E27FC236}">
                <a16:creationId xmlns:a16="http://schemas.microsoft.com/office/drawing/2014/main" id="{1EB7D638-6620-CEB0-CED7-DFAB14F4C543}"/>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Move vehicles and parts efficiently across the network — lowest cost, highest reliability</a:t>
            </a:r>
            <a:endParaRPr lang="en-US" sz="1667" dirty="0"/>
          </a:p>
        </p:txBody>
      </p:sp>
      <p:sp>
        <p:nvSpPr>
          <p:cNvPr id="10" name="Shape 5">
            <a:extLst>
              <a:ext uri="{FF2B5EF4-FFF2-40B4-BE49-F238E27FC236}">
                <a16:creationId xmlns:a16="http://schemas.microsoft.com/office/drawing/2014/main" id="{AF3796A9-10A7-C0F3-3498-BFEBBFCF25D9}"/>
              </a:ext>
            </a:extLst>
          </p:cNvPr>
          <p:cNvSpPr/>
          <p:nvPr/>
        </p:nvSpPr>
        <p:spPr>
          <a:xfrm>
            <a:off x="42672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2B53E0B3-B1BC-3CB4-5043-EEFF788CE18B}"/>
              </a:ext>
            </a:extLst>
          </p:cNvPr>
          <p:cNvSpPr/>
          <p:nvPr/>
        </p:nvSpPr>
        <p:spPr>
          <a:xfrm>
            <a:off x="426720" y="1438656"/>
            <a:ext cx="5547360" cy="73152"/>
          </a:xfrm>
          <a:prstGeom prst="rect">
            <a:avLst/>
          </a:prstGeom>
          <a:solidFill>
            <a:srgbClr val="FF8C00"/>
          </a:solidFill>
          <a:ln w="12700">
            <a:solidFill>
              <a:srgbClr val="FF8C00"/>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0C84CA8A-77A1-2583-3CD3-3BDB6750A4A6}"/>
              </a:ext>
            </a:extLst>
          </p:cNvPr>
          <p:cNvPicPr>
            <a:picLocks noChangeAspect="1"/>
          </p:cNvPicPr>
          <p:nvPr/>
        </p:nvPicPr>
        <p:blipFill>
          <a:blip r:embed="rId2"/>
          <a:stretch>
            <a:fillRect/>
          </a:stretch>
        </p:blipFill>
        <p:spPr>
          <a:xfrm>
            <a:off x="573024" y="1658112"/>
            <a:ext cx="512064" cy="512064"/>
          </a:xfrm>
          <a:prstGeom prst="rect">
            <a:avLst/>
          </a:prstGeom>
        </p:spPr>
      </p:pic>
      <p:sp>
        <p:nvSpPr>
          <p:cNvPr id="13" name="Text 7">
            <a:extLst>
              <a:ext uri="{FF2B5EF4-FFF2-40B4-BE49-F238E27FC236}">
                <a16:creationId xmlns:a16="http://schemas.microsoft.com/office/drawing/2014/main" id="{5E45CE88-96A9-CE45-CCF7-DD39862C9E41}"/>
              </a:ext>
            </a:extLst>
          </p:cNvPr>
          <p:cNvSpPr/>
          <p:nvPr/>
        </p:nvSpPr>
        <p:spPr>
          <a:xfrm>
            <a:off x="1255776" y="1621536"/>
            <a:ext cx="4511040" cy="390144"/>
          </a:xfrm>
          <a:prstGeom prst="rect">
            <a:avLst/>
          </a:prstGeom>
          <a:noFill/>
          <a:ln/>
        </p:spPr>
        <p:txBody>
          <a:bodyPr wrap="square" lIns="0" tIns="0" rIns="0" bIns="0" rtlCol="0" anchor="ctr"/>
          <a:lstStyle/>
          <a:p>
            <a:r>
              <a:rPr lang="en-US" sz="1667" b="1" dirty="0">
                <a:solidFill>
                  <a:srgbClr val="FF8C00"/>
                </a:solidFill>
                <a:ea typeface="Calibri" pitchFamily="34" charset="-122"/>
                <a:cs typeface="Calibri" pitchFamily="34" charset="-120"/>
              </a:rPr>
              <a:t>Route Optimisation</a:t>
            </a:r>
            <a:endParaRPr lang="en-US" sz="1667" dirty="0"/>
          </a:p>
        </p:txBody>
      </p:sp>
      <p:sp>
        <p:nvSpPr>
          <p:cNvPr id="14" name="Text 8">
            <a:extLst>
              <a:ext uri="{FF2B5EF4-FFF2-40B4-BE49-F238E27FC236}">
                <a16:creationId xmlns:a16="http://schemas.microsoft.com/office/drawing/2014/main" id="{2BA71AB9-BD3E-4023-BB02-527B8D3BCE04}"/>
              </a:ext>
            </a:extLst>
          </p:cNvPr>
          <p:cNvSpPr/>
          <p:nvPr/>
        </p:nvSpPr>
        <p:spPr>
          <a:xfrm>
            <a:off x="125577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12% fuel</a:t>
            </a:r>
            <a:endParaRPr lang="en-US" sz="1600" dirty="0"/>
          </a:p>
          <a:p>
            <a:r>
              <a:rPr lang="en-US" sz="1600" b="1" dirty="0">
                <a:solidFill>
                  <a:srgbClr val="FFFFFF"/>
                </a:solidFill>
                <a:ea typeface="Calibri" pitchFamily="34" charset="-122"/>
                <a:cs typeface="Calibri" pitchFamily="34" charset="-120"/>
              </a:rPr>
              <a:t>cost saving</a:t>
            </a:r>
            <a:endParaRPr lang="en-US" sz="1600" dirty="0"/>
          </a:p>
        </p:txBody>
      </p:sp>
      <p:sp>
        <p:nvSpPr>
          <p:cNvPr id="15" name="Text 9">
            <a:extLst>
              <a:ext uri="{FF2B5EF4-FFF2-40B4-BE49-F238E27FC236}">
                <a16:creationId xmlns:a16="http://schemas.microsoft.com/office/drawing/2014/main" id="{0D230FF9-CE1A-CE3D-4528-F509371A6442}"/>
              </a:ext>
            </a:extLst>
          </p:cNvPr>
          <p:cNvSpPr/>
          <p:nvPr/>
        </p:nvSpPr>
        <p:spPr>
          <a:xfrm>
            <a:off x="57302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VRP solver (OR-Tools + Azure Maps) for milk-run and FTL/LTL planning. Real-time traffic and toll cost integration.</a:t>
            </a:r>
            <a:endParaRPr lang="en-US" dirty="0"/>
          </a:p>
        </p:txBody>
      </p:sp>
      <p:sp>
        <p:nvSpPr>
          <p:cNvPr id="16" name="Shape 10">
            <a:extLst>
              <a:ext uri="{FF2B5EF4-FFF2-40B4-BE49-F238E27FC236}">
                <a16:creationId xmlns:a16="http://schemas.microsoft.com/office/drawing/2014/main" id="{6F7A8489-36BD-9E53-74A6-6C088FED7B10}"/>
              </a:ext>
            </a:extLst>
          </p:cNvPr>
          <p:cNvSpPr/>
          <p:nvPr/>
        </p:nvSpPr>
        <p:spPr>
          <a:xfrm>
            <a:off x="633984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251D3B55-7485-BCBC-FC5D-04229DD14ECB}"/>
              </a:ext>
            </a:extLst>
          </p:cNvPr>
          <p:cNvSpPr/>
          <p:nvPr/>
        </p:nvSpPr>
        <p:spPr>
          <a:xfrm>
            <a:off x="6339840" y="1438656"/>
            <a:ext cx="5547360" cy="73152"/>
          </a:xfrm>
          <a:prstGeom prst="rect">
            <a:avLst/>
          </a:prstGeom>
          <a:solidFill>
            <a:srgbClr val="0078D4"/>
          </a:solidFill>
          <a:ln w="12700">
            <a:solidFill>
              <a:srgbClr val="0078D4"/>
            </a:solidFill>
            <a:prstDash val="solid"/>
          </a:ln>
        </p:spPr>
        <p:txBody>
          <a:bodyPr/>
          <a:lstStyle/>
          <a:p>
            <a:endParaRPr lang="en-IN" sz="1867"/>
          </a:p>
        </p:txBody>
      </p:sp>
      <p:pic>
        <p:nvPicPr>
          <p:cNvPr id="18" name="Image 1" descr="preencoded.png">
            <a:extLst>
              <a:ext uri="{FF2B5EF4-FFF2-40B4-BE49-F238E27FC236}">
                <a16:creationId xmlns:a16="http://schemas.microsoft.com/office/drawing/2014/main" id="{8604BD0F-73A8-BFA6-038F-D99173CDCFC7}"/>
              </a:ext>
            </a:extLst>
          </p:cNvPr>
          <p:cNvPicPr>
            <a:picLocks noChangeAspect="1"/>
          </p:cNvPicPr>
          <p:nvPr/>
        </p:nvPicPr>
        <p:blipFill>
          <a:blip r:embed="rId3"/>
          <a:stretch>
            <a:fillRect/>
          </a:stretch>
        </p:blipFill>
        <p:spPr>
          <a:xfrm>
            <a:off x="6486144" y="1658112"/>
            <a:ext cx="512064" cy="512064"/>
          </a:xfrm>
          <a:prstGeom prst="rect">
            <a:avLst/>
          </a:prstGeom>
        </p:spPr>
      </p:pic>
      <p:sp>
        <p:nvSpPr>
          <p:cNvPr id="19" name="Text 12">
            <a:extLst>
              <a:ext uri="{FF2B5EF4-FFF2-40B4-BE49-F238E27FC236}">
                <a16:creationId xmlns:a16="http://schemas.microsoft.com/office/drawing/2014/main" id="{69CE63F5-1C2E-110F-666F-D2068932D36F}"/>
              </a:ext>
            </a:extLst>
          </p:cNvPr>
          <p:cNvSpPr/>
          <p:nvPr/>
        </p:nvSpPr>
        <p:spPr>
          <a:xfrm>
            <a:off x="7168896" y="1621536"/>
            <a:ext cx="4511040" cy="390144"/>
          </a:xfrm>
          <a:prstGeom prst="rect">
            <a:avLst/>
          </a:prstGeom>
          <a:noFill/>
          <a:ln/>
        </p:spPr>
        <p:txBody>
          <a:bodyPr wrap="square" lIns="0" tIns="0" rIns="0" bIns="0" rtlCol="0" anchor="ctr"/>
          <a:lstStyle/>
          <a:p>
            <a:r>
              <a:rPr lang="en-US" sz="1667" b="1" dirty="0">
                <a:solidFill>
                  <a:srgbClr val="0078D4"/>
                </a:solidFill>
                <a:ea typeface="Calibri" pitchFamily="34" charset="-122"/>
                <a:cs typeface="Calibri" pitchFamily="34" charset="-120"/>
              </a:rPr>
              <a:t>ETA Prediction</a:t>
            </a:r>
            <a:endParaRPr lang="en-US" sz="1667" dirty="0"/>
          </a:p>
        </p:txBody>
      </p:sp>
      <p:sp>
        <p:nvSpPr>
          <p:cNvPr id="20" name="Text 13">
            <a:extLst>
              <a:ext uri="{FF2B5EF4-FFF2-40B4-BE49-F238E27FC236}">
                <a16:creationId xmlns:a16="http://schemas.microsoft.com/office/drawing/2014/main" id="{09E707A3-DA43-34EE-0E4F-8089D6151262}"/>
              </a:ext>
            </a:extLst>
          </p:cNvPr>
          <p:cNvSpPr/>
          <p:nvPr/>
        </p:nvSpPr>
        <p:spPr>
          <a:xfrm>
            <a:off x="716889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85%+ on-time</a:t>
            </a:r>
            <a:endParaRPr lang="en-US" sz="1600" dirty="0"/>
          </a:p>
          <a:p>
            <a:r>
              <a:rPr lang="en-US" sz="1600" b="1" dirty="0">
                <a:solidFill>
                  <a:srgbClr val="FFFFFF"/>
                </a:solidFill>
                <a:ea typeface="Calibri" pitchFamily="34" charset="-122"/>
                <a:cs typeface="Calibri" pitchFamily="34" charset="-120"/>
              </a:rPr>
              <a:t>delivery rate</a:t>
            </a:r>
            <a:endParaRPr lang="en-US" sz="1600" dirty="0"/>
          </a:p>
        </p:txBody>
      </p:sp>
      <p:sp>
        <p:nvSpPr>
          <p:cNvPr id="21" name="Text 14">
            <a:extLst>
              <a:ext uri="{FF2B5EF4-FFF2-40B4-BE49-F238E27FC236}">
                <a16:creationId xmlns:a16="http://schemas.microsoft.com/office/drawing/2014/main" id="{A78E51F7-12DA-A65D-6029-F16B8B543CE5}"/>
              </a:ext>
            </a:extLst>
          </p:cNvPr>
          <p:cNvSpPr/>
          <p:nvPr/>
        </p:nvSpPr>
        <p:spPr>
          <a:xfrm>
            <a:off x="648614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ML model trained on SAP TM delivery history + weather + traffic. Predicts delays 72 hrs in advance with confidence score.</a:t>
            </a:r>
            <a:endParaRPr lang="en-US" dirty="0"/>
          </a:p>
        </p:txBody>
      </p:sp>
      <p:sp>
        <p:nvSpPr>
          <p:cNvPr id="22" name="Shape 15">
            <a:extLst>
              <a:ext uri="{FF2B5EF4-FFF2-40B4-BE49-F238E27FC236}">
                <a16:creationId xmlns:a16="http://schemas.microsoft.com/office/drawing/2014/main" id="{808950D7-B0FC-9A1E-0C3C-DA25E0A135C5}"/>
              </a:ext>
            </a:extLst>
          </p:cNvPr>
          <p:cNvSpPr/>
          <p:nvPr/>
        </p:nvSpPr>
        <p:spPr>
          <a:xfrm>
            <a:off x="42672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3" name="Shape 16">
            <a:extLst>
              <a:ext uri="{FF2B5EF4-FFF2-40B4-BE49-F238E27FC236}">
                <a16:creationId xmlns:a16="http://schemas.microsoft.com/office/drawing/2014/main" id="{A67FAD19-B4C0-E032-8BAB-0C39E155511A}"/>
              </a:ext>
            </a:extLst>
          </p:cNvPr>
          <p:cNvSpPr/>
          <p:nvPr/>
        </p:nvSpPr>
        <p:spPr>
          <a:xfrm>
            <a:off x="426720" y="3572256"/>
            <a:ext cx="5547360" cy="73152"/>
          </a:xfrm>
          <a:prstGeom prst="rect">
            <a:avLst/>
          </a:prstGeom>
          <a:solidFill>
            <a:srgbClr val="00B294"/>
          </a:solidFill>
          <a:ln w="12700">
            <a:solidFill>
              <a:srgbClr val="00B294"/>
            </a:solidFill>
            <a:prstDash val="solid"/>
          </a:ln>
        </p:spPr>
        <p:txBody>
          <a:bodyPr/>
          <a:lstStyle/>
          <a:p>
            <a:endParaRPr lang="en-IN" sz="1867"/>
          </a:p>
        </p:txBody>
      </p:sp>
      <p:pic>
        <p:nvPicPr>
          <p:cNvPr id="24" name="Image 2" descr="preencoded.png">
            <a:extLst>
              <a:ext uri="{FF2B5EF4-FFF2-40B4-BE49-F238E27FC236}">
                <a16:creationId xmlns:a16="http://schemas.microsoft.com/office/drawing/2014/main" id="{E006573E-0A94-6107-825B-ED431082B65F}"/>
              </a:ext>
            </a:extLst>
          </p:cNvPr>
          <p:cNvPicPr>
            <a:picLocks noChangeAspect="1"/>
          </p:cNvPicPr>
          <p:nvPr/>
        </p:nvPicPr>
        <p:blipFill>
          <a:blip r:embed="rId4"/>
          <a:stretch>
            <a:fillRect/>
          </a:stretch>
        </p:blipFill>
        <p:spPr>
          <a:xfrm>
            <a:off x="573024" y="3791712"/>
            <a:ext cx="512064" cy="512064"/>
          </a:xfrm>
          <a:prstGeom prst="rect">
            <a:avLst/>
          </a:prstGeom>
        </p:spPr>
      </p:pic>
      <p:sp>
        <p:nvSpPr>
          <p:cNvPr id="25" name="Text 17">
            <a:extLst>
              <a:ext uri="{FF2B5EF4-FFF2-40B4-BE49-F238E27FC236}">
                <a16:creationId xmlns:a16="http://schemas.microsoft.com/office/drawing/2014/main" id="{64C72256-8324-5DF2-68F0-7AAA063C8824}"/>
              </a:ext>
            </a:extLst>
          </p:cNvPr>
          <p:cNvSpPr/>
          <p:nvPr/>
        </p:nvSpPr>
        <p:spPr>
          <a:xfrm>
            <a:off x="1255776" y="3755136"/>
            <a:ext cx="4511040" cy="390144"/>
          </a:xfrm>
          <a:prstGeom prst="rect">
            <a:avLst/>
          </a:prstGeom>
          <a:noFill/>
          <a:ln/>
        </p:spPr>
        <p:txBody>
          <a:bodyPr wrap="square" lIns="0" tIns="0" rIns="0" bIns="0" rtlCol="0" anchor="ctr"/>
          <a:lstStyle/>
          <a:p>
            <a:r>
              <a:rPr lang="en-US" sz="1667" b="1" dirty="0">
                <a:solidFill>
                  <a:srgbClr val="00B294"/>
                </a:solidFill>
                <a:ea typeface="Calibri" pitchFamily="34" charset="-122"/>
                <a:cs typeface="Calibri" pitchFamily="34" charset="-120"/>
              </a:rPr>
              <a:t>Warehouse Slotting</a:t>
            </a:r>
            <a:endParaRPr lang="en-US" sz="1667" dirty="0"/>
          </a:p>
        </p:txBody>
      </p:sp>
      <p:sp>
        <p:nvSpPr>
          <p:cNvPr id="26" name="Text 18">
            <a:extLst>
              <a:ext uri="{FF2B5EF4-FFF2-40B4-BE49-F238E27FC236}">
                <a16:creationId xmlns:a16="http://schemas.microsoft.com/office/drawing/2014/main" id="{080E8F72-2F8A-B8B0-9BEB-5387BA3706A5}"/>
              </a:ext>
            </a:extLst>
          </p:cNvPr>
          <p:cNvSpPr/>
          <p:nvPr/>
        </p:nvSpPr>
        <p:spPr>
          <a:xfrm>
            <a:off x="125577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20% pick</a:t>
            </a:r>
            <a:endParaRPr lang="en-US" sz="1600" dirty="0"/>
          </a:p>
          <a:p>
            <a:r>
              <a:rPr lang="en-US" sz="1600" b="1" dirty="0">
                <a:solidFill>
                  <a:srgbClr val="FFFFFF"/>
                </a:solidFill>
                <a:ea typeface="Calibri" pitchFamily="34" charset="-122"/>
                <a:cs typeface="Calibri" pitchFamily="34" charset="-120"/>
              </a:rPr>
              <a:t>time reduction</a:t>
            </a:r>
            <a:endParaRPr lang="en-US" sz="1600" dirty="0"/>
          </a:p>
        </p:txBody>
      </p:sp>
      <p:sp>
        <p:nvSpPr>
          <p:cNvPr id="27" name="Text 19">
            <a:extLst>
              <a:ext uri="{FF2B5EF4-FFF2-40B4-BE49-F238E27FC236}">
                <a16:creationId xmlns:a16="http://schemas.microsoft.com/office/drawing/2014/main" id="{067ABB1B-5A13-B1F0-5B1A-59C06397B87E}"/>
              </a:ext>
            </a:extLst>
          </p:cNvPr>
          <p:cNvSpPr/>
          <p:nvPr/>
        </p:nvSpPr>
        <p:spPr>
          <a:xfrm>
            <a:off x="57302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determines optimal bin location per SKU based on velocity, weight, co-pick patterns from SAP WM/EWM data.</a:t>
            </a:r>
            <a:endParaRPr lang="en-US" dirty="0"/>
          </a:p>
        </p:txBody>
      </p:sp>
      <p:sp>
        <p:nvSpPr>
          <p:cNvPr id="28" name="Shape 20">
            <a:extLst>
              <a:ext uri="{FF2B5EF4-FFF2-40B4-BE49-F238E27FC236}">
                <a16:creationId xmlns:a16="http://schemas.microsoft.com/office/drawing/2014/main" id="{7FB0C92A-DA77-26A6-6275-AD1C7D51F462}"/>
              </a:ext>
            </a:extLst>
          </p:cNvPr>
          <p:cNvSpPr/>
          <p:nvPr/>
        </p:nvSpPr>
        <p:spPr>
          <a:xfrm>
            <a:off x="633984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9" name="Shape 21">
            <a:extLst>
              <a:ext uri="{FF2B5EF4-FFF2-40B4-BE49-F238E27FC236}">
                <a16:creationId xmlns:a16="http://schemas.microsoft.com/office/drawing/2014/main" id="{C2D10B44-9470-F924-3C8D-0E2577AC3C29}"/>
              </a:ext>
            </a:extLst>
          </p:cNvPr>
          <p:cNvSpPr/>
          <p:nvPr/>
        </p:nvSpPr>
        <p:spPr>
          <a:xfrm>
            <a:off x="6339840" y="3572256"/>
            <a:ext cx="5547360" cy="73152"/>
          </a:xfrm>
          <a:prstGeom prst="rect">
            <a:avLst/>
          </a:prstGeom>
          <a:solidFill>
            <a:srgbClr val="FFB900"/>
          </a:solidFill>
          <a:ln w="12700">
            <a:solidFill>
              <a:srgbClr val="FFB900"/>
            </a:solidFill>
            <a:prstDash val="solid"/>
          </a:ln>
        </p:spPr>
        <p:txBody>
          <a:bodyPr/>
          <a:lstStyle/>
          <a:p>
            <a:endParaRPr lang="en-IN" sz="1867"/>
          </a:p>
        </p:txBody>
      </p:sp>
      <p:pic>
        <p:nvPicPr>
          <p:cNvPr id="30" name="Image 3" descr="preencoded.png">
            <a:extLst>
              <a:ext uri="{FF2B5EF4-FFF2-40B4-BE49-F238E27FC236}">
                <a16:creationId xmlns:a16="http://schemas.microsoft.com/office/drawing/2014/main" id="{F2983F73-E18C-CFF0-1204-D673E7F0E290}"/>
              </a:ext>
            </a:extLst>
          </p:cNvPr>
          <p:cNvPicPr>
            <a:picLocks noChangeAspect="1"/>
          </p:cNvPicPr>
          <p:nvPr/>
        </p:nvPicPr>
        <p:blipFill>
          <a:blip r:embed="rId5"/>
          <a:stretch>
            <a:fillRect/>
          </a:stretch>
        </p:blipFill>
        <p:spPr>
          <a:xfrm>
            <a:off x="6486144" y="3791712"/>
            <a:ext cx="512064" cy="512064"/>
          </a:xfrm>
          <a:prstGeom prst="rect">
            <a:avLst/>
          </a:prstGeom>
        </p:spPr>
      </p:pic>
      <p:sp>
        <p:nvSpPr>
          <p:cNvPr id="31" name="Text 22">
            <a:extLst>
              <a:ext uri="{FF2B5EF4-FFF2-40B4-BE49-F238E27FC236}">
                <a16:creationId xmlns:a16="http://schemas.microsoft.com/office/drawing/2014/main" id="{6C7B6EE8-173D-7376-347E-94BE45D73A27}"/>
              </a:ext>
            </a:extLst>
          </p:cNvPr>
          <p:cNvSpPr/>
          <p:nvPr/>
        </p:nvSpPr>
        <p:spPr>
          <a:xfrm>
            <a:off x="7168896" y="3755136"/>
            <a:ext cx="4511040" cy="390144"/>
          </a:xfrm>
          <a:prstGeom prst="rect">
            <a:avLst/>
          </a:prstGeom>
          <a:noFill/>
          <a:ln/>
        </p:spPr>
        <p:txBody>
          <a:bodyPr wrap="square" lIns="0" tIns="0" rIns="0" bIns="0" rtlCol="0" anchor="ctr"/>
          <a:lstStyle/>
          <a:p>
            <a:r>
              <a:rPr lang="en-US" sz="1667" b="1" dirty="0">
                <a:solidFill>
                  <a:srgbClr val="FFB900"/>
                </a:solidFill>
                <a:ea typeface="Calibri" pitchFamily="34" charset="-122"/>
                <a:cs typeface="Calibri" pitchFamily="34" charset="-120"/>
              </a:rPr>
              <a:t>Cross-Dock Planning</a:t>
            </a:r>
            <a:endParaRPr lang="en-US" sz="1667" dirty="0"/>
          </a:p>
        </p:txBody>
      </p:sp>
      <p:sp>
        <p:nvSpPr>
          <p:cNvPr id="32" name="Text 23">
            <a:extLst>
              <a:ext uri="{FF2B5EF4-FFF2-40B4-BE49-F238E27FC236}">
                <a16:creationId xmlns:a16="http://schemas.microsoft.com/office/drawing/2014/main" id="{8E83C4C4-7287-7B10-3015-098D7693F59F}"/>
              </a:ext>
            </a:extLst>
          </p:cNvPr>
          <p:cNvSpPr/>
          <p:nvPr/>
        </p:nvSpPr>
        <p:spPr>
          <a:xfrm>
            <a:off x="716889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18% lower</a:t>
            </a:r>
            <a:endParaRPr lang="en-US" sz="1600" dirty="0"/>
          </a:p>
          <a:p>
            <a:r>
              <a:rPr lang="en-US" sz="1600" b="1" dirty="0">
                <a:solidFill>
                  <a:srgbClr val="FFFFFF"/>
                </a:solidFill>
                <a:ea typeface="Calibri" pitchFamily="34" charset="-122"/>
                <a:cs typeface="Calibri" pitchFamily="34" charset="-120"/>
              </a:rPr>
              <a:t>warehouse cost</a:t>
            </a:r>
            <a:endParaRPr lang="en-US" sz="1600" dirty="0"/>
          </a:p>
        </p:txBody>
      </p:sp>
      <p:sp>
        <p:nvSpPr>
          <p:cNvPr id="33" name="Text 24">
            <a:extLst>
              <a:ext uri="{FF2B5EF4-FFF2-40B4-BE49-F238E27FC236}">
                <a16:creationId xmlns:a16="http://schemas.microsoft.com/office/drawing/2014/main" id="{4FDEA8D7-34F4-ECAA-E924-16F91128A191}"/>
              </a:ext>
            </a:extLst>
          </p:cNvPr>
          <p:cNvSpPr/>
          <p:nvPr/>
        </p:nvSpPr>
        <p:spPr>
          <a:xfrm>
            <a:off x="648614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Identifies cross-dock opportunities automatically using inbound/outbound matching in </a:t>
            </a:r>
            <a:r>
              <a:rPr lang="en-US">
                <a:solidFill>
                  <a:srgbClr val="B8CFE8"/>
                </a:solidFill>
                <a:ea typeface="Calibri" pitchFamily="34" charset="-122"/>
                <a:cs typeface="Calibri" pitchFamily="34" charset="-120"/>
              </a:rPr>
              <a:t>Fabric reducing </a:t>
            </a:r>
            <a:r>
              <a:rPr lang="en-US" dirty="0">
                <a:solidFill>
                  <a:srgbClr val="B8CFE8"/>
                </a:solidFill>
                <a:ea typeface="Calibri" pitchFamily="34" charset="-122"/>
                <a:cs typeface="Calibri" pitchFamily="34" charset="-120"/>
              </a:rPr>
              <a:t>storage cost.</a:t>
            </a:r>
            <a:endParaRPr lang="en-US" dirty="0"/>
          </a:p>
        </p:txBody>
      </p:sp>
      <p:sp>
        <p:nvSpPr>
          <p:cNvPr id="34" name="Rounded Rectangle 33"/>
          <p:cNvSpPr/>
          <p:nvPr/>
        </p:nvSpPr>
        <p:spPr>
          <a:xfrm>
            <a:off x="350000" y="5850000"/>
            <a:ext cx="11500000" cy="6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0000" y="5900000"/>
            <a:ext cx="3000000" cy="500000"/>
          </a:xfrm>
          <a:prstGeom prst="rect">
            <a:avLst/>
          </a:prstGeom>
          <a:noFill/>
        </p:spPr>
        <p:txBody>
          <a:bodyPr wrap="square">
            <a:spAutoFit/>
          </a:bodyPr>
          <a:lstStyle/>
          <a:p>
            <a:pPr algn="l"/>
            <a:r>
              <a:rPr sz="1600" b="1" i="0">
                <a:solidFill>
                  <a:srgbClr val="FFB900"/>
                </a:solidFill>
              </a:rPr>
              <a:t>Total Logistics Impact</a:t>
            </a:r>
          </a:p>
        </p:txBody>
      </p:sp>
      <p:sp>
        <p:nvSpPr>
          <p:cNvPr id="36" name="TextBox 35"/>
          <p:cNvSpPr txBox="1"/>
          <p:nvPr/>
        </p:nvSpPr>
        <p:spPr>
          <a:xfrm>
            <a:off x="4200000" y="5920000"/>
            <a:ext cx="1900000" cy="400000"/>
          </a:xfrm>
          <a:prstGeom prst="rect">
            <a:avLst/>
          </a:prstGeom>
          <a:noFill/>
        </p:spPr>
        <p:txBody>
          <a:bodyPr wrap="square">
            <a:spAutoFit/>
          </a:bodyPr>
          <a:lstStyle/>
          <a:p>
            <a:pPr algn="ctr"/>
            <a:r>
              <a:rPr sz="1333" b="1" i="0">
                <a:solidFill>
                  <a:srgbClr val="0078D4"/>
                </a:solidFill>
              </a:rPr>
              <a:t>12% fuel saved</a:t>
            </a:r>
          </a:p>
        </p:txBody>
      </p:sp>
      <p:sp>
        <p:nvSpPr>
          <p:cNvPr id="37" name="TextBox 36"/>
          <p:cNvSpPr txBox="1"/>
          <p:nvPr/>
        </p:nvSpPr>
        <p:spPr>
          <a:xfrm>
            <a:off x="6200000" y="5920000"/>
            <a:ext cx="1900000" cy="400000"/>
          </a:xfrm>
          <a:prstGeom prst="rect">
            <a:avLst/>
          </a:prstGeom>
          <a:noFill/>
        </p:spPr>
        <p:txBody>
          <a:bodyPr wrap="square">
            <a:spAutoFit/>
          </a:bodyPr>
          <a:lstStyle/>
          <a:p>
            <a:pPr algn="ctr"/>
            <a:r>
              <a:rPr sz="1333" b="1" i="0">
                <a:solidFill>
                  <a:srgbClr val="00B294"/>
                </a:solidFill>
              </a:rPr>
              <a:t>85%+ OTD</a:t>
            </a:r>
          </a:p>
        </p:txBody>
      </p:sp>
      <p:sp>
        <p:nvSpPr>
          <p:cNvPr id="38" name="TextBox 37"/>
          <p:cNvSpPr txBox="1"/>
          <p:nvPr/>
        </p:nvSpPr>
        <p:spPr>
          <a:xfrm>
            <a:off x="8200000" y="5920000"/>
            <a:ext cx="1900000" cy="400000"/>
          </a:xfrm>
          <a:prstGeom prst="rect">
            <a:avLst/>
          </a:prstGeom>
          <a:noFill/>
        </p:spPr>
        <p:txBody>
          <a:bodyPr wrap="square">
            <a:spAutoFit/>
          </a:bodyPr>
          <a:lstStyle/>
          <a:p>
            <a:pPr algn="ctr"/>
            <a:r>
              <a:rPr sz="1333" b="1" i="0">
                <a:solidFill>
                  <a:srgbClr val="FF8C00"/>
                </a:solidFill>
              </a:rPr>
              <a:t>20% faster picks</a:t>
            </a:r>
          </a:p>
        </p:txBody>
      </p:sp>
      <p:sp>
        <p:nvSpPr>
          <p:cNvPr id="39" name="TextBox 38"/>
          <p:cNvSpPr txBox="1"/>
          <p:nvPr/>
        </p:nvSpPr>
        <p:spPr>
          <a:xfrm>
            <a:off x="10200000" y="5920000"/>
            <a:ext cx="1900000" cy="400000"/>
          </a:xfrm>
          <a:prstGeom prst="rect">
            <a:avLst/>
          </a:prstGeom>
          <a:noFill/>
        </p:spPr>
        <p:txBody>
          <a:bodyPr wrap="square">
            <a:spAutoFit/>
          </a:bodyPr>
          <a:lstStyle/>
          <a:p>
            <a:pPr algn="ctr"/>
            <a:r>
              <a:rPr sz="1333" b="1" i="0">
                <a:solidFill>
                  <a:srgbClr val="FFB900"/>
                </a:solidFill>
              </a:rPr>
              <a:t>18% lower WH cost</a:t>
            </a:r>
          </a:p>
        </p:txBody>
      </p:sp>
    </p:spTree>
    <p:extLst>
      <p:ext uri="{BB962C8B-B14F-4D97-AF65-F5344CB8AC3E}">
        <p14:creationId xmlns:p14="http://schemas.microsoft.com/office/powerpoint/2010/main" val="2026789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92EE0-938B-0CAA-8405-B884629BCC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685266-5DAE-FFBB-3552-1F809D5C206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9058DEC7-F657-C255-FEA7-1A86296AC6CB}"/>
              </a:ext>
            </a:extLst>
          </p:cNvPr>
          <p:cNvSpPr>
            <a:spLocks noGrp="1"/>
          </p:cNvSpPr>
          <p:nvPr>
            <p:ph type="sldNum" sz="quarter" idx="4"/>
          </p:nvPr>
        </p:nvSpPr>
        <p:spPr/>
        <p:txBody>
          <a:bodyPr/>
          <a:lstStyle/>
          <a:p>
            <a:fld id="{13CE6DAF-806F-404B-BC68-339BFCB57E5C}" type="slidenum">
              <a:rPr lang="en-US" smtClean="0"/>
              <a:pPr/>
              <a:t>9</a:t>
            </a:fld>
            <a:endParaRPr lang="en-US"/>
          </a:p>
        </p:txBody>
      </p:sp>
      <p:sp>
        <p:nvSpPr>
          <p:cNvPr id="5" name="Shape 0">
            <a:extLst>
              <a:ext uri="{FF2B5EF4-FFF2-40B4-BE49-F238E27FC236}">
                <a16:creationId xmlns:a16="http://schemas.microsoft.com/office/drawing/2014/main" id="{B1A73532-AAF2-7D54-4456-E23AE5328D25}"/>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5EC48AF6-C300-0F70-D633-6CACB4CF6870}"/>
              </a:ext>
            </a:extLst>
          </p:cNvPr>
          <p:cNvSpPr/>
          <p:nvPr/>
        </p:nvSpPr>
        <p:spPr>
          <a:xfrm>
            <a:off x="371475" y="207264"/>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Agentic AI Layer — The Differentiator</a:t>
            </a:r>
            <a:endParaRPr lang="en-US" sz="3467" dirty="0">
              <a:latin typeface="+mj-lt"/>
            </a:endParaRPr>
          </a:p>
        </p:txBody>
      </p:sp>
      <p:sp>
        <p:nvSpPr>
          <p:cNvPr id="7" name="Text 2">
            <a:extLst>
              <a:ext uri="{FF2B5EF4-FFF2-40B4-BE49-F238E27FC236}">
                <a16:creationId xmlns:a16="http://schemas.microsoft.com/office/drawing/2014/main" id="{4D87C520-9BA8-8910-5D02-B8C10DEEC568}"/>
              </a:ext>
            </a:extLst>
          </p:cNvPr>
          <p:cNvSpPr/>
          <p:nvPr/>
        </p:nvSpPr>
        <p:spPr>
          <a:xfrm>
            <a:off x="487680" y="863127"/>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A single intelligent bot that orchestrates all four supply chain domains</a:t>
            </a:r>
            <a:endParaRPr lang="en-US" sz="1733" dirty="0"/>
          </a:p>
        </p:txBody>
      </p:sp>
      <p:sp>
        <p:nvSpPr>
          <p:cNvPr id="8" name="Shape 3">
            <a:extLst>
              <a:ext uri="{FF2B5EF4-FFF2-40B4-BE49-F238E27FC236}">
                <a16:creationId xmlns:a16="http://schemas.microsoft.com/office/drawing/2014/main" id="{7A797C2C-596F-5E2B-4B94-DBE9D832E222}"/>
              </a:ext>
            </a:extLst>
          </p:cNvPr>
          <p:cNvSpPr/>
          <p:nvPr/>
        </p:nvSpPr>
        <p:spPr>
          <a:xfrm>
            <a:off x="4693920" y="2794139"/>
            <a:ext cx="2926080" cy="18288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9" name="Shape 4">
            <a:extLst>
              <a:ext uri="{FF2B5EF4-FFF2-40B4-BE49-F238E27FC236}">
                <a16:creationId xmlns:a16="http://schemas.microsoft.com/office/drawing/2014/main" id="{9730793D-274F-DACD-8DEE-4598DD89CAD7}"/>
              </a:ext>
            </a:extLst>
          </p:cNvPr>
          <p:cNvSpPr/>
          <p:nvPr/>
        </p:nvSpPr>
        <p:spPr>
          <a:xfrm>
            <a:off x="4693920" y="2692150"/>
            <a:ext cx="2926080" cy="73152"/>
          </a:xfrm>
          <a:prstGeom prst="rect">
            <a:avLst/>
          </a:prstGeom>
          <a:solidFill>
            <a:srgbClr val="FFB900"/>
          </a:solidFill>
          <a:ln w="12700">
            <a:solidFill>
              <a:srgbClr val="FFB900"/>
            </a:solidFill>
            <a:prstDash val="solid"/>
          </a:ln>
        </p:spPr>
        <p:txBody>
          <a:bodyPr/>
          <a:lstStyle/>
          <a:p>
            <a:endParaRPr lang="en-IN" sz="1867"/>
          </a:p>
        </p:txBody>
      </p:sp>
      <p:pic>
        <p:nvPicPr>
          <p:cNvPr id="10" name="Image 0" descr="preencoded.png">
            <a:extLst>
              <a:ext uri="{FF2B5EF4-FFF2-40B4-BE49-F238E27FC236}">
                <a16:creationId xmlns:a16="http://schemas.microsoft.com/office/drawing/2014/main" id="{03FBFCFB-B2FA-337E-9F90-D4FC8D2935F5}"/>
              </a:ext>
            </a:extLst>
          </p:cNvPr>
          <p:cNvPicPr>
            <a:picLocks noChangeAspect="1"/>
          </p:cNvPicPr>
          <p:nvPr/>
        </p:nvPicPr>
        <p:blipFill>
          <a:blip r:embed="rId2"/>
          <a:stretch>
            <a:fillRect/>
          </a:stretch>
        </p:blipFill>
        <p:spPr>
          <a:xfrm>
            <a:off x="5699760" y="2972566"/>
            <a:ext cx="792480" cy="792480"/>
          </a:xfrm>
          <a:prstGeom prst="rect">
            <a:avLst/>
          </a:prstGeom>
        </p:spPr>
      </p:pic>
      <p:sp>
        <p:nvSpPr>
          <p:cNvPr id="11" name="Text 5">
            <a:extLst>
              <a:ext uri="{FF2B5EF4-FFF2-40B4-BE49-F238E27FC236}">
                <a16:creationId xmlns:a16="http://schemas.microsoft.com/office/drawing/2014/main" id="{45755688-38C4-12CE-295F-B842054C64E1}"/>
              </a:ext>
            </a:extLst>
          </p:cNvPr>
          <p:cNvSpPr/>
          <p:nvPr/>
        </p:nvSpPr>
        <p:spPr>
          <a:xfrm>
            <a:off x="4572000" y="3759201"/>
            <a:ext cx="2926080" cy="731520"/>
          </a:xfrm>
          <a:prstGeom prst="rect">
            <a:avLst/>
          </a:prstGeom>
          <a:noFill/>
          <a:ln/>
        </p:spPr>
        <p:txBody>
          <a:bodyPr wrap="square" lIns="0" tIns="0" rIns="0" bIns="0" rtlCol="0" anchor="ctr"/>
          <a:lstStyle/>
          <a:p>
            <a:pPr algn="ctr"/>
            <a:r>
              <a:rPr lang="en-US" sz="1600" b="1" dirty="0">
                <a:solidFill>
                  <a:srgbClr val="FFB900"/>
                </a:solidFill>
                <a:ea typeface="Calibri" pitchFamily="34" charset="-122"/>
                <a:cs typeface="Calibri" pitchFamily="34" charset="-120"/>
              </a:rPr>
              <a:t>Supply Chain</a:t>
            </a:r>
            <a:endParaRPr lang="en-US" sz="1600" dirty="0"/>
          </a:p>
          <a:p>
            <a:pPr algn="ctr"/>
            <a:r>
              <a:rPr lang="en-US" sz="1600" b="1" dirty="0">
                <a:solidFill>
                  <a:srgbClr val="FFB900"/>
                </a:solidFill>
                <a:ea typeface="Calibri" pitchFamily="34" charset="-122"/>
                <a:cs typeface="Calibri" pitchFamily="34" charset="-120"/>
              </a:rPr>
              <a:t>Copilot Agent</a:t>
            </a:r>
            <a:endParaRPr lang="en-US" sz="1600" dirty="0"/>
          </a:p>
        </p:txBody>
      </p:sp>
      <p:sp>
        <p:nvSpPr>
          <p:cNvPr id="12" name="Shape 6">
            <a:extLst>
              <a:ext uri="{FF2B5EF4-FFF2-40B4-BE49-F238E27FC236}">
                <a16:creationId xmlns:a16="http://schemas.microsoft.com/office/drawing/2014/main" id="{D0B323C1-DBFC-DF5D-2F1C-3CC14070D01A}"/>
              </a:ext>
            </a:extLst>
          </p:cNvPr>
          <p:cNvSpPr/>
          <p:nvPr/>
        </p:nvSpPr>
        <p:spPr>
          <a:xfrm>
            <a:off x="4267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Shape 7">
            <a:extLst>
              <a:ext uri="{FF2B5EF4-FFF2-40B4-BE49-F238E27FC236}">
                <a16:creationId xmlns:a16="http://schemas.microsoft.com/office/drawing/2014/main" id="{ABCA38E7-6AAA-E9E6-1A17-0D27A083CA6F}"/>
              </a:ext>
            </a:extLst>
          </p:cNvPr>
          <p:cNvSpPr/>
          <p:nvPr/>
        </p:nvSpPr>
        <p:spPr>
          <a:xfrm>
            <a:off x="426720" y="1341120"/>
            <a:ext cx="2682240" cy="73152"/>
          </a:xfrm>
          <a:prstGeom prst="rect">
            <a:avLst/>
          </a:prstGeom>
          <a:solidFill>
            <a:srgbClr val="0078D4"/>
          </a:solidFill>
          <a:ln w="12700">
            <a:solidFill>
              <a:srgbClr val="0078D4"/>
            </a:solidFill>
            <a:prstDash val="solid"/>
          </a:ln>
        </p:spPr>
        <p:txBody>
          <a:bodyPr/>
          <a:lstStyle/>
          <a:p>
            <a:endParaRPr lang="en-IN" sz="1867"/>
          </a:p>
        </p:txBody>
      </p:sp>
      <p:pic>
        <p:nvPicPr>
          <p:cNvPr id="14" name="Image 1" descr="preencoded.png">
            <a:extLst>
              <a:ext uri="{FF2B5EF4-FFF2-40B4-BE49-F238E27FC236}">
                <a16:creationId xmlns:a16="http://schemas.microsoft.com/office/drawing/2014/main" id="{E7DAB011-B9D7-4DE1-A273-B04F8EBEE940}"/>
              </a:ext>
            </a:extLst>
          </p:cNvPr>
          <p:cNvPicPr>
            <a:picLocks noChangeAspect="1"/>
          </p:cNvPicPr>
          <p:nvPr/>
        </p:nvPicPr>
        <p:blipFill>
          <a:blip r:embed="rId3"/>
          <a:stretch>
            <a:fillRect/>
          </a:stretch>
        </p:blipFill>
        <p:spPr>
          <a:xfrm>
            <a:off x="1463040" y="1524000"/>
            <a:ext cx="548640" cy="548640"/>
          </a:xfrm>
          <a:prstGeom prst="rect">
            <a:avLst/>
          </a:prstGeom>
        </p:spPr>
      </p:pic>
      <p:sp>
        <p:nvSpPr>
          <p:cNvPr id="15" name="Text 8">
            <a:extLst>
              <a:ext uri="{FF2B5EF4-FFF2-40B4-BE49-F238E27FC236}">
                <a16:creationId xmlns:a16="http://schemas.microsoft.com/office/drawing/2014/main" id="{EB125F19-2FBE-B222-40DA-7DAA8183BA72}"/>
              </a:ext>
            </a:extLst>
          </p:cNvPr>
          <p:cNvSpPr/>
          <p:nvPr/>
        </p:nvSpPr>
        <p:spPr>
          <a:xfrm>
            <a:off x="487680" y="2133600"/>
            <a:ext cx="2560320" cy="792480"/>
          </a:xfrm>
          <a:prstGeom prst="rect">
            <a:avLst/>
          </a:prstGeom>
          <a:noFill/>
          <a:ln/>
        </p:spPr>
        <p:txBody>
          <a:bodyPr wrap="square" lIns="0" tIns="0" rIns="0" bIns="0" rtlCol="0" anchor="ctr"/>
          <a:lstStyle/>
          <a:p>
            <a:pPr algn="ctr"/>
            <a:r>
              <a:rPr lang="en-US" sz="1467" b="1" dirty="0">
                <a:solidFill>
                  <a:srgbClr val="0078D4"/>
                </a:solidFill>
                <a:ea typeface="Calibri" pitchFamily="34" charset="-122"/>
                <a:cs typeface="Calibri" pitchFamily="34" charset="-120"/>
              </a:rPr>
              <a:t>Demand</a:t>
            </a:r>
            <a:endParaRPr lang="en-US" sz="1467" dirty="0"/>
          </a:p>
          <a:p>
            <a:pPr algn="ctr"/>
            <a:r>
              <a:rPr lang="en-US" sz="1467" b="1" dirty="0">
                <a:solidFill>
                  <a:srgbClr val="0078D4"/>
                </a:solidFill>
                <a:ea typeface="Calibri" pitchFamily="34" charset="-122"/>
                <a:cs typeface="Calibri" pitchFamily="34" charset="-120"/>
              </a:rPr>
              <a:t>Forecasting</a:t>
            </a:r>
            <a:endParaRPr lang="en-US" sz="1467" dirty="0"/>
          </a:p>
          <a:p>
            <a:pPr algn="ctr"/>
            <a:r>
              <a:rPr lang="en-US" sz="1467" b="1" dirty="0">
                <a:solidFill>
                  <a:srgbClr val="0078D4"/>
                </a:solidFill>
                <a:ea typeface="Calibri" pitchFamily="34" charset="-122"/>
                <a:cs typeface="Calibri" pitchFamily="34" charset="-120"/>
              </a:rPr>
              <a:t>Agent</a:t>
            </a:r>
            <a:endParaRPr lang="en-US" sz="1467" dirty="0"/>
          </a:p>
        </p:txBody>
      </p:sp>
      <p:sp>
        <p:nvSpPr>
          <p:cNvPr id="16" name="Shape 9">
            <a:extLst>
              <a:ext uri="{FF2B5EF4-FFF2-40B4-BE49-F238E27FC236}">
                <a16:creationId xmlns:a16="http://schemas.microsoft.com/office/drawing/2014/main" id="{D268A8C2-2DA7-C657-18AE-6B9F4CF9D1C0}"/>
              </a:ext>
            </a:extLst>
          </p:cNvPr>
          <p:cNvSpPr/>
          <p:nvPr/>
        </p:nvSpPr>
        <p:spPr>
          <a:xfrm>
            <a:off x="89611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0">
            <a:extLst>
              <a:ext uri="{FF2B5EF4-FFF2-40B4-BE49-F238E27FC236}">
                <a16:creationId xmlns:a16="http://schemas.microsoft.com/office/drawing/2014/main" id="{33DD8392-7192-656B-B079-4CFC3BA2DCB7}"/>
              </a:ext>
            </a:extLst>
          </p:cNvPr>
          <p:cNvSpPr/>
          <p:nvPr/>
        </p:nvSpPr>
        <p:spPr>
          <a:xfrm>
            <a:off x="8961120" y="1341120"/>
            <a:ext cx="2682240" cy="73152"/>
          </a:xfrm>
          <a:prstGeom prst="rect">
            <a:avLst/>
          </a:prstGeom>
          <a:solidFill>
            <a:srgbClr val="FFB900"/>
          </a:solidFill>
          <a:ln w="12700">
            <a:solidFill>
              <a:srgbClr val="FFB900"/>
            </a:solidFill>
            <a:prstDash val="solid"/>
          </a:ln>
        </p:spPr>
        <p:txBody>
          <a:bodyPr/>
          <a:lstStyle/>
          <a:p>
            <a:endParaRPr lang="en-IN" sz="1867"/>
          </a:p>
        </p:txBody>
      </p:sp>
      <p:pic>
        <p:nvPicPr>
          <p:cNvPr id="18" name="Image 2" descr="preencoded.png">
            <a:extLst>
              <a:ext uri="{FF2B5EF4-FFF2-40B4-BE49-F238E27FC236}">
                <a16:creationId xmlns:a16="http://schemas.microsoft.com/office/drawing/2014/main" id="{EE46CF47-16AB-F374-D6F2-559DE5B32B6F}"/>
              </a:ext>
            </a:extLst>
          </p:cNvPr>
          <p:cNvPicPr>
            <a:picLocks noChangeAspect="1"/>
          </p:cNvPicPr>
          <p:nvPr/>
        </p:nvPicPr>
        <p:blipFill>
          <a:blip r:embed="rId4"/>
          <a:stretch>
            <a:fillRect/>
          </a:stretch>
        </p:blipFill>
        <p:spPr>
          <a:xfrm>
            <a:off x="9997440" y="1524000"/>
            <a:ext cx="548640" cy="548640"/>
          </a:xfrm>
          <a:prstGeom prst="rect">
            <a:avLst/>
          </a:prstGeom>
        </p:spPr>
      </p:pic>
      <p:sp>
        <p:nvSpPr>
          <p:cNvPr id="19" name="Text 11">
            <a:extLst>
              <a:ext uri="{FF2B5EF4-FFF2-40B4-BE49-F238E27FC236}">
                <a16:creationId xmlns:a16="http://schemas.microsoft.com/office/drawing/2014/main" id="{DB2C5E52-5C81-A3C8-2A16-8E4F9C16D876}"/>
              </a:ext>
            </a:extLst>
          </p:cNvPr>
          <p:cNvSpPr/>
          <p:nvPr/>
        </p:nvSpPr>
        <p:spPr>
          <a:xfrm>
            <a:off x="9022080" y="2133600"/>
            <a:ext cx="2560320" cy="792480"/>
          </a:xfrm>
          <a:prstGeom prst="rect">
            <a:avLst/>
          </a:prstGeom>
          <a:noFill/>
          <a:ln/>
        </p:spPr>
        <p:txBody>
          <a:bodyPr wrap="square" lIns="0" tIns="0" rIns="0" bIns="0" rtlCol="0" anchor="ctr"/>
          <a:lstStyle/>
          <a:p>
            <a:pPr algn="ctr"/>
            <a:r>
              <a:rPr lang="en-US" sz="1467" b="1" dirty="0">
                <a:solidFill>
                  <a:srgbClr val="FFB900"/>
                </a:solidFill>
                <a:ea typeface="Calibri" pitchFamily="34" charset="-122"/>
                <a:cs typeface="Calibri" pitchFamily="34" charset="-120"/>
              </a:rPr>
              <a:t>Inventory</a:t>
            </a:r>
            <a:endParaRPr lang="en-US" sz="1467" dirty="0"/>
          </a:p>
          <a:p>
            <a:pPr algn="ctr"/>
            <a:r>
              <a:rPr lang="en-US" sz="1467" b="1" dirty="0">
                <a:solidFill>
                  <a:srgbClr val="FFB900"/>
                </a:solidFill>
                <a:ea typeface="Calibri" pitchFamily="34" charset="-122"/>
                <a:cs typeface="Calibri" pitchFamily="34" charset="-120"/>
              </a:rPr>
              <a:t>Optimisation</a:t>
            </a:r>
            <a:endParaRPr lang="en-US" sz="1467" dirty="0"/>
          </a:p>
          <a:p>
            <a:pPr algn="ctr"/>
            <a:r>
              <a:rPr lang="en-US" sz="1467" b="1" dirty="0">
                <a:solidFill>
                  <a:srgbClr val="FFB900"/>
                </a:solidFill>
                <a:ea typeface="Calibri" pitchFamily="34" charset="-122"/>
                <a:cs typeface="Calibri" pitchFamily="34" charset="-120"/>
              </a:rPr>
              <a:t>Agent</a:t>
            </a:r>
            <a:endParaRPr lang="en-US" sz="1467" dirty="0"/>
          </a:p>
        </p:txBody>
      </p:sp>
      <p:sp>
        <p:nvSpPr>
          <p:cNvPr id="20" name="Shape 12">
            <a:extLst>
              <a:ext uri="{FF2B5EF4-FFF2-40B4-BE49-F238E27FC236}">
                <a16:creationId xmlns:a16="http://schemas.microsoft.com/office/drawing/2014/main" id="{43859C48-1A04-E20F-51C6-BA4879E90DA5}"/>
              </a:ext>
            </a:extLst>
          </p:cNvPr>
          <p:cNvSpPr/>
          <p:nvPr/>
        </p:nvSpPr>
        <p:spPr>
          <a:xfrm>
            <a:off x="4267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3">
            <a:extLst>
              <a:ext uri="{FF2B5EF4-FFF2-40B4-BE49-F238E27FC236}">
                <a16:creationId xmlns:a16="http://schemas.microsoft.com/office/drawing/2014/main" id="{9349CC75-00CB-026A-210D-084AC932E4A3}"/>
              </a:ext>
            </a:extLst>
          </p:cNvPr>
          <p:cNvSpPr/>
          <p:nvPr/>
        </p:nvSpPr>
        <p:spPr>
          <a:xfrm>
            <a:off x="426720" y="4084320"/>
            <a:ext cx="2682240" cy="73152"/>
          </a:xfrm>
          <a:prstGeom prst="rect">
            <a:avLst/>
          </a:prstGeom>
          <a:solidFill>
            <a:srgbClr val="00B294"/>
          </a:solidFill>
          <a:ln w="12700">
            <a:solidFill>
              <a:srgbClr val="00B294"/>
            </a:solidFill>
            <a:prstDash val="solid"/>
          </a:ln>
        </p:spPr>
        <p:txBody>
          <a:bodyPr/>
          <a:lstStyle/>
          <a:p>
            <a:endParaRPr lang="en-IN" sz="1867"/>
          </a:p>
        </p:txBody>
      </p:sp>
      <p:pic>
        <p:nvPicPr>
          <p:cNvPr id="22" name="Image 3" descr="preencoded.png">
            <a:extLst>
              <a:ext uri="{FF2B5EF4-FFF2-40B4-BE49-F238E27FC236}">
                <a16:creationId xmlns:a16="http://schemas.microsoft.com/office/drawing/2014/main" id="{E9AFD3E2-AF46-E999-A2E8-BE76B6A88989}"/>
              </a:ext>
            </a:extLst>
          </p:cNvPr>
          <p:cNvPicPr>
            <a:picLocks noChangeAspect="1"/>
          </p:cNvPicPr>
          <p:nvPr/>
        </p:nvPicPr>
        <p:blipFill>
          <a:blip r:embed="rId5"/>
          <a:stretch>
            <a:fillRect/>
          </a:stretch>
        </p:blipFill>
        <p:spPr>
          <a:xfrm>
            <a:off x="1463040" y="4267200"/>
            <a:ext cx="548640" cy="548640"/>
          </a:xfrm>
          <a:prstGeom prst="rect">
            <a:avLst/>
          </a:prstGeom>
        </p:spPr>
      </p:pic>
      <p:sp>
        <p:nvSpPr>
          <p:cNvPr id="23" name="Text 14">
            <a:extLst>
              <a:ext uri="{FF2B5EF4-FFF2-40B4-BE49-F238E27FC236}">
                <a16:creationId xmlns:a16="http://schemas.microsoft.com/office/drawing/2014/main" id="{621D0710-D339-7250-BB89-6A008D98956B}"/>
              </a:ext>
            </a:extLst>
          </p:cNvPr>
          <p:cNvSpPr/>
          <p:nvPr/>
        </p:nvSpPr>
        <p:spPr>
          <a:xfrm>
            <a:off x="487680" y="4876800"/>
            <a:ext cx="2560320" cy="792480"/>
          </a:xfrm>
          <a:prstGeom prst="rect">
            <a:avLst/>
          </a:prstGeom>
          <a:noFill/>
          <a:ln/>
        </p:spPr>
        <p:txBody>
          <a:bodyPr wrap="square" lIns="0" tIns="0" rIns="0" bIns="0" rtlCol="0" anchor="ctr"/>
          <a:lstStyle/>
          <a:p>
            <a:pPr algn="ctr"/>
            <a:r>
              <a:rPr lang="en-US" sz="1467" b="1" dirty="0">
                <a:solidFill>
                  <a:srgbClr val="00B294"/>
                </a:solidFill>
                <a:ea typeface="Calibri" pitchFamily="34" charset="-122"/>
                <a:cs typeface="Calibri" pitchFamily="34" charset="-120"/>
              </a:rPr>
              <a:t>Supply</a:t>
            </a:r>
            <a:endParaRPr lang="en-US" sz="1467" dirty="0"/>
          </a:p>
          <a:p>
            <a:pPr algn="ctr"/>
            <a:r>
              <a:rPr lang="en-US" sz="1467" b="1" dirty="0">
                <a:solidFill>
                  <a:srgbClr val="00B294"/>
                </a:solidFill>
                <a:ea typeface="Calibri" pitchFamily="34" charset="-122"/>
                <a:cs typeface="Calibri" pitchFamily="34" charset="-120"/>
              </a:rPr>
              <a:t>Planning</a:t>
            </a:r>
            <a:endParaRPr lang="en-US" sz="1467" dirty="0"/>
          </a:p>
          <a:p>
            <a:pPr algn="ctr"/>
            <a:r>
              <a:rPr lang="en-US" sz="1467" b="1" dirty="0">
                <a:solidFill>
                  <a:srgbClr val="00B294"/>
                </a:solidFill>
                <a:ea typeface="Calibri" pitchFamily="34" charset="-122"/>
                <a:cs typeface="Calibri" pitchFamily="34" charset="-120"/>
              </a:rPr>
              <a:t>Agent</a:t>
            </a:r>
            <a:endParaRPr lang="en-US" sz="1467" dirty="0"/>
          </a:p>
        </p:txBody>
      </p:sp>
      <p:sp>
        <p:nvSpPr>
          <p:cNvPr id="24" name="Shape 15">
            <a:extLst>
              <a:ext uri="{FF2B5EF4-FFF2-40B4-BE49-F238E27FC236}">
                <a16:creationId xmlns:a16="http://schemas.microsoft.com/office/drawing/2014/main" id="{5EC5F103-D60A-3AE6-76CB-30622987A233}"/>
              </a:ext>
            </a:extLst>
          </p:cNvPr>
          <p:cNvSpPr/>
          <p:nvPr/>
        </p:nvSpPr>
        <p:spPr>
          <a:xfrm>
            <a:off x="89611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5" name="Shape 16">
            <a:extLst>
              <a:ext uri="{FF2B5EF4-FFF2-40B4-BE49-F238E27FC236}">
                <a16:creationId xmlns:a16="http://schemas.microsoft.com/office/drawing/2014/main" id="{7BD588AE-29F0-B907-FE8B-4F325DEB77E3}"/>
              </a:ext>
            </a:extLst>
          </p:cNvPr>
          <p:cNvSpPr/>
          <p:nvPr/>
        </p:nvSpPr>
        <p:spPr>
          <a:xfrm>
            <a:off x="8961120" y="4084320"/>
            <a:ext cx="2682240" cy="73152"/>
          </a:xfrm>
          <a:prstGeom prst="rect">
            <a:avLst/>
          </a:prstGeom>
          <a:solidFill>
            <a:srgbClr val="FF8C00"/>
          </a:solidFill>
          <a:ln w="12700">
            <a:solidFill>
              <a:srgbClr val="FF8C00"/>
            </a:solidFill>
            <a:prstDash val="solid"/>
          </a:ln>
        </p:spPr>
        <p:txBody>
          <a:bodyPr/>
          <a:lstStyle/>
          <a:p>
            <a:endParaRPr lang="en-IN" sz="1867"/>
          </a:p>
        </p:txBody>
      </p:sp>
      <p:pic>
        <p:nvPicPr>
          <p:cNvPr id="26" name="Image 4" descr="preencoded.png">
            <a:extLst>
              <a:ext uri="{FF2B5EF4-FFF2-40B4-BE49-F238E27FC236}">
                <a16:creationId xmlns:a16="http://schemas.microsoft.com/office/drawing/2014/main" id="{54149580-83C3-9056-95A3-8BCFE46F38C5}"/>
              </a:ext>
            </a:extLst>
          </p:cNvPr>
          <p:cNvPicPr>
            <a:picLocks noChangeAspect="1"/>
          </p:cNvPicPr>
          <p:nvPr/>
        </p:nvPicPr>
        <p:blipFill>
          <a:blip r:embed="rId6"/>
          <a:stretch>
            <a:fillRect/>
          </a:stretch>
        </p:blipFill>
        <p:spPr>
          <a:xfrm>
            <a:off x="9997440" y="4267200"/>
            <a:ext cx="548640" cy="548640"/>
          </a:xfrm>
          <a:prstGeom prst="rect">
            <a:avLst/>
          </a:prstGeom>
        </p:spPr>
      </p:pic>
      <p:sp>
        <p:nvSpPr>
          <p:cNvPr id="27" name="Text 17">
            <a:extLst>
              <a:ext uri="{FF2B5EF4-FFF2-40B4-BE49-F238E27FC236}">
                <a16:creationId xmlns:a16="http://schemas.microsoft.com/office/drawing/2014/main" id="{EC80FA89-3D8E-E2E9-0119-CB09CE6460F0}"/>
              </a:ext>
            </a:extLst>
          </p:cNvPr>
          <p:cNvSpPr/>
          <p:nvPr/>
        </p:nvSpPr>
        <p:spPr>
          <a:xfrm>
            <a:off x="9022080" y="4876800"/>
            <a:ext cx="2560320" cy="792480"/>
          </a:xfrm>
          <a:prstGeom prst="rect">
            <a:avLst/>
          </a:prstGeom>
          <a:noFill/>
          <a:ln/>
        </p:spPr>
        <p:txBody>
          <a:bodyPr wrap="square" lIns="0" tIns="0" rIns="0" bIns="0" rtlCol="0" anchor="ctr"/>
          <a:lstStyle/>
          <a:p>
            <a:pPr algn="ctr"/>
            <a:r>
              <a:rPr lang="en-US" sz="1467" b="1" dirty="0">
                <a:solidFill>
                  <a:srgbClr val="FF8C00"/>
                </a:solidFill>
                <a:ea typeface="Calibri" pitchFamily="34" charset="-122"/>
                <a:cs typeface="Calibri" pitchFamily="34" charset="-120"/>
              </a:rPr>
              <a:t>Logistics</a:t>
            </a:r>
            <a:endParaRPr lang="en-US" sz="1467" dirty="0"/>
          </a:p>
          <a:p>
            <a:pPr algn="ctr"/>
            <a:r>
              <a:rPr lang="en-US" sz="1467" b="1" dirty="0">
                <a:solidFill>
                  <a:srgbClr val="FF8C00"/>
                </a:solidFill>
                <a:ea typeface="Calibri" pitchFamily="34" charset="-122"/>
                <a:cs typeface="Calibri" pitchFamily="34" charset="-120"/>
              </a:rPr>
              <a:t>Optimisation</a:t>
            </a:r>
            <a:endParaRPr lang="en-US" sz="1467" dirty="0"/>
          </a:p>
          <a:p>
            <a:pPr algn="ctr"/>
            <a:r>
              <a:rPr lang="en-US" sz="1467" b="1" dirty="0">
                <a:solidFill>
                  <a:srgbClr val="FF8C00"/>
                </a:solidFill>
                <a:ea typeface="Calibri" pitchFamily="34" charset="-122"/>
                <a:cs typeface="Calibri" pitchFamily="34" charset="-120"/>
              </a:rPr>
              <a:t>Agent</a:t>
            </a:r>
            <a:endParaRPr lang="en-US" sz="1467" dirty="0"/>
          </a:p>
        </p:txBody>
      </p:sp>
      <p:sp>
        <p:nvSpPr>
          <p:cNvPr id="29" name="Shape 19">
            <a:extLst>
              <a:ext uri="{FF2B5EF4-FFF2-40B4-BE49-F238E27FC236}">
                <a16:creationId xmlns:a16="http://schemas.microsoft.com/office/drawing/2014/main" id="{C045B0DA-E788-F2A2-817F-D94D4C98387F}"/>
              </a:ext>
            </a:extLst>
          </p:cNvPr>
          <p:cNvSpPr/>
          <p:nvPr/>
        </p:nvSpPr>
        <p:spPr>
          <a:xfrm>
            <a:off x="8961120" y="2133600"/>
            <a:ext cx="0" cy="121920"/>
          </a:xfrm>
          <a:prstGeom prst="line">
            <a:avLst/>
          </a:prstGeom>
          <a:noFill/>
          <a:ln w="12700">
            <a:solidFill>
              <a:srgbClr val="B8CFE8"/>
            </a:solidFill>
            <a:prstDash val="dash"/>
          </a:ln>
        </p:spPr>
        <p:txBody>
          <a:bodyPr/>
          <a:lstStyle/>
          <a:p>
            <a:endParaRPr lang="en-IN" sz="1867"/>
          </a:p>
        </p:txBody>
      </p:sp>
      <p:sp>
        <p:nvSpPr>
          <p:cNvPr id="31" name="Shape 21">
            <a:extLst>
              <a:ext uri="{FF2B5EF4-FFF2-40B4-BE49-F238E27FC236}">
                <a16:creationId xmlns:a16="http://schemas.microsoft.com/office/drawing/2014/main" id="{22BFA28F-C29C-166C-683E-3BF860A9118F}"/>
              </a:ext>
            </a:extLst>
          </p:cNvPr>
          <p:cNvSpPr/>
          <p:nvPr/>
        </p:nvSpPr>
        <p:spPr>
          <a:xfrm>
            <a:off x="8961120" y="4572000"/>
            <a:ext cx="0" cy="0"/>
          </a:xfrm>
          <a:prstGeom prst="line">
            <a:avLst/>
          </a:prstGeom>
          <a:noFill/>
          <a:ln w="12700">
            <a:solidFill>
              <a:srgbClr val="B8CFE8"/>
            </a:solidFill>
            <a:prstDash val="dash"/>
          </a:ln>
        </p:spPr>
        <p:txBody>
          <a:bodyPr/>
          <a:lstStyle/>
          <a:p>
            <a:endParaRPr lang="en-IN" sz="1867"/>
          </a:p>
        </p:txBody>
      </p:sp>
      <p:sp>
        <p:nvSpPr>
          <p:cNvPr id="32" name="Text 22">
            <a:extLst>
              <a:ext uri="{FF2B5EF4-FFF2-40B4-BE49-F238E27FC236}">
                <a16:creationId xmlns:a16="http://schemas.microsoft.com/office/drawing/2014/main" id="{5F5E6279-9D09-6A44-BA82-271EB85F12A9}"/>
              </a:ext>
            </a:extLst>
          </p:cNvPr>
          <p:cNvSpPr/>
          <p:nvPr/>
        </p:nvSpPr>
        <p:spPr>
          <a:xfrm>
            <a:off x="426720" y="5748528"/>
            <a:ext cx="11338560" cy="390144"/>
          </a:xfrm>
          <a:prstGeom prst="rect">
            <a:avLst/>
          </a:prstGeom>
          <a:noFill/>
          <a:ln/>
        </p:spPr>
        <p:txBody>
          <a:bodyPr wrap="square" lIns="0" tIns="0" rIns="0" bIns="0" rtlCol="0" anchor="ctr"/>
          <a:lstStyle/>
          <a:p>
            <a:r>
              <a:rPr lang="en-US" sz="1667" b="1" dirty="0">
                <a:solidFill>
                  <a:srgbClr val="50E6FF"/>
                </a:solidFill>
                <a:ea typeface="Calibri" pitchFamily="34" charset="-122"/>
                <a:cs typeface="Calibri" pitchFamily="34" charset="-120"/>
              </a:rPr>
              <a:t>What the Agent Can Do</a:t>
            </a:r>
            <a:endParaRPr lang="en-US" sz="1667" dirty="0"/>
          </a:p>
        </p:txBody>
      </p:sp>
      <p:sp>
        <p:nvSpPr>
          <p:cNvPr id="37" name="Text 23">
            <a:extLst>
              <a:ext uri="{FF2B5EF4-FFF2-40B4-BE49-F238E27FC236}">
                <a16:creationId xmlns:a16="http://schemas.microsoft.com/office/drawing/2014/main" id="{A6C77466-EC69-C2C1-C8F4-945FB6123A72}"/>
              </a:ext>
            </a:extLst>
          </p:cNvPr>
          <p:cNvSpPr/>
          <p:nvPr/>
        </p:nvSpPr>
        <p:spPr>
          <a:xfrm>
            <a:off x="426720" y="6117336"/>
            <a:ext cx="11338560" cy="304800"/>
          </a:xfrm>
          <a:prstGeom prst="rect">
            <a:avLst/>
          </a:prstGeom>
          <a:noFill/>
          <a:ln/>
        </p:spPr>
        <p:txBody>
          <a:bodyPr wrap="square" lIns="0" tIns="0" rIns="0" bIns="0" rtlCol="0" anchor="ctr"/>
          <a:lstStyle/>
          <a:p>
            <a:r>
              <a:rPr lang="en-US" sz="1300">
                <a:solidFill>
                  <a:srgbClr val="B8CFE8"/>
                </a:solidFill>
                <a:ea typeface="Calibri"/>
                <a:cs typeface="Calibri"/>
              </a:rPr>
              <a:t>Natural language Q&amp;A across all supply chain data   ·   Autonomous: raises POs, transfers, alerts without human trigger   ·   Integrated into Email, Teams, SAP Fiori or custom portal   ·   Audit trail of every AI decision  full explainability</a:t>
            </a:r>
            <a:endParaRPr lang="en-US" sz="1300">
              <a:ea typeface="Calibri"/>
              <a:cs typeface="Calibri"/>
            </a:endParaRPr>
          </a:p>
        </p:txBody>
      </p:sp>
      <p:cxnSp>
        <p:nvCxnSpPr>
          <p:cNvPr id="36" name="Straight Arrow Connector 35">
            <a:extLst>
              <a:ext uri="{FF2B5EF4-FFF2-40B4-BE49-F238E27FC236}">
                <a16:creationId xmlns:a16="http://schemas.microsoft.com/office/drawing/2014/main" id="{D8171F4F-85FF-0F22-F547-F50E8422B12E}"/>
              </a:ext>
            </a:extLst>
          </p:cNvPr>
          <p:cNvCxnSpPr/>
          <p:nvPr/>
        </p:nvCxnSpPr>
        <p:spPr>
          <a:xfrm>
            <a:off x="3108959" y="2284356"/>
            <a:ext cx="1584959" cy="128556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B2A5A9A-11D6-78D0-BC34-CBB936D23713}"/>
              </a:ext>
            </a:extLst>
          </p:cNvPr>
          <p:cNvCxnSpPr>
            <a:cxnSpLocks/>
            <a:endCxn id="24" idx="1"/>
          </p:cNvCxnSpPr>
          <p:nvPr/>
        </p:nvCxnSpPr>
        <p:spPr>
          <a:xfrm>
            <a:off x="7620001" y="3864306"/>
            <a:ext cx="1341119" cy="107345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6DC681D-5DDD-A9D2-0A2B-F85048A0E1FE}"/>
              </a:ext>
            </a:extLst>
          </p:cNvPr>
          <p:cNvCxnSpPr>
            <a:cxnSpLocks/>
          </p:cNvCxnSpPr>
          <p:nvPr/>
        </p:nvCxnSpPr>
        <p:spPr>
          <a:xfrm flipV="1">
            <a:off x="3108959" y="3874355"/>
            <a:ext cx="1584959" cy="107086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E3DF9CF-BC3C-535C-5290-6E20BA3811B2}"/>
              </a:ext>
            </a:extLst>
          </p:cNvPr>
          <p:cNvCxnSpPr>
            <a:cxnSpLocks/>
          </p:cNvCxnSpPr>
          <p:nvPr/>
        </p:nvCxnSpPr>
        <p:spPr>
          <a:xfrm flipH="1">
            <a:off x="7620000" y="2202076"/>
            <a:ext cx="1323582" cy="131116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SAP OData (Open Data Protocol) Part-1 | by Subashchandrabose S | Medium">
            <a:extLst>
              <a:ext uri="{FF2B5EF4-FFF2-40B4-BE49-F238E27FC236}">
                <a16:creationId xmlns:a16="http://schemas.microsoft.com/office/drawing/2014/main" id="{AD591D6E-9D07-3404-BB77-414335EB41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3538492" y="2333462"/>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6" descr="SAP OData (Open Data Protocol) Part-1 | by Subashchandrabose S | Medium">
            <a:extLst>
              <a:ext uri="{FF2B5EF4-FFF2-40B4-BE49-F238E27FC236}">
                <a16:creationId xmlns:a16="http://schemas.microsoft.com/office/drawing/2014/main" id="{FE870F5E-7FA2-C933-4EF1-FE3CB8F9B8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9467179">
            <a:off x="3527502" y="4468239"/>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6" descr="SAP OData (Open Data Protocol) Part-1 | by Subashchandrabose S | Medium">
            <a:extLst>
              <a:ext uri="{FF2B5EF4-FFF2-40B4-BE49-F238E27FC236}">
                <a16:creationId xmlns:a16="http://schemas.microsoft.com/office/drawing/2014/main" id="{FBDBFE4E-39E2-BEFD-BA8A-72A6472471F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8982807">
            <a:off x="7681400" y="2155895"/>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6" descr="SAP OData (Open Data Protocol) Part-1 | by Subashchandrabose S | Medium">
            <a:extLst>
              <a:ext uri="{FF2B5EF4-FFF2-40B4-BE49-F238E27FC236}">
                <a16:creationId xmlns:a16="http://schemas.microsoft.com/office/drawing/2014/main" id="{25601FBA-3B51-9627-062D-4A119009578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7689834" y="4490152"/>
            <a:ext cx="1076475" cy="557937"/>
          </a:xfrm>
          <a:prstGeom prst="rect">
            <a:avLst/>
          </a:prstGeom>
          <a:noFill/>
          <a:extLst>
            <a:ext uri="{909E8E84-426E-40DD-AFC4-6F175D3DCCD1}">
              <a14:hiddenFill xmlns:a14="http://schemas.microsoft.com/office/drawing/2010/main">
                <a:solidFill>
                  <a:srgbClr val="FFFFFF"/>
                </a:solidFill>
              </a14:hiddenFill>
            </a:ext>
          </a:extLst>
        </p:spPr>
      </p:pic>
      <p:sp>
        <p:nvSpPr>
          <p:cNvPr id="1031" name="Rounded Rectangle 1030"/>
          <p:cNvSpPr/>
          <p:nvPr/>
        </p:nvSpPr>
        <p:spPr>
          <a:xfrm>
            <a:off x="6800000" y="3600000"/>
            <a:ext cx="5000000" cy="28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TextBox 1031"/>
          <p:cNvSpPr txBox="1"/>
          <p:nvPr/>
        </p:nvSpPr>
        <p:spPr>
          <a:xfrm>
            <a:off x="6900000" y="3650000"/>
            <a:ext cx="4800000" cy="350000"/>
          </a:xfrm>
          <a:prstGeom prst="rect">
            <a:avLst/>
          </a:prstGeom>
          <a:noFill/>
        </p:spPr>
        <p:txBody>
          <a:bodyPr wrap="square">
            <a:spAutoFit/>
          </a:bodyPr>
          <a:lstStyle/>
          <a:p>
            <a:pPr algn="l"/>
            <a:r>
              <a:rPr sz="1600" b="1" i="0">
                <a:solidFill>
                  <a:srgbClr val="50E6FF"/>
                </a:solidFill>
              </a:rPr>
              <a:t>Sample Conversations</a:t>
            </a:r>
          </a:p>
        </p:txBody>
      </p:sp>
      <p:sp>
        <p:nvSpPr>
          <p:cNvPr id="1033" name="TextBox 1032"/>
          <p:cNvSpPr txBox="1"/>
          <p:nvPr/>
        </p:nvSpPr>
        <p:spPr>
          <a:xfrm>
            <a:off x="6900000" y="4050000"/>
            <a:ext cx="4800000" cy="2300000"/>
          </a:xfrm>
          <a:prstGeom prst="rect">
            <a:avLst/>
          </a:prstGeom>
          <a:noFill/>
        </p:spPr>
        <p:txBody>
          <a:bodyPr wrap="square">
            <a:spAutoFit/>
          </a:bodyPr>
          <a:lstStyle/>
          <a:p>
            <a:pPr algn="l">
              <a:spcAft>
                <a:spcPts val="400"/>
              </a:spcAft>
            </a:pPr>
            <a:r>
              <a:rPr sz="1062" b="0">
                <a:solidFill>
                  <a:srgbClr val="E8F4FD"/>
                </a:solidFill>
              </a:rPr>
              <a:t>✉ User: "Show me top 5 SKUs at stockout risk in Mumbai"</a:t>
            </a:r>
          </a:p>
          <a:p>
            <a:pPr algn="l">
              <a:spcAft>
                <a:spcPts val="400"/>
              </a:spcAft>
            </a:pPr>
            <a:r>
              <a:rPr sz="1062" b="0">
                <a:solidFill>
                  <a:srgbClr val="B8CFE8"/>
                </a:solidFill>
              </a:rPr>
              <a:t>→ Agent: Querying inventory model... 3 critical, 2 warning.</a:t>
            </a:r>
          </a:p>
          <a:p>
            <a:pPr algn="l">
              <a:spcAft>
                <a:spcPts val="400"/>
              </a:spcAft>
            </a:pPr>
            <a:r>
              <a:rPr sz="1062" b="0">
                <a:solidFill>
                  <a:srgbClr val="B8CFE8"/>
                </a:solidFill>
              </a:rPr>
              <a:t>   Auto-creating transfer request from Pune depot.</a:t>
            </a:r>
          </a:p>
          <a:p>
            <a:pPr algn="l">
              <a:spcAft>
                <a:spcPts val="400"/>
              </a:spcAft>
            </a:pPr>
            <a:r>
              <a:rPr sz="1062" b="0">
                <a:solidFill>
                  <a:srgbClr val="B8CFE8"/>
                </a:solidFill>
              </a:rPr>
              <a:t/>
            </a:r>
          </a:p>
          <a:p>
            <a:pPr algn="l">
              <a:spcAft>
                <a:spcPts val="400"/>
              </a:spcAft>
            </a:pPr>
            <a:r>
              <a:rPr sz="1062" b="0">
                <a:solidFill>
                  <a:srgbClr val="E8F4FD"/>
                </a:solidFill>
              </a:rPr>
              <a:t>✉ User: "What happens if port delays extend 2 weeks?"</a:t>
            </a:r>
          </a:p>
          <a:p>
            <a:pPr algn="l">
              <a:spcAft>
                <a:spcPts val="400"/>
              </a:spcAft>
            </a:pPr>
            <a:r>
              <a:rPr sz="1062" b="0">
                <a:solidFill>
                  <a:srgbClr val="B8CFE8"/>
                </a:solidFill>
              </a:rPr>
              <a:t>→ Agent: Running scenario... 12 SKUs impacted. Alt vendors</a:t>
            </a:r>
          </a:p>
          <a:p>
            <a:pPr algn="l">
              <a:spcAft>
                <a:spcPts val="400"/>
              </a:spcAft>
            </a:pPr>
            <a:r>
              <a:rPr sz="1062" b="0">
                <a:solidFill>
                  <a:srgbClr val="B8CFE8"/>
                </a:solidFill>
              </a:rPr>
              <a:t>   identified. Shall I raise emergency POs?</a:t>
            </a:r>
          </a:p>
        </p:txBody>
      </p:sp>
    </p:spTree>
    <p:extLst>
      <p:ext uri="{BB962C8B-B14F-4D97-AF65-F5344CB8AC3E}">
        <p14:creationId xmlns:p14="http://schemas.microsoft.com/office/powerpoint/2010/main" val="4061956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81051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B165D-61A6-A045-4791-442CE8E8FD07}"/>
              </a:ext>
            </a:extLst>
          </p:cNvPr>
          <p:cNvSpPr>
            <a:spLocks noGrp="1" noChangeAspect="1"/>
          </p:cNvSpPr>
          <p:nvPr>
            <p:ph type="title"/>
          </p:nvPr>
        </p:nvSpPr>
        <p:spPr bwMode="gray"/>
        <p:txBody>
          <a:bodyPr/>
          <a:lstStyle/>
          <a:p>
            <a:r>
              <a:rPr lang="en-US"/>
              <a:t>Copyright NTT DATA Business Solutions AG – All Rights Reserved</a:t>
            </a:r>
          </a:p>
        </p:txBody>
      </p:sp>
      <p:sp>
        <p:nvSpPr>
          <p:cNvPr id="3" name="Content Placeholder 2">
            <a:extLst>
              <a:ext uri="{FF2B5EF4-FFF2-40B4-BE49-F238E27FC236}">
                <a16:creationId xmlns:a16="http://schemas.microsoft.com/office/drawing/2014/main" id="{82896EAF-807B-3988-5F96-943996854E8E}"/>
              </a:ext>
            </a:extLst>
          </p:cNvPr>
          <p:cNvSpPr>
            <a:spLocks noGrp="1" noChangeAspect="1"/>
          </p:cNvSpPr>
          <p:nvPr>
            <p:ph idx="1"/>
          </p:nvPr>
        </p:nvSpPr>
        <p:spPr bwMode="gray"/>
        <p:txBody>
          <a:bodyPr/>
          <a:lstStyle/>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No part of this publication may be reproduced or transmitted in any form or for any purpose without the express permission of NTT DATA Business Solutions AG. The information contained herein may be changed without prior notice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Some software products marketed by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and its distributors contain proprietary software components of other software vendors. All product and service names mentioned, and associated logos displayed are the trademarks of their respective companies. Data contained in this document serves informational purposes only. National product specifications may vary</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information in this document is proprietary to 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This document is a preliminary version and not subject to your license agreement or any other agreement with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This document contains only intended strategies, developments, and product functionalities and is not intended to be binding upon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to any particular course of business, product strategy, and/or development.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assumes no responsibility for errors or omissions in this document.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does not warrant the accuracy or completeness of the information, text, graphics, links, or other items contained within this material. This document is provided without a warranty of any kind, either express or implied, including but not limited to the implied warranties of merchantability, fitness for a particular purpose, or non-infringement</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shall have no liability for damages of any kind including without limitation direct, special, indirect, or consequential damages that may result from the use of these materials. This limitation shall not apply in cases of intent or gross negligence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statutory liability for personal injury and defective products is not affected.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has no control over the information that you may access through the use of hot links contained in these materials and does not endorse your use of third-party web pages nor provide any warranty whatsoever relating to third-party web pages.</a:t>
            </a:r>
          </a:p>
          <a:p>
            <a:endParaRPr lang="en-US" sz="1200"/>
          </a:p>
        </p:txBody>
      </p:sp>
      <p:sp>
        <p:nvSpPr>
          <p:cNvPr id="4" name="Footer Placeholder 3">
            <a:extLst>
              <a:ext uri="{FF2B5EF4-FFF2-40B4-BE49-F238E27FC236}">
                <a16:creationId xmlns:a16="http://schemas.microsoft.com/office/drawing/2014/main" id="{BCC6DA92-4226-B8FE-1E5D-EA93F3DC9E4C}"/>
              </a:ext>
            </a:extLst>
          </p:cNvPr>
          <p:cNvSpPr>
            <a:spLocks noGrp="1" noChangeAspect="1"/>
          </p:cNvSpPr>
          <p:nvPr>
            <p:ph type="ftr" sz="quarter" idx="3"/>
          </p:nvPr>
        </p:nvSpPr>
        <p:spPr bwMode="gray"/>
        <p:txBody>
          <a:bodyPr/>
          <a:lstStyle/>
          <a:p>
            <a:r>
              <a:rPr lang="en-US" noProof="0"/>
              <a:t>© 2026 NTT DATA Business Solutions</a:t>
            </a:r>
          </a:p>
        </p:txBody>
      </p:sp>
      <p:sp>
        <p:nvSpPr>
          <p:cNvPr id="5" name="Slide Number Placeholder 4">
            <a:extLst>
              <a:ext uri="{FF2B5EF4-FFF2-40B4-BE49-F238E27FC236}">
                <a16:creationId xmlns:a16="http://schemas.microsoft.com/office/drawing/2014/main" id="{EF473A2A-525A-1577-5248-C6DA7C6F5564}"/>
              </a:ext>
            </a:extLst>
          </p:cNvPr>
          <p:cNvSpPr>
            <a:spLocks noGrp="1" noChangeAspect="1"/>
          </p:cNvSpPr>
          <p:nvPr>
            <p:ph type="sldNum" sz="quarter" idx="4"/>
          </p:nvPr>
        </p:nvSpPr>
        <p:spPr bwMode="gray"/>
        <p:txBody>
          <a:bodyPr/>
          <a:lstStyle/>
          <a:p>
            <a:fld id="{13CE6DAF-806F-404B-BC68-339BFCB57E5C}" type="slidenum">
              <a:rPr lang="en-US" smtClean="0"/>
              <a:pPr/>
              <a:t>11</a:t>
            </a:fld>
            <a:endParaRPr lang="en-US"/>
          </a:p>
        </p:txBody>
      </p:sp>
    </p:spTree>
    <p:extLst>
      <p:ext uri="{BB962C8B-B14F-4D97-AF65-F5344CB8AC3E}">
        <p14:creationId xmlns:p14="http://schemas.microsoft.com/office/powerpoint/2010/main" val="1539923536"/>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Agenda</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What we will cover today</a:t>
            </a:r>
          </a:p>
        </p:txBody>
      </p:sp>
      <p:sp>
        <p:nvSpPr>
          <p:cNvPr id="5" name="Oval 4"/>
          <p:cNvSpPr/>
          <p:nvPr/>
        </p:nvSpPr>
        <p:spPr>
          <a:xfrm>
            <a:off x="700000" y="155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0000" y="1600000"/>
            <a:ext cx="430000" cy="350000"/>
          </a:xfrm>
          <a:prstGeom prst="rect">
            <a:avLst/>
          </a:prstGeom>
          <a:noFill/>
        </p:spPr>
        <p:txBody>
          <a:bodyPr wrap="square">
            <a:spAutoFit/>
          </a:bodyPr>
          <a:lstStyle/>
          <a:p>
            <a:pPr algn="ctr"/>
            <a:r>
              <a:rPr sz="1467" b="1" i="0">
                <a:solidFill>
                  <a:srgbClr val="FFFFFF"/>
                </a:solidFill>
              </a:rPr>
              <a:t>01</a:t>
            </a:r>
          </a:p>
        </p:txBody>
      </p:sp>
      <p:sp>
        <p:nvSpPr>
          <p:cNvPr id="7" name="TextBox 6"/>
          <p:cNvSpPr txBox="1"/>
          <p:nvPr/>
        </p:nvSpPr>
        <p:spPr>
          <a:xfrm>
            <a:off x="1300000" y="1530000"/>
            <a:ext cx="5000000" cy="350000"/>
          </a:xfrm>
          <a:prstGeom prst="rect">
            <a:avLst/>
          </a:prstGeom>
          <a:noFill/>
        </p:spPr>
        <p:txBody>
          <a:bodyPr wrap="square">
            <a:spAutoFit/>
          </a:bodyPr>
          <a:lstStyle/>
          <a:p>
            <a:pPr algn="l"/>
            <a:r>
              <a:rPr sz="1600" b="1" i="0">
                <a:solidFill>
                  <a:srgbClr val="FFFFFF"/>
                </a:solidFill>
              </a:rPr>
              <a:t>The SAP Supply Chain Opportunity</a:t>
            </a:r>
          </a:p>
        </p:txBody>
      </p:sp>
      <p:sp>
        <p:nvSpPr>
          <p:cNvPr id="8" name="TextBox 7"/>
          <p:cNvSpPr txBox="1"/>
          <p:nvPr/>
        </p:nvSpPr>
        <p:spPr>
          <a:xfrm>
            <a:off x="1300000" y="1820000"/>
            <a:ext cx="5000000" cy="300000"/>
          </a:xfrm>
          <a:prstGeom prst="rect">
            <a:avLst/>
          </a:prstGeom>
          <a:noFill/>
        </p:spPr>
        <p:txBody>
          <a:bodyPr wrap="square">
            <a:spAutoFit/>
          </a:bodyPr>
          <a:lstStyle/>
          <a:p>
            <a:pPr algn="l"/>
            <a:r>
              <a:rPr sz="1333" b="0" i="0">
                <a:solidFill>
                  <a:srgbClr val="B8CFE8"/>
                </a:solidFill>
              </a:rPr>
              <a:t>Why your clients need to act now</a:t>
            </a:r>
          </a:p>
        </p:txBody>
      </p:sp>
      <p:sp>
        <p:nvSpPr>
          <p:cNvPr id="9" name="Rounded Rectangle 8"/>
          <p:cNvSpPr/>
          <p:nvPr/>
        </p:nvSpPr>
        <p:spPr>
          <a:xfrm>
            <a:off x="6800000" y="162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0000" y="2170000"/>
            <a:ext cx="430000" cy="430000"/>
          </a:xfrm>
          <a:prstGeom prst="ellipse">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0000" y="2220000"/>
            <a:ext cx="430000" cy="350000"/>
          </a:xfrm>
          <a:prstGeom prst="rect">
            <a:avLst/>
          </a:prstGeom>
          <a:noFill/>
        </p:spPr>
        <p:txBody>
          <a:bodyPr wrap="square">
            <a:spAutoFit/>
          </a:bodyPr>
          <a:lstStyle/>
          <a:p>
            <a:pPr algn="ctr"/>
            <a:r>
              <a:rPr sz="1467" b="1" i="0">
                <a:solidFill>
                  <a:srgbClr val="FFFFFF"/>
                </a:solidFill>
              </a:rPr>
              <a:t>02</a:t>
            </a:r>
          </a:p>
        </p:txBody>
      </p:sp>
      <p:sp>
        <p:nvSpPr>
          <p:cNvPr id="12" name="TextBox 11"/>
          <p:cNvSpPr txBox="1"/>
          <p:nvPr/>
        </p:nvSpPr>
        <p:spPr>
          <a:xfrm>
            <a:off x="1300000" y="2150000"/>
            <a:ext cx="5000000" cy="350000"/>
          </a:xfrm>
          <a:prstGeom prst="rect">
            <a:avLst/>
          </a:prstGeom>
          <a:noFill/>
        </p:spPr>
        <p:txBody>
          <a:bodyPr wrap="square">
            <a:spAutoFit/>
          </a:bodyPr>
          <a:lstStyle/>
          <a:p>
            <a:pPr algn="l"/>
            <a:r>
              <a:rPr sz="1600" b="1" i="0">
                <a:solidFill>
                  <a:srgbClr val="FFFFFF"/>
                </a:solidFill>
              </a:rPr>
              <a:t>Industry Context — Automotive Trends</a:t>
            </a:r>
          </a:p>
        </p:txBody>
      </p:sp>
      <p:sp>
        <p:nvSpPr>
          <p:cNvPr id="13" name="TextBox 12"/>
          <p:cNvSpPr txBox="1"/>
          <p:nvPr/>
        </p:nvSpPr>
        <p:spPr>
          <a:xfrm>
            <a:off x="1300000" y="2440000"/>
            <a:ext cx="5000000" cy="300000"/>
          </a:xfrm>
          <a:prstGeom prst="rect">
            <a:avLst/>
          </a:prstGeom>
          <a:noFill/>
        </p:spPr>
        <p:txBody>
          <a:bodyPr wrap="square">
            <a:spAutoFit/>
          </a:bodyPr>
          <a:lstStyle/>
          <a:p>
            <a:pPr algn="l"/>
            <a:r>
              <a:rPr sz="1333" b="0" i="0">
                <a:solidFill>
                  <a:srgbClr val="B8CFE8"/>
                </a:solidFill>
              </a:rPr>
              <a:t>Macro forces reshaping supply chains</a:t>
            </a:r>
          </a:p>
        </p:txBody>
      </p:sp>
      <p:sp>
        <p:nvSpPr>
          <p:cNvPr id="14" name="Rounded Rectangle 13"/>
          <p:cNvSpPr/>
          <p:nvPr/>
        </p:nvSpPr>
        <p:spPr>
          <a:xfrm>
            <a:off x="6800000" y="2240000"/>
            <a:ext cx="48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00000" y="279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0000" y="2840000"/>
            <a:ext cx="430000" cy="350000"/>
          </a:xfrm>
          <a:prstGeom prst="rect">
            <a:avLst/>
          </a:prstGeom>
          <a:noFill/>
        </p:spPr>
        <p:txBody>
          <a:bodyPr wrap="square">
            <a:spAutoFit/>
          </a:bodyPr>
          <a:lstStyle/>
          <a:p>
            <a:pPr algn="ctr"/>
            <a:r>
              <a:rPr sz="1467" b="1" i="0">
                <a:solidFill>
                  <a:srgbClr val="FFFFFF"/>
                </a:solidFill>
              </a:rPr>
              <a:t>03</a:t>
            </a:r>
          </a:p>
        </p:txBody>
      </p:sp>
      <p:sp>
        <p:nvSpPr>
          <p:cNvPr id="17" name="TextBox 16"/>
          <p:cNvSpPr txBox="1"/>
          <p:nvPr/>
        </p:nvSpPr>
        <p:spPr>
          <a:xfrm>
            <a:off x="1300000" y="2770000"/>
            <a:ext cx="5000000" cy="350000"/>
          </a:xfrm>
          <a:prstGeom prst="rect">
            <a:avLst/>
          </a:prstGeom>
          <a:noFill/>
        </p:spPr>
        <p:txBody>
          <a:bodyPr wrap="square">
            <a:spAutoFit/>
          </a:bodyPr>
          <a:lstStyle/>
          <a:p>
            <a:pPr algn="l"/>
            <a:r>
              <a:rPr sz="1600" b="1" i="0">
                <a:solidFill>
                  <a:srgbClr val="FFFFFF"/>
                </a:solidFill>
              </a:rPr>
              <a:t>Our Approach &amp; Architecture</a:t>
            </a:r>
          </a:p>
        </p:txBody>
      </p:sp>
      <p:sp>
        <p:nvSpPr>
          <p:cNvPr id="18" name="TextBox 17"/>
          <p:cNvSpPr txBox="1"/>
          <p:nvPr/>
        </p:nvSpPr>
        <p:spPr>
          <a:xfrm>
            <a:off x="1300000" y="3060000"/>
            <a:ext cx="5000000" cy="300000"/>
          </a:xfrm>
          <a:prstGeom prst="rect">
            <a:avLst/>
          </a:prstGeom>
          <a:noFill/>
        </p:spPr>
        <p:txBody>
          <a:bodyPr wrap="square">
            <a:spAutoFit/>
          </a:bodyPr>
          <a:lstStyle/>
          <a:p>
            <a:pPr algn="l"/>
            <a:r>
              <a:rPr sz="1333" b="0" i="0">
                <a:solidFill>
                  <a:srgbClr val="B8CFE8"/>
                </a:solidFill>
              </a:rPr>
              <a:t>Three-layer intelligence: Data → AI → Action</a:t>
            </a:r>
          </a:p>
        </p:txBody>
      </p:sp>
      <p:sp>
        <p:nvSpPr>
          <p:cNvPr id="19" name="Rounded Rectangle 18"/>
          <p:cNvSpPr/>
          <p:nvPr/>
        </p:nvSpPr>
        <p:spPr>
          <a:xfrm>
            <a:off x="6800000" y="286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0000" y="341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0000" y="3460000"/>
            <a:ext cx="430000" cy="350000"/>
          </a:xfrm>
          <a:prstGeom prst="rect">
            <a:avLst/>
          </a:prstGeom>
          <a:noFill/>
        </p:spPr>
        <p:txBody>
          <a:bodyPr wrap="square">
            <a:spAutoFit/>
          </a:bodyPr>
          <a:lstStyle/>
          <a:p>
            <a:pPr algn="ctr"/>
            <a:r>
              <a:rPr sz="1467" b="1" i="0">
                <a:solidFill>
                  <a:srgbClr val="FFFFFF"/>
                </a:solidFill>
              </a:rPr>
              <a:t>04</a:t>
            </a:r>
          </a:p>
        </p:txBody>
      </p:sp>
      <p:sp>
        <p:nvSpPr>
          <p:cNvPr id="22" name="TextBox 21"/>
          <p:cNvSpPr txBox="1"/>
          <p:nvPr/>
        </p:nvSpPr>
        <p:spPr>
          <a:xfrm>
            <a:off x="1300000" y="3390000"/>
            <a:ext cx="5000000" cy="350000"/>
          </a:xfrm>
          <a:prstGeom prst="rect">
            <a:avLst/>
          </a:prstGeom>
          <a:noFill/>
        </p:spPr>
        <p:txBody>
          <a:bodyPr wrap="square">
            <a:spAutoFit/>
          </a:bodyPr>
          <a:lstStyle/>
          <a:p>
            <a:pPr algn="l"/>
            <a:r>
              <a:rPr sz="1600" b="1" i="0">
                <a:solidFill>
                  <a:srgbClr val="FFFFFF"/>
                </a:solidFill>
              </a:rPr>
              <a:t>Four AI Use Cases</a:t>
            </a:r>
          </a:p>
        </p:txBody>
      </p:sp>
      <p:sp>
        <p:nvSpPr>
          <p:cNvPr id="23" name="TextBox 22"/>
          <p:cNvSpPr txBox="1"/>
          <p:nvPr/>
        </p:nvSpPr>
        <p:spPr>
          <a:xfrm>
            <a:off x="1300000" y="3680000"/>
            <a:ext cx="5000000" cy="300000"/>
          </a:xfrm>
          <a:prstGeom prst="rect">
            <a:avLst/>
          </a:prstGeom>
          <a:noFill/>
        </p:spPr>
        <p:txBody>
          <a:bodyPr wrap="square">
            <a:spAutoFit/>
          </a:bodyPr>
          <a:lstStyle/>
          <a:p>
            <a:pPr algn="l"/>
            <a:r>
              <a:rPr sz="1333" b="0" i="0">
                <a:solidFill>
                  <a:srgbClr val="B8CFE8"/>
                </a:solidFill>
              </a:rPr>
              <a:t>Demand · Inventory · Supply Planning · Logistics</a:t>
            </a:r>
          </a:p>
        </p:txBody>
      </p:sp>
      <p:sp>
        <p:nvSpPr>
          <p:cNvPr id="24" name="Rounded Rectangle 23"/>
          <p:cNvSpPr/>
          <p:nvPr/>
        </p:nvSpPr>
        <p:spPr>
          <a:xfrm>
            <a:off x="6800000" y="348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00000" y="4030000"/>
            <a:ext cx="430000" cy="43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0000" y="4080000"/>
            <a:ext cx="430000" cy="350000"/>
          </a:xfrm>
          <a:prstGeom prst="rect">
            <a:avLst/>
          </a:prstGeom>
          <a:noFill/>
        </p:spPr>
        <p:txBody>
          <a:bodyPr wrap="square">
            <a:spAutoFit/>
          </a:bodyPr>
          <a:lstStyle/>
          <a:p>
            <a:pPr algn="ctr"/>
            <a:r>
              <a:rPr sz="1467" b="1" i="0">
                <a:solidFill>
                  <a:srgbClr val="FFFFFF"/>
                </a:solidFill>
              </a:rPr>
              <a:t>05</a:t>
            </a:r>
          </a:p>
        </p:txBody>
      </p:sp>
      <p:sp>
        <p:nvSpPr>
          <p:cNvPr id="27" name="TextBox 26"/>
          <p:cNvSpPr txBox="1"/>
          <p:nvPr/>
        </p:nvSpPr>
        <p:spPr>
          <a:xfrm>
            <a:off x="1300000" y="4010000"/>
            <a:ext cx="5000000" cy="350000"/>
          </a:xfrm>
          <a:prstGeom prst="rect">
            <a:avLst/>
          </a:prstGeom>
          <a:noFill/>
        </p:spPr>
        <p:txBody>
          <a:bodyPr wrap="square">
            <a:spAutoFit/>
          </a:bodyPr>
          <a:lstStyle/>
          <a:p>
            <a:pPr algn="l"/>
            <a:r>
              <a:rPr sz="1600" b="1" i="0">
                <a:solidFill>
                  <a:srgbClr val="FFFFFF"/>
                </a:solidFill>
              </a:rPr>
              <a:t>The Agentic AI Differentiator</a:t>
            </a:r>
          </a:p>
        </p:txBody>
      </p:sp>
      <p:sp>
        <p:nvSpPr>
          <p:cNvPr id="28" name="TextBox 27"/>
          <p:cNvSpPr txBox="1"/>
          <p:nvPr/>
        </p:nvSpPr>
        <p:spPr>
          <a:xfrm>
            <a:off x="1300000" y="4300000"/>
            <a:ext cx="5000000" cy="300000"/>
          </a:xfrm>
          <a:prstGeom prst="rect">
            <a:avLst/>
          </a:prstGeom>
          <a:noFill/>
        </p:spPr>
        <p:txBody>
          <a:bodyPr wrap="square">
            <a:spAutoFit/>
          </a:bodyPr>
          <a:lstStyle/>
          <a:p>
            <a:pPr algn="l"/>
            <a:r>
              <a:rPr sz="1333" b="0" i="0">
                <a:solidFill>
                  <a:srgbClr val="B8CFE8"/>
                </a:solidFill>
              </a:rPr>
              <a:t>Copilot orchestrating all domains</a:t>
            </a:r>
          </a:p>
        </p:txBody>
      </p:sp>
      <p:sp>
        <p:nvSpPr>
          <p:cNvPr id="29" name="Rounded Rectangle 28"/>
          <p:cNvSpPr/>
          <p:nvPr/>
        </p:nvSpPr>
        <p:spPr>
          <a:xfrm>
            <a:off x="6800000" y="4100000"/>
            <a:ext cx="4800000" cy="3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00000" y="465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0000" y="4700000"/>
            <a:ext cx="430000" cy="350000"/>
          </a:xfrm>
          <a:prstGeom prst="rect">
            <a:avLst/>
          </a:prstGeom>
          <a:noFill/>
        </p:spPr>
        <p:txBody>
          <a:bodyPr wrap="square">
            <a:spAutoFit/>
          </a:bodyPr>
          <a:lstStyle/>
          <a:p>
            <a:pPr algn="ctr"/>
            <a:r>
              <a:rPr sz="1467" b="1" i="0">
                <a:solidFill>
                  <a:srgbClr val="FFFFFF"/>
                </a:solidFill>
              </a:rPr>
              <a:t>06</a:t>
            </a:r>
          </a:p>
        </p:txBody>
      </p:sp>
      <p:sp>
        <p:nvSpPr>
          <p:cNvPr id="32" name="TextBox 31"/>
          <p:cNvSpPr txBox="1"/>
          <p:nvPr/>
        </p:nvSpPr>
        <p:spPr>
          <a:xfrm>
            <a:off x="1300000" y="4630000"/>
            <a:ext cx="5000000" cy="350000"/>
          </a:xfrm>
          <a:prstGeom prst="rect">
            <a:avLst/>
          </a:prstGeom>
          <a:noFill/>
        </p:spPr>
        <p:txBody>
          <a:bodyPr wrap="square">
            <a:spAutoFit/>
          </a:bodyPr>
          <a:lstStyle/>
          <a:p>
            <a:pPr algn="l"/>
            <a:r>
              <a:rPr sz="1600" b="1" i="0">
                <a:solidFill>
                  <a:srgbClr val="FFFFFF"/>
                </a:solidFill>
              </a:rPr>
              <a:t>ROI &amp; Business Case</a:t>
            </a:r>
          </a:p>
        </p:txBody>
      </p:sp>
      <p:sp>
        <p:nvSpPr>
          <p:cNvPr id="33" name="TextBox 32"/>
          <p:cNvSpPr txBox="1"/>
          <p:nvPr/>
        </p:nvSpPr>
        <p:spPr>
          <a:xfrm>
            <a:off x="1300000" y="4920000"/>
            <a:ext cx="5000000" cy="300000"/>
          </a:xfrm>
          <a:prstGeom prst="rect">
            <a:avLst/>
          </a:prstGeom>
          <a:noFill/>
        </p:spPr>
        <p:txBody>
          <a:bodyPr wrap="square">
            <a:spAutoFit/>
          </a:bodyPr>
          <a:lstStyle/>
          <a:p>
            <a:pPr algn="l"/>
            <a:r>
              <a:rPr sz="1333" b="0" i="0">
                <a:solidFill>
                  <a:srgbClr val="B8CFE8"/>
                </a:solidFill>
              </a:rPr>
              <a:t>Consolidated impact across all use cases</a:t>
            </a:r>
          </a:p>
        </p:txBody>
      </p:sp>
      <p:sp>
        <p:nvSpPr>
          <p:cNvPr id="34" name="Rounded Rectangle 33"/>
          <p:cNvSpPr/>
          <p:nvPr/>
        </p:nvSpPr>
        <p:spPr>
          <a:xfrm>
            <a:off x="6800000" y="472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0000" y="527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0000" y="5320000"/>
            <a:ext cx="430000" cy="350000"/>
          </a:xfrm>
          <a:prstGeom prst="rect">
            <a:avLst/>
          </a:prstGeom>
          <a:noFill/>
        </p:spPr>
        <p:txBody>
          <a:bodyPr wrap="square">
            <a:spAutoFit/>
          </a:bodyPr>
          <a:lstStyle/>
          <a:p>
            <a:pPr algn="ctr"/>
            <a:r>
              <a:rPr sz="1467" b="1" i="0">
                <a:solidFill>
                  <a:srgbClr val="FFFFFF"/>
                </a:solidFill>
              </a:rPr>
              <a:t>07</a:t>
            </a:r>
          </a:p>
        </p:txBody>
      </p:sp>
      <p:sp>
        <p:nvSpPr>
          <p:cNvPr id="37" name="TextBox 36"/>
          <p:cNvSpPr txBox="1"/>
          <p:nvPr/>
        </p:nvSpPr>
        <p:spPr>
          <a:xfrm>
            <a:off x="1300000" y="5250000"/>
            <a:ext cx="5000000" cy="350000"/>
          </a:xfrm>
          <a:prstGeom prst="rect">
            <a:avLst/>
          </a:prstGeom>
          <a:noFill/>
        </p:spPr>
        <p:txBody>
          <a:bodyPr wrap="square">
            <a:spAutoFit/>
          </a:bodyPr>
          <a:lstStyle/>
          <a:p>
            <a:pPr algn="l"/>
            <a:r>
              <a:rPr sz="1600" b="1" i="0">
                <a:solidFill>
                  <a:srgbClr val="FFFFFF"/>
                </a:solidFill>
              </a:rPr>
              <a:t>Implementation Roadmap</a:t>
            </a:r>
          </a:p>
        </p:txBody>
      </p:sp>
      <p:sp>
        <p:nvSpPr>
          <p:cNvPr id="38" name="TextBox 37"/>
          <p:cNvSpPr txBox="1"/>
          <p:nvPr/>
        </p:nvSpPr>
        <p:spPr>
          <a:xfrm>
            <a:off x="1300000" y="5540000"/>
            <a:ext cx="5000000" cy="300000"/>
          </a:xfrm>
          <a:prstGeom prst="rect">
            <a:avLst/>
          </a:prstGeom>
          <a:noFill/>
        </p:spPr>
        <p:txBody>
          <a:bodyPr wrap="square">
            <a:spAutoFit/>
          </a:bodyPr>
          <a:lstStyle/>
          <a:p>
            <a:pPr algn="l"/>
            <a:r>
              <a:rPr sz="1333" b="0" i="0">
                <a:solidFill>
                  <a:srgbClr val="B8CFE8"/>
                </a:solidFill>
              </a:rPr>
              <a:t>12-week phased delivery plan</a:t>
            </a:r>
          </a:p>
        </p:txBody>
      </p:sp>
      <p:sp>
        <p:nvSpPr>
          <p:cNvPr id="39" name="Rounded Rectangle 38"/>
          <p:cNvSpPr/>
          <p:nvPr/>
        </p:nvSpPr>
        <p:spPr>
          <a:xfrm>
            <a:off x="6800000" y="534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0000" y="589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0000" y="5940000"/>
            <a:ext cx="430000" cy="350000"/>
          </a:xfrm>
          <a:prstGeom prst="rect">
            <a:avLst/>
          </a:prstGeom>
          <a:noFill/>
        </p:spPr>
        <p:txBody>
          <a:bodyPr wrap="square">
            <a:spAutoFit/>
          </a:bodyPr>
          <a:lstStyle/>
          <a:p>
            <a:pPr algn="ctr"/>
            <a:r>
              <a:rPr sz="1467" b="1" i="0">
                <a:solidFill>
                  <a:srgbClr val="FFFFFF"/>
                </a:solidFill>
              </a:rPr>
              <a:t>08</a:t>
            </a:r>
          </a:p>
        </p:txBody>
      </p:sp>
      <p:sp>
        <p:nvSpPr>
          <p:cNvPr id="42" name="TextBox 41"/>
          <p:cNvSpPr txBox="1"/>
          <p:nvPr/>
        </p:nvSpPr>
        <p:spPr>
          <a:xfrm>
            <a:off x="1300000" y="5870000"/>
            <a:ext cx="5000000" cy="350000"/>
          </a:xfrm>
          <a:prstGeom prst="rect">
            <a:avLst/>
          </a:prstGeom>
          <a:noFill/>
        </p:spPr>
        <p:txBody>
          <a:bodyPr wrap="square">
            <a:spAutoFit/>
          </a:bodyPr>
          <a:lstStyle/>
          <a:p>
            <a:pPr algn="l"/>
            <a:r>
              <a:rPr sz="1600" b="1" i="0">
                <a:solidFill>
                  <a:srgbClr val="FFFFFF"/>
                </a:solidFill>
              </a:rPr>
              <a:t>Next Steps</a:t>
            </a:r>
          </a:p>
        </p:txBody>
      </p:sp>
      <p:sp>
        <p:nvSpPr>
          <p:cNvPr id="43" name="TextBox 42"/>
          <p:cNvSpPr txBox="1"/>
          <p:nvPr/>
        </p:nvSpPr>
        <p:spPr>
          <a:xfrm>
            <a:off x="1300000" y="6160000"/>
            <a:ext cx="5000000" cy="300000"/>
          </a:xfrm>
          <a:prstGeom prst="rect">
            <a:avLst/>
          </a:prstGeom>
          <a:noFill/>
        </p:spPr>
        <p:txBody>
          <a:bodyPr wrap="square">
            <a:spAutoFit/>
          </a:bodyPr>
          <a:lstStyle/>
          <a:p>
            <a:pPr algn="l"/>
            <a:r>
              <a:rPr sz="1333" b="0" i="0">
                <a:solidFill>
                  <a:srgbClr val="B8CFE8"/>
                </a:solidFill>
              </a:rPr>
              <a:t>Discovery workshop &amp; POC proposal</a:t>
            </a:r>
          </a:p>
        </p:txBody>
      </p:sp>
      <p:sp>
        <p:nvSpPr>
          <p:cNvPr id="44" name="Rounded Rectangle 43"/>
          <p:cNvSpPr/>
          <p:nvPr/>
        </p:nvSpPr>
        <p:spPr>
          <a:xfrm>
            <a:off x="6800000" y="596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Industry Context — Automotive Supply Chain</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Macro forces driving urgency for AI-powered supply chains</a:t>
            </a:r>
          </a:p>
        </p:txBody>
      </p:sp>
      <p:sp>
        <p:nvSpPr>
          <p:cNvPr id="5" name="Rounded Rectangle 4"/>
          <p:cNvSpPr/>
          <p:nvPr/>
        </p:nvSpPr>
        <p:spPr>
          <a:xfrm>
            <a:off x="4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00000" y="1500000"/>
            <a:ext cx="27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0000" y="1650000"/>
            <a:ext cx="2400000" cy="450000"/>
          </a:xfrm>
          <a:prstGeom prst="rect">
            <a:avLst/>
          </a:prstGeom>
          <a:noFill/>
        </p:spPr>
        <p:txBody>
          <a:bodyPr wrap="square">
            <a:spAutoFit/>
          </a:bodyPr>
          <a:lstStyle/>
          <a:p>
            <a:pPr algn="l"/>
            <a:r>
              <a:rPr sz="1600" b="1" i="0">
                <a:solidFill>
                  <a:srgbClr val="0078D4"/>
                </a:solidFill>
              </a:rPr>
              <a:t>Chip Shortage Aftermath</a:t>
            </a:r>
          </a:p>
        </p:txBody>
      </p:sp>
      <p:sp>
        <p:nvSpPr>
          <p:cNvPr id="8" name="TextBox 7"/>
          <p:cNvSpPr txBox="1"/>
          <p:nvPr/>
        </p:nvSpPr>
        <p:spPr>
          <a:xfrm>
            <a:off x="550000" y="2200000"/>
            <a:ext cx="2400000" cy="2300000"/>
          </a:xfrm>
          <a:prstGeom prst="rect">
            <a:avLst/>
          </a:prstGeom>
          <a:noFill/>
        </p:spPr>
        <p:txBody>
          <a:bodyPr wrap="square">
            <a:spAutoFit/>
          </a:bodyPr>
          <a:lstStyle/>
          <a:p>
            <a:pPr algn="l">
              <a:spcAft>
                <a:spcPts val="400"/>
              </a:spcAft>
            </a:pPr>
            <a:r>
              <a:rPr sz="1333" b="0">
                <a:solidFill>
                  <a:srgbClr val="B8CFE8"/>
                </a:solidFill>
              </a:rPr>
              <a:t>Global semiconductor crisis exposed single-source dependencies.</a:t>
            </a:r>
          </a:p>
          <a:p>
            <a:pPr algn="l">
              <a:spcAft>
                <a:spcPts val="400"/>
              </a:spcAft>
            </a:pPr>
            <a:r>
              <a:rPr sz="1333" b="0">
                <a:solidFill>
                  <a:srgbClr val="B8CFE8"/>
                </a:solidFill>
              </a:rPr>
              <a:t>3-year recovery timeline. OEMs now demand multi-tier visibility.</a:t>
            </a:r>
          </a:p>
        </p:txBody>
      </p:sp>
      <p:sp>
        <p:nvSpPr>
          <p:cNvPr id="9" name="Rounded Rectangle 8"/>
          <p:cNvSpPr/>
          <p:nvPr/>
        </p:nvSpPr>
        <p:spPr>
          <a:xfrm>
            <a:off x="33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00000" y="1500000"/>
            <a:ext cx="27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50000" y="1650000"/>
            <a:ext cx="2400000" cy="450000"/>
          </a:xfrm>
          <a:prstGeom prst="rect">
            <a:avLst/>
          </a:prstGeom>
          <a:noFill/>
        </p:spPr>
        <p:txBody>
          <a:bodyPr wrap="square">
            <a:spAutoFit/>
          </a:bodyPr>
          <a:lstStyle/>
          <a:p>
            <a:pPr algn="l"/>
            <a:r>
              <a:rPr sz="1600" b="1" i="0">
                <a:solidFill>
                  <a:srgbClr val="00B294"/>
                </a:solidFill>
              </a:rPr>
              <a:t>EV Transition</a:t>
            </a:r>
          </a:p>
        </p:txBody>
      </p:sp>
      <p:sp>
        <p:nvSpPr>
          <p:cNvPr id="12" name="TextBox 11"/>
          <p:cNvSpPr txBox="1"/>
          <p:nvPr/>
        </p:nvSpPr>
        <p:spPr>
          <a:xfrm>
            <a:off x="3450000" y="2200000"/>
            <a:ext cx="2400000" cy="2300000"/>
          </a:xfrm>
          <a:prstGeom prst="rect">
            <a:avLst/>
          </a:prstGeom>
          <a:noFill/>
        </p:spPr>
        <p:txBody>
          <a:bodyPr wrap="square">
            <a:spAutoFit/>
          </a:bodyPr>
          <a:lstStyle/>
          <a:p>
            <a:pPr algn="l">
              <a:spcAft>
                <a:spcPts val="400"/>
              </a:spcAft>
            </a:pPr>
            <a:r>
              <a:rPr sz="1333" b="0">
                <a:solidFill>
                  <a:srgbClr val="B8CFE8"/>
                </a:solidFill>
              </a:rPr>
              <a:t>Battery supply chains are 5× more complex than ICE.</a:t>
            </a:r>
          </a:p>
          <a:p>
            <a:pPr algn="l">
              <a:spcAft>
                <a:spcPts val="400"/>
              </a:spcAft>
            </a:pPr>
            <a:r>
              <a:rPr sz="1333" b="0">
                <a:solidFill>
                  <a:srgbClr val="B8CFE8"/>
                </a:solidFill>
              </a:rPr>
              <a:t>New BOM structures require completely different planning models.</a:t>
            </a:r>
          </a:p>
        </p:txBody>
      </p:sp>
      <p:sp>
        <p:nvSpPr>
          <p:cNvPr id="13" name="Rounded Rectangle 12"/>
          <p:cNvSpPr/>
          <p:nvPr/>
        </p:nvSpPr>
        <p:spPr>
          <a:xfrm>
            <a:off x="62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00000" y="1500000"/>
            <a:ext cx="27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0000" y="1650000"/>
            <a:ext cx="2400000" cy="450000"/>
          </a:xfrm>
          <a:prstGeom prst="rect">
            <a:avLst/>
          </a:prstGeom>
          <a:noFill/>
        </p:spPr>
        <p:txBody>
          <a:bodyPr wrap="square">
            <a:spAutoFit/>
          </a:bodyPr>
          <a:lstStyle/>
          <a:p>
            <a:pPr algn="l"/>
            <a:r>
              <a:rPr sz="1600" b="1" i="0">
                <a:solidFill>
                  <a:srgbClr val="FFB900"/>
                </a:solidFill>
              </a:rPr>
              <a:t>Sustainability Mandates</a:t>
            </a:r>
          </a:p>
        </p:txBody>
      </p:sp>
      <p:sp>
        <p:nvSpPr>
          <p:cNvPr id="16" name="TextBox 15"/>
          <p:cNvSpPr txBox="1"/>
          <p:nvPr/>
        </p:nvSpPr>
        <p:spPr>
          <a:xfrm>
            <a:off x="6350000" y="2200000"/>
            <a:ext cx="2400000" cy="2300000"/>
          </a:xfrm>
          <a:prstGeom prst="rect">
            <a:avLst/>
          </a:prstGeom>
          <a:noFill/>
        </p:spPr>
        <p:txBody>
          <a:bodyPr wrap="square">
            <a:spAutoFit/>
          </a:bodyPr>
          <a:lstStyle/>
          <a:p>
            <a:pPr algn="l">
              <a:spcAft>
                <a:spcPts val="400"/>
              </a:spcAft>
            </a:pPr>
            <a:r>
              <a:rPr sz="1333" b="0">
                <a:solidFill>
                  <a:srgbClr val="B8CFE8"/>
                </a:solidFill>
              </a:rPr>
              <a:t>EU CSRD &amp; CBAM regulations demand Scope 3 tracking.</a:t>
            </a:r>
          </a:p>
          <a:p>
            <a:pPr algn="l">
              <a:spcAft>
                <a:spcPts val="400"/>
              </a:spcAft>
            </a:pPr>
            <a:r>
              <a:rPr sz="1333" b="0">
                <a:solidFill>
                  <a:srgbClr val="B8CFE8"/>
                </a:solidFill>
              </a:rPr>
              <a:t>Supply chain carbon footprint visibility is now mandatory.</a:t>
            </a:r>
          </a:p>
        </p:txBody>
      </p:sp>
      <p:sp>
        <p:nvSpPr>
          <p:cNvPr id="17" name="Rounded Rectangle 16"/>
          <p:cNvSpPr/>
          <p:nvPr/>
        </p:nvSpPr>
        <p:spPr>
          <a:xfrm>
            <a:off x="91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0000" y="1500000"/>
            <a:ext cx="27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0000" y="1650000"/>
            <a:ext cx="2400000" cy="450000"/>
          </a:xfrm>
          <a:prstGeom prst="rect">
            <a:avLst/>
          </a:prstGeom>
          <a:noFill/>
        </p:spPr>
        <p:txBody>
          <a:bodyPr wrap="square">
            <a:spAutoFit/>
          </a:bodyPr>
          <a:lstStyle/>
          <a:p>
            <a:pPr algn="l"/>
            <a:r>
              <a:rPr sz="1600" b="1" i="0">
                <a:solidFill>
                  <a:srgbClr val="FF8C00"/>
                </a:solidFill>
              </a:rPr>
              <a:t>Nearshoring &amp; China+1</a:t>
            </a:r>
          </a:p>
        </p:txBody>
      </p:sp>
      <p:sp>
        <p:nvSpPr>
          <p:cNvPr id="20" name="TextBox 19"/>
          <p:cNvSpPr txBox="1"/>
          <p:nvPr/>
        </p:nvSpPr>
        <p:spPr>
          <a:xfrm>
            <a:off x="9250000" y="2200000"/>
            <a:ext cx="2400000" cy="2300000"/>
          </a:xfrm>
          <a:prstGeom prst="rect">
            <a:avLst/>
          </a:prstGeom>
          <a:noFill/>
        </p:spPr>
        <p:txBody>
          <a:bodyPr wrap="square">
            <a:spAutoFit/>
          </a:bodyPr>
          <a:lstStyle/>
          <a:p>
            <a:pPr algn="l">
              <a:spcAft>
                <a:spcPts val="400"/>
              </a:spcAft>
            </a:pPr>
            <a:r>
              <a:rPr sz="1333" b="0">
                <a:solidFill>
                  <a:srgbClr val="B8CFE8"/>
                </a:solidFill>
              </a:rPr>
              <a:t>Manufacturers restructuring supplier base.</a:t>
            </a:r>
          </a:p>
          <a:p>
            <a:pPr algn="l">
              <a:spcAft>
                <a:spcPts val="400"/>
              </a:spcAft>
            </a:pPr>
            <a:r>
              <a:rPr sz="1333" b="0">
                <a:solidFill>
                  <a:srgbClr val="B8CFE8"/>
                </a:solidFill>
              </a:rPr>
              <a:t>Dynamic network optimization required as geography shifts.</a:t>
            </a:r>
          </a:p>
        </p:txBody>
      </p:sp>
      <p:sp>
        <p:nvSpPr>
          <p:cNvPr id="21" name="Rounded Rectangle 20"/>
          <p:cNvSpPr/>
          <p:nvPr/>
        </p:nvSpPr>
        <p:spPr>
          <a:xfrm>
            <a:off x="400000" y="5000000"/>
            <a:ext cx="11400000" cy="7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000" y="5050000"/>
            <a:ext cx="1800000" cy="400000"/>
          </a:xfrm>
          <a:prstGeom prst="rect">
            <a:avLst/>
          </a:prstGeom>
          <a:noFill/>
        </p:spPr>
        <p:txBody>
          <a:bodyPr wrap="square">
            <a:spAutoFit/>
          </a:bodyPr>
          <a:lstStyle/>
          <a:p>
            <a:pPr algn="l"/>
            <a:r>
              <a:rPr sz="1600" b="1" i="0">
                <a:solidFill>
                  <a:srgbClr val="50E6FF"/>
                </a:solidFill>
              </a:rPr>
              <a:t>Key Insight:</a:t>
            </a:r>
          </a:p>
        </p:txBody>
      </p:sp>
      <p:sp>
        <p:nvSpPr>
          <p:cNvPr id="23" name="TextBox 22"/>
          <p:cNvSpPr txBox="1"/>
          <p:nvPr/>
        </p:nvSpPr>
        <p:spPr>
          <a:xfrm>
            <a:off x="2500000" y="5050000"/>
            <a:ext cx="9000000" cy="600000"/>
          </a:xfrm>
          <a:prstGeom prst="rect">
            <a:avLst/>
          </a:prstGeom>
          <a:noFill/>
        </p:spPr>
        <p:txBody>
          <a:bodyPr wrap="square">
            <a:spAutoFit/>
          </a:bodyPr>
          <a:lstStyle/>
          <a:p>
            <a:pPr algn="l"/>
            <a:r>
              <a:rPr sz="1467" b="0" i="0">
                <a:solidFill>
                  <a:srgbClr val="E8F4FD"/>
                </a:solidFill>
              </a:rPr>
              <a:t>SAP clients sitting on rich transactional data but lack the AI layer to turn it into predictive, autonomous decisions. This is the gap NTT DATA Business Solutions fills.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End-to-End Technology Architecture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From SAP source systems to autonomous AI actions — all on Microsoft Azure</a:t>
            </a:r>
          </a:p>
        </p:txBody>
      </p:sp>
      <p:sp>
        <p:nvSpPr>
          <p:cNvPr id="5" name="Rounded Rectangle 4"/>
          <p:cNvSpPr/>
          <p:nvPr/>
        </p:nvSpPr>
        <p:spPr>
          <a:xfrm>
            <a:off x="6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000" y="1600000"/>
            <a:ext cx="20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6000" y="1750000"/>
            <a:ext cx="1800000" cy="400000"/>
          </a:xfrm>
          <a:prstGeom prst="rect">
            <a:avLst/>
          </a:prstGeom>
          <a:noFill/>
        </p:spPr>
        <p:txBody>
          <a:bodyPr wrap="square">
            <a:spAutoFit/>
          </a:bodyPr>
          <a:lstStyle/>
          <a:p>
            <a:pPr algn="ctr"/>
            <a:r>
              <a:rPr sz="2400" b="1" i="0">
                <a:solidFill>
                  <a:srgbClr val="0078D4"/>
                </a:solidFill>
              </a:rPr>
              <a:t>01</a:t>
            </a:r>
          </a:p>
        </p:txBody>
      </p:sp>
      <p:sp>
        <p:nvSpPr>
          <p:cNvPr id="8" name="TextBox 7"/>
          <p:cNvSpPr txBox="1"/>
          <p:nvPr/>
        </p:nvSpPr>
        <p:spPr>
          <a:xfrm>
            <a:off x="796000" y="2150000"/>
            <a:ext cx="1800000" cy="350000"/>
          </a:xfrm>
          <a:prstGeom prst="rect">
            <a:avLst/>
          </a:prstGeom>
          <a:noFill/>
        </p:spPr>
        <p:txBody>
          <a:bodyPr wrap="square">
            <a:spAutoFit/>
          </a:bodyPr>
          <a:lstStyle/>
          <a:p>
            <a:pPr algn="ctr"/>
            <a:r>
              <a:rPr sz="1600" b="1" i="0">
                <a:solidFill>
                  <a:srgbClr val="FFFFFF"/>
                </a:solidFill>
              </a:rPr>
              <a:t>SAP Systems</a:t>
            </a:r>
          </a:p>
        </p:txBody>
      </p:sp>
      <p:sp>
        <p:nvSpPr>
          <p:cNvPr id="9" name="TextBox 8"/>
          <p:cNvSpPr txBox="1"/>
          <p:nvPr/>
        </p:nvSpPr>
        <p:spPr>
          <a:xfrm>
            <a:off x="796000" y="2550000"/>
            <a:ext cx="1800000" cy="1200000"/>
          </a:xfrm>
          <a:prstGeom prst="rect">
            <a:avLst/>
          </a:prstGeom>
          <a:noFill/>
        </p:spPr>
        <p:txBody>
          <a:bodyPr wrap="square">
            <a:spAutoFit/>
          </a:bodyPr>
          <a:lstStyle/>
          <a:p>
            <a:pPr algn="ctr">
              <a:spcAft>
                <a:spcPts val="400"/>
              </a:spcAft>
            </a:pPr>
            <a:r>
              <a:rPr sz="1333" b="0">
                <a:solidFill>
                  <a:srgbClr val="B8CFE8"/>
                </a:solidFill>
              </a:rPr>
              <a:t>ECC / S4HANA</a:t>
            </a:r>
          </a:p>
          <a:p>
            <a:pPr algn="ctr">
              <a:spcAft>
                <a:spcPts val="400"/>
              </a:spcAft>
            </a:pPr>
            <a:r>
              <a:rPr sz="1333" b="0">
                <a:solidFill>
                  <a:srgbClr val="B8CFE8"/>
                </a:solidFill>
              </a:rPr>
              <a:t>BW / APO</a:t>
            </a:r>
          </a:p>
          <a:p>
            <a:pPr algn="ctr">
              <a:spcAft>
                <a:spcPts val="400"/>
              </a:spcAft>
            </a:pPr>
            <a:r>
              <a:rPr sz="1333" b="0">
                <a:solidFill>
                  <a:srgbClr val="B8CFE8"/>
                </a:solidFill>
              </a:rPr>
              <a:t>MM · SD · PP · TM</a:t>
            </a:r>
          </a:p>
        </p:txBody>
      </p:sp>
      <p:sp>
        <p:nvSpPr>
          <p:cNvPr id="10" name="Chevron 9"/>
          <p:cNvSpPr/>
          <p:nvPr/>
        </p:nvSpPr>
        <p:spPr>
          <a:xfrm>
            <a:off x="2706000" y="2500000"/>
            <a:ext cx="180000" cy="35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96000" y="1600000"/>
            <a:ext cx="2000000" cy="60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6000" y="1750000"/>
            <a:ext cx="1800000" cy="400000"/>
          </a:xfrm>
          <a:prstGeom prst="rect">
            <a:avLst/>
          </a:prstGeom>
          <a:noFill/>
        </p:spPr>
        <p:txBody>
          <a:bodyPr wrap="square">
            <a:spAutoFit/>
          </a:bodyPr>
          <a:lstStyle/>
          <a:p>
            <a:pPr algn="ctr"/>
            <a:r>
              <a:rPr sz="2400" b="1" i="0">
                <a:solidFill>
                  <a:srgbClr val="50E6FF"/>
                </a:solidFill>
              </a:rPr>
              <a:t>02</a:t>
            </a:r>
          </a:p>
        </p:txBody>
      </p:sp>
      <p:sp>
        <p:nvSpPr>
          <p:cNvPr id="14" name="TextBox 13"/>
          <p:cNvSpPr txBox="1"/>
          <p:nvPr/>
        </p:nvSpPr>
        <p:spPr>
          <a:xfrm>
            <a:off x="2996000" y="2150000"/>
            <a:ext cx="1800000" cy="350000"/>
          </a:xfrm>
          <a:prstGeom prst="rect">
            <a:avLst/>
          </a:prstGeom>
          <a:noFill/>
        </p:spPr>
        <p:txBody>
          <a:bodyPr wrap="square">
            <a:spAutoFit/>
          </a:bodyPr>
          <a:lstStyle/>
          <a:p>
            <a:pPr algn="ctr"/>
            <a:r>
              <a:rPr sz="1600" b="1" i="0">
                <a:solidFill>
                  <a:srgbClr val="FFFFFF"/>
                </a:solidFill>
              </a:rPr>
              <a:t>Ingestion</a:t>
            </a:r>
          </a:p>
        </p:txBody>
      </p:sp>
      <p:sp>
        <p:nvSpPr>
          <p:cNvPr id="15" name="TextBox 14"/>
          <p:cNvSpPr txBox="1"/>
          <p:nvPr/>
        </p:nvSpPr>
        <p:spPr>
          <a:xfrm>
            <a:off x="2996000" y="2550000"/>
            <a:ext cx="1800000" cy="1200000"/>
          </a:xfrm>
          <a:prstGeom prst="rect">
            <a:avLst/>
          </a:prstGeom>
          <a:noFill/>
        </p:spPr>
        <p:txBody>
          <a:bodyPr wrap="square">
            <a:spAutoFit/>
          </a:bodyPr>
          <a:lstStyle/>
          <a:p>
            <a:pPr algn="ctr">
              <a:spcAft>
                <a:spcPts val="400"/>
              </a:spcAft>
            </a:pPr>
            <a:r>
              <a:rPr sz="1333" b="0">
                <a:solidFill>
                  <a:srgbClr val="B8CFE8"/>
                </a:solidFill>
              </a:rPr>
              <a:t>Azure Data Factory</a:t>
            </a:r>
          </a:p>
          <a:p>
            <a:pPr algn="ctr">
              <a:spcAft>
                <a:spcPts val="400"/>
              </a:spcAft>
            </a:pPr>
            <a:r>
              <a:rPr sz="1333" b="0">
                <a:solidFill>
                  <a:srgbClr val="B8CFE8"/>
                </a:solidFill>
              </a:rPr>
              <a:t>SAP ODP / BAPI</a:t>
            </a:r>
          </a:p>
          <a:p>
            <a:pPr algn="ctr">
              <a:spcAft>
                <a:spcPts val="400"/>
              </a:spcAft>
            </a:pPr>
            <a:r>
              <a:rPr sz="1333" b="0">
                <a:solidFill>
                  <a:srgbClr val="B8CFE8"/>
                </a:solidFill>
              </a:rPr>
              <a:t>CDC via SLT</a:t>
            </a:r>
          </a:p>
        </p:txBody>
      </p:sp>
      <p:sp>
        <p:nvSpPr>
          <p:cNvPr id="16" name="Chevron 15"/>
          <p:cNvSpPr/>
          <p:nvPr/>
        </p:nvSpPr>
        <p:spPr>
          <a:xfrm>
            <a:off x="4906000" y="2500000"/>
            <a:ext cx="180000" cy="350000"/>
          </a:xfrm>
          <a:prstGeom prst="chevron">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96000" y="1600000"/>
            <a:ext cx="20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96000" y="1750000"/>
            <a:ext cx="1800000" cy="400000"/>
          </a:xfrm>
          <a:prstGeom prst="rect">
            <a:avLst/>
          </a:prstGeom>
          <a:noFill/>
        </p:spPr>
        <p:txBody>
          <a:bodyPr wrap="square">
            <a:spAutoFit/>
          </a:bodyPr>
          <a:lstStyle/>
          <a:p>
            <a:pPr algn="ctr"/>
            <a:r>
              <a:rPr sz="2400" b="1" i="0">
                <a:solidFill>
                  <a:srgbClr val="00B294"/>
                </a:solidFill>
              </a:rPr>
              <a:t>03</a:t>
            </a:r>
          </a:p>
        </p:txBody>
      </p:sp>
      <p:sp>
        <p:nvSpPr>
          <p:cNvPr id="20" name="TextBox 19"/>
          <p:cNvSpPr txBox="1"/>
          <p:nvPr/>
        </p:nvSpPr>
        <p:spPr>
          <a:xfrm>
            <a:off x="5196000" y="2150000"/>
            <a:ext cx="1800000" cy="350000"/>
          </a:xfrm>
          <a:prstGeom prst="rect">
            <a:avLst/>
          </a:prstGeom>
          <a:noFill/>
        </p:spPr>
        <p:txBody>
          <a:bodyPr wrap="square">
            <a:spAutoFit/>
          </a:bodyPr>
          <a:lstStyle/>
          <a:p>
            <a:pPr algn="ctr"/>
            <a:r>
              <a:rPr sz="1600" b="1" i="0">
                <a:solidFill>
                  <a:srgbClr val="FFFFFF"/>
                </a:solidFill>
              </a:rPr>
              <a:t>Data Platform</a:t>
            </a:r>
          </a:p>
        </p:txBody>
      </p:sp>
      <p:sp>
        <p:nvSpPr>
          <p:cNvPr id="21" name="TextBox 20"/>
          <p:cNvSpPr txBox="1"/>
          <p:nvPr/>
        </p:nvSpPr>
        <p:spPr>
          <a:xfrm>
            <a:off x="5196000" y="2550000"/>
            <a:ext cx="1800000" cy="1200000"/>
          </a:xfrm>
          <a:prstGeom prst="rect">
            <a:avLst/>
          </a:prstGeom>
          <a:noFill/>
        </p:spPr>
        <p:txBody>
          <a:bodyPr wrap="square">
            <a:spAutoFit/>
          </a:bodyPr>
          <a:lstStyle/>
          <a:p>
            <a:pPr algn="ctr">
              <a:spcAft>
                <a:spcPts val="400"/>
              </a:spcAft>
            </a:pPr>
            <a:r>
              <a:rPr sz="1333" b="0">
                <a:solidFill>
                  <a:srgbClr val="B8CFE8"/>
                </a:solidFill>
              </a:rPr>
              <a:t>Microsoft Fabric</a:t>
            </a:r>
          </a:p>
          <a:p>
            <a:pPr algn="ctr">
              <a:spcAft>
                <a:spcPts val="400"/>
              </a:spcAft>
            </a:pPr>
            <a:r>
              <a:rPr sz="1333" b="0">
                <a:solidFill>
                  <a:srgbClr val="B8CFE8"/>
                </a:solidFill>
              </a:rPr>
              <a:t>Bronze → Silver → Gold</a:t>
            </a:r>
          </a:p>
          <a:p>
            <a:pPr algn="ctr">
              <a:spcAft>
                <a:spcPts val="400"/>
              </a:spcAft>
            </a:pPr>
            <a:r>
              <a:rPr sz="1333" b="0">
                <a:solidFill>
                  <a:srgbClr val="B8CFE8"/>
                </a:solidFill>
              </a:rPr>
              <a:t>Delta Lakehouse</a:t>
            </a:r>
          </a:p>
        </p:txBody>
      </p:sp>
      <p:sp>
        <p:nvSpPr>
          <p:cNvPr id="22" name="Chevron 21"/>
          <p:cNvSpPr/>
          <p:nvPr/>
        </p:nvSpPr>
        <p:spPr>
          <a:xfrm>
            <a:off x="7106000" y="2500000"/>
            <a:ext cx="180000" cy="35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96000" y="1600000"/>
            <a:ext cx="20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96000" y="1750000"/>
            <a:ext cx="1800000" cy="400000"/>
          </a:xfrm>
          <a:prstGeom prst="rect">
            <a:avLst/>
          </a:prstGeom>
          <a:noFill/>
        </p:spPr>
        <p:txBody>
          <a:bodyPr wrap="square">
            <a:spAutoFit/>
          </a:bodyPr>
          <a:lstStyle/>
          <a:p>
            <a:pPr algn="ctr"/>
            <a:r>
              <a:rPr sz="2400" b="1" i="0">
                <a:solidFill>
                  <a:srgbClr val="FFB900"/>
                </a:solidFill>
              </a:rPr>
              <a:t>04</a:t>
            </a:r>
          </a:p>
        </p:txBody>
      </p:sp>
      <p:sp>
        <p:nvSpPr>
          <p:cNvPr id="26" name="TextBox 25"/>
          <p:cNvSpPr txBox="1"/>
          <p:nvPr/>
        </p:nvSpPr>
        <p:spPr>
          <a:xfrm>
            <a:off x="7396000" y="2150000"/>
            <a:ext cx="1800000" cy="350000"/>
          </a:xfrm>
          <a:prstGeom prst="rect">
            <a:avLst/>
          </a:prstGeom>
          <a:noFill/>
        </p:spPr>
        <p:txBody>
          <a:bodyPr wrap="square">
            <a:spAutoFit/>
          </a:bodyPr>
          <a:lstStyle/>
          <a:p>
            <a:pPr algn="ctr"/>
            <a:r>
              <a:rPr sz="1600" b="1" i="0">
                <a:solidFill>
                  <a:srgbClr val="FFFFFF"/>
                </a:solidFill>
              </a:rPr>
              <a:t>AI / ML Engine</a:t>
            </a:r>
          </a:p>
        </p:txBody>
      </p:sp>
      <p:sp>
        <p:nvSpPr>
          <p:cNvPr id="27" name="TextBox 26"/>
          <p:cNvSpPr txBox="1"/>
          <p:nvPr/>
        </p:nvSpPr>
        <p:spPr>
          <a:xfrm>
            <a:off x="7396000" y="2550000"/>
            <a:ext cx="1800000" cy="1200000"/>
          </a:xfrm>
          <a:prstGeom prst="rect">
            <a:avLst/>
          </a:prstGeom>
          <a:noFill/>
        </p:spPr>
        <p:txBody>
          <a:bodyPr wrap="square">
            <a:spAutoFit/>
          </a:bodyPr>
          <a:lstStyle/>
          <a:p>
            <a:pPr algn="ctr">
              <a:spcAft>
                <a:spcPts val="400"/>
              </a:spcAft>
            </a:pPr>
            <a:r>
              <a:rPr sz="1333" b="0">
                <a:solidFill>
                  <a:srgbClr val="B8CFE8"/>
                </a:solidFill>
              </a:rPr>
              <a:t>Azure ML Studio</a:t>
            </a:r>
          </a:p>
          <a:p>
            <a:pPr algn="ctr">
              <a:spcAft>
                <a:spcPts val="400"/>
              </a:spcAft>
            </a:pPr>
            <a:r>
              <a:rPr sz="1333" b="0">
                <a:solidFill>
                  <a:srgbClr val="B8CFE8"/>
                </a:solidFill>
              </a:rPr>
              <a:t>Prophet · LightGBM</a:t>
            </a:r>
          </a:p>
          <a:p>
            <a:pPr algn="ctr">
              <a:spcAft>
                <a:spcPts val="400"/>
              </a:spcAft>
            </a:pPr>
            <a:r>
              <a:rPr sz="1333" b="0">
                <a:solidFill>
                  <a:srgbClr val="B8CFE8"/>
                </a:solidFill>
              </a:rPr>
              <a:t>OR-Tools · OpenAI</a:t>
            </a:r>
          </a:p>
        </p:txBody>
      </p:sp>
      <p:sp>
        <p:nvSpPr>
          <p:cNvPr id="28" name="Chevron 27"/>
          <p:cNvSpPr/>
          <p:nvPr/>
        </p:nvSpPr>
        <p:spPr>
          <a:xfrm>
            <a:off x="9306000" y="2500000"/>
            <a:ext cx="180000" cy="350000"/>
          </a:xfrm>
          <a:prstGeom prst="chevron">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96000" y="1600000"/>
            <a:ext cx="20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6000" y="1750000"/>
            <a:ext cx="1800000" cy="400000"/>
          </a:xfrm>
          <a:prstGeom prst="rect">
            <a:avLst/>
          </a:prstGeom>
          <a:noFill/>
        </p:spPr>
        <p:txBody>
          <a:bodyPr wrap="square">
            <a:spAutoFit/>
          </a:bodyPr>
          <a:lstStyle/>
          <a:p>
            <a:pPr algn="ctr"/>
            <a:r>
              <a:rPr sz="2400" b="1" i="0">
                <a:solidFill>
                  <a:srgbClr val="FF8C00"/>
                </a:solidFill>
              </a:rPr>
              <a:t>05</a:t>
            </a:r>
          </a:p>
        </p:txBody>
      </p:sp>
      <p:sp>
        <p:nvSpPr>
          <p:cNvPr id="32" name="TextBox 31"/>
          <p:cNvSpPr txBox="1"/>
          <p:nvPr/>
        </p:nvSpPr>
        <p:spPr>
          <a:xfrm>
            <a:off x="9596000" y="2150000"/>
            <a:ext cx="1800000" cy="350000"/>
          </a:xfrm>
          <a:prstGeom prst="rect">
            <a:avLst/>
          </a:prstGeom>
          <a:noFill/>
        </p:spPr>
        <p:txBody>
          <a:bodyPr wrap="square">
            <a:spAutoFit/>
          </a:bodyPr>
          <a:lstStyle/>
          <a:p>
            <a:pPr algn="ctr"/>
            <a:r>
              <a:rPr sz="1600" b="1" i="0">
                <a:solidFill>
                  <a:srgbClr val="FFFFFF"/>
                </a:solidFill>
              </a:rPr>
              <a:t>Action Layer</a:t>
            </a:r>
          </a:p>
        </p:txBody>
      </p:sp>
      <p:sp>
        <p:nvSpPr>
          <p:cNvPr id="33" name="TextBox 32"/>
          <p:cNvSpPr txBox="1"/>
          <p:nvPr/>
        </p:nvSpPr>
        <p:spPr>
          <a:xfrm>
            <a:off x="9596000" y="2550000"/>
            <a:ext cx="1800000" cy="1200000"/>
          </a:xfrm>
          <a:prstGeom prst="rect">
            <a:avLst/>
          </a:prstGeom>
          <a:noFill/>
        </p:spPr>
        <p:txBody>
          <a:bodyPr wrap="square">
            <a:spAutoFit/>
          </a:bodyPr>
          <a:lstStyle/>
          <a:p>
            <a:pPr algn="ctr">
              <a:spcAft>
                <a:spcPts val="400"/>
              </a:spcAft>
            </a:pPr>
            <a:r>
              <a:rPr sz="1333" b="0">
                <a:solidFill>
                  <a:srgbClr val="B8CFE8"/>
                </a:solidFill>
              </a:rPr>
              <a:t>Copilot Studio</a:t>
            </a:r>
          </a:p>
          <a:p>
            <a:pPr algn="ctr">
              <a:spcAft>
                <a:spcPts val="400"/>
              </a:spcAft>
            </a:pPr>
            <a:r>
              <a:rPr sz="1333" b="0">
                <a:solidFill>
                  <a:srgbClr val="B8CFE8"/>
                </a:solidFill>
              </a:rPr>
              <a:t>Agentic AI Bots</a:t>
            </a:r>
          </a:p>
          <a:p>
            <a:pPr algn="ctr">
              <a:spcAft>
                <a:spcPts val="400"/>
              </a:spcAft>
            </a:pPr>
            <a:r>
              <a:rPr sz="1333" b="0">
                <a:solidFill>
                  <a:srgbClr val="B8CFE8"/>
                </a:solidFill>
              </a:rPr>
              <a:t>SAP Back-Write</a:t>
            </a:r>
          </a:p>
        </p:txBody>
      </p:sp>
      <p:sp>
        <p:nvSpPr>
          <p:cNvPr id="34" name="Rounded Rectangle 33"/>
          <p:cNvSpPr/>
          <p:nvPr/>
        </p:nvSpPr>
        <p:spPr>
          <a:xfrm>
            <a:off x="696000" y="4200000"/>
            <a:ext cx="108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000" y="4250000"/>
            <a:ext cx="10400000" cy="250000"/>
          </a:xfrm>
          <a:prstGeom prst="rect">
            <a:avLst/>
          </a:prstGeom>
          <a:noFill/>
        </p:spPr>
        <p:txBody>
          <a:bodyPr wrap="square">
            <a:spAutoFit/>
          </a:bodyPr>
          <a:lstStyle/>
          <a:p>
            <a:pPr algn="ctr"/>
            <a:r>
              <a:rPr sz="1600" b="1" i="0">
                <a:solidFill>
                  <a:srgbClr val="50E6FF"/>
                </a:solidFill>
              </a:rPr>
              <a:t>Governance &amp; Security Layer</a:t>
            </a:r>
          </a:p>
        </p:txBody>
      </p:sp>
      <p:sp>
        <p:nvSpPr>
          <p:cNvPr id="36" name="TextBox 35"/>
          <p:cNvSpPr txBox="1"/>
          <p:nvPr/>
        </p:nvSpPr>
        <p:spPr>
          <a:xfrm>
            <a:off x="896000" y="4500000"/>
            <a:ext cx="10400000" cy="250000"/>
          </a:xfrm>
          <a:prstGeom prst="rect">
            <a:avLst/>
          </a:prstGeom>
          <a:noFill/>
        </p:spPr>
        <p:txBody>
          <a:bodyPr wrap="square">
            <a:spAutoFit/>
          </a:bodyPr>
          <a:lstStyle/>
          <a:p>
            <a:pPr algn="ctr"/>
            <a:r>
              <a:rPr sz="1333" b="0" i="0">
                <a:solidFill>
                  <a:srgbClr val="B8CFE8"/>
                </a:solidFill>
              </a:rPr>
              <a:t>Microsoft Purview  ·  Azure AD / Entra ID  ·  RBAC  ·  Data Lineage  ·  Encryption at Rest &amp; Transit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Consolidated ROI &amp; Business Case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Combined impact across all four AI use cases</a:t>
            </a:r>
          </a:p>
        </p:txBody>
      </p:sp>
      <p:sp>
        <p:nvSpPr>
          <p:cNvPr id="5" name="Rounded Rectangle 4"/>
          <p:cNvSpPr/>
          <p:nvPr/>
        </p:nvSpPr>
        <p:spPr>
          <a:xfrm>
            <a:off x="5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6000" y="1600000"/>
            <a:ext cx="2600000" cy="600000"/>
          </a:xfrm>
          <a:prstGeom prst="rect">
            <a:avLst/>
          </a:prstGeom>
          <a:noFill/>
        </p:spPr>
        <p:txBody>
          <a:bodyPr wrap="square">
            <a:spAutoFit/>
          </a:bodyPr>
          <a:lstStyle/>
          <a:p>
            <a:pPr algn="ctr"/>
            <a:r>
              <a:rPr sz="4533" b="1" i="0">
                <a:solidFill>
                  <a:srgbClr val="0078D4"/>
                </a:solidFill>
              </a:rPr>
              <a:t>3.2×</a:t>
            </a:r>
          </a:p>
        </p:txBody>
      </p:sp>
      <p:sp>
        <p:nvSpPr>
          <p:cNvPr id="7" name="TextBox 6"/>
          <p:cNvSpPr txBox="1"/>
          <p:nvPr/>
        </p:nvSpPr>
        <p:spPr>
          <a:xfrm>
            <a:off x="696000" y="2250000"/>
            <a:ext cx="2400000" cy="700000"/>
          </a:xfrm>
          <a:prstGeom prst="rect">
            <a:avLst/>
          </a:prstGeom>
          <a:noFill/>
        </p:spPr>
        <p:txBody>
          <a:bodyPr wrap="square">
            <a:spAutoFit/>
          </a:bodyPr>
          <a:lstStyle/>
          <a:p>
            <a:pPr algn="ctr">
              <a:spcAft>
                <a:spcPts val="400"/>
              </a:spcAft>
            </a:pPr>
            <a:r>
              <a:rPr sz="1467" b="0">
                <a:solidFill>
                  <a:srgbClr val="B8CFE8"/>
                </a:solidFill>
              </a:rPr>
              <a:t>Overall ROI</a:t>
            </a:r>
          </a:p>
          <a:p>
            <a:pPr algn="ctr">
              <a:spcAft>
                <a:spcPts val="400"/>
              </a:spcAft>
            </a:pPr>
            <a:r>
              <a:rPr sz="1467" b="0">
                <a:solidFill>
                  <a:srgbClr val="B8CFE8"/>
                </a:solidFill>
              </a:rPr>
              <a:t>vs. manual planning</a:t>
            </a:r>
          </a:p>
        </p:txBody>
      </p:sp>
      <p:sp>
        <p:nvSpPr>
          <p:cNvPr id="8" name="Rounded Rectangle 7"/>
          <p:cNvSpPr/>
          <p:nvPr/>
        </p:nvSpPr>
        <p:spPr>
          <a:xfrm>
            <a:off x="33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96000" y="1600000"/>
            <a:ext cx="2600000" cy="600000"/>
          </a:xfrm>
          <a:prstGeom prst="rect">
            <a:avLst/>
          </a:prstGeom>
          <a:noFill/>
        </p:spPr>
        <p:txBody>
          <a:bodyPr wrap="square">
            <a:spAutoFit/>
          </a:bodyPr>
          <a:lstStyle/>
          <a:p>
            <a:pPr algn="ctr"/>
            <a:r>
              <a:rPr sz="4533" b="1" i="0">
                <a:solidFill>
                  <a:srgbClr val="FFB900"/>
                </a:solidFill>
              </a:rPr>
              <a:t>₹15-25Cr</a:t>
            </a:r>
          </a:p>
        </p:txBody>
      </p:sp>
      <p:sp>
        <p:nvSpPr>
          <p:cNvPr id="10" name="TextBox 9"/>
          <p:cNvSpPr txBox="1"/>
          <p:nvPr/>
        </p:nvSpPr>
        <p:spPr>
          <a:xfrm>
            <a:off x="3496000" y="2250000"/>
            <a:ext cx="2400000" cy="700000"/>
          </a:xfrm>
          <a:prstGeom prst="rect">
            <a:avLst/>
          </a:prstGeom>
          <a:noFill/>
        </p:spPr>
        <p:txBody>
          <a:bodyPr wrap="square">
            <a:spAutoFit/>
          </a:bodyPr>
          <a:lstStyle/>
          <a:p>
            <a:pPr algn="ctr">
              <a:spcAft>
                <a:spcPts val="400"/>
              </a:spcAft>
            </a:pPr>
            <a:r>
              <a:rPr sz="1467" b="0">
                <a:solidFill>
                  <a:srgbClr val="B8CFE8"/>
                </a:solidFill>
              </a:rPr>
              <a:t>Annual savings</a:t>
            </a:r>
          </a:p>
          <a:p>
            <a:pPr algn="ctr">
              <a:spcAft>
                <a:spcPts val="400"/>
              </a:spcAft>
            </a:pPr>
            <a:r>
              <a:rPr sz="1467" b="0">
                <a:solidFill>
                  <a:srgbClr val="B8CFE8"/>
                </a:solidFill>
              </a:rPr>
              <a:t>across supply chain</a:t>
            </a:r>
          </a:p>
        </p:txBody>
      </p:sp>
      <p:sp>
        <p:nvSpPr>
          <p:cNvPr id="11" name="Rounded Rectangle 10"/>
          <p:cNvSpPr/>
          <p:nvPr/>
        </p:nvSpPr>
        <p:spPr>
          <a:xfrm>
            <a:off x="61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6000" y="1600000"/>
            <a:ext cx="2600000" cy="600000"/>
          </a:xfrm>
          <a:prstGeom prst="rect">
            <a:avLst/>
          </a:prstGeom>
          <a:noFill/>
        </p:spPr>
        <p:txBody>
          <a:bodyPr wrap="square">
            <a:spAutoFit/>
          </a:bodyPr>
          <a:lstStyle/>
          <a:p>
            <a:pPr algn="ctr"/>
            <a:r>
              <a:rPr sz="4533" b="1" i="0">
                <a:solidFill>
                  <a:srgbClr val="00B294"/>
                </a:solidFill>
              </a:rPr>
              <a:t>30-40%</a:t>
            </a:r>
          </a:p>
        </p:txBody>
      </p:sp>
      <p:sp>
        <p:nvSpPr>
          <p:cNvPr id="13" name="TextBox 12"/>
          <p:cNvSpPr txBox="1"/>
          <p:nvPr/>
        </p:nvSpPr>
        <p:spPr>
          <a:xfrm>
            <a:off x="6296000" y="2250000"/>
            <a:ext cx="2400000" cy="700000"/>
          </a:xfrm>
          <a:prstGeom prst="rect">
            <a:avLst/>
          </a:prstGeom>
          <a:noFill/>
        </p:spPr>
        <p:txBody>
          <a:bodyPr wrap="square">
            <a:spAutoFit/>
          </a:bodyPr>
          <a:lstStyle/>
          <a:p>
            <a:pPr algn="ctr">
              <a:spcAft>
                <a:spcPts val="400"/>
              </a:spcAft>
            </a:pPr>
            <a:r>
              <a:rPr sz="1467" b="0">
                <a:solidFill>
                  <a:srgbClr val="B8CFE8"/>
                </a:solidFill>
              </a:rPr>
              <a:t>Forecast error</a:t>
            </a:r>
          </a:p>
          <a:p>
            <a:pPr algn="ctr">
              <a:spcAft>
                <a:spcPts val="400"/>
              </a:spcAft>
            </a:pPr>
            <a:r>
              <a:rPr sz="1467" b="0">
                <a:solidFill>
                  <a:srgbClr val="B8CFE8"/>
                </a:solidFill>
              </a:rPr>
              <a:t>reduction (MAPE)</a:t>
            </a:r>
          </a:p>
        </p:txBody>
      </p:sp>
      <p:sp>
        <p:nvSpPr>
          <p:cNvPr id="14" name="Rounded Rectangle 13"/>
          <p:cNvSpPr/>
          <p:nvPr/>
        </p:nvSpPr>
        <p:spPr>
          <a:xfrm>
            <a:off x="89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96000" y="1600000"/>
            <a:ext cx="2600000" cy="600000"/>
          </a:xfrm>
          <a:prstGeom prst="rect">
            <a:avLst/>
          </a:prstGeom>
          <a:noFill/>
        </p:spPr>
        <p:txBody>
          <a:bodyPr wrap="square">
            <a:spAutoFit/>
          </a:bodyPr>
          <a:lstStyle/>
          <a:p>
            <a:pPr algn="ctr"/>
            <a:r>
              <a:rPr sz="4533" b="1" i="0">
                <a:solidFill>
                  <a:srgbClr val="FF8C00"/>
                </a:solidFill>
              </a:rPr>
              <a:t>85%+</a:t>
            </a:r>
          </a:p>
        </p:txBody>
      </p:sp>
      <p:sp>
        <p:nvSpPr>
          <p:cNvPr id="16" name="TextBox 15"/>
          <p:cNvSpPr txBox="1"/>
          <p:nvPr/>
        </p:nvSpPr>
        <p:spPr>
          <a:xfrm>
            <a:off x="9096000" y="2250000"/>
            <a:ext cx="2400000" cy="700000"/>
          </a:xfrm>
          <a:prstGeom prst="rect">
            <a:avLst/>
          </a:prstGeom>
          <a:noFill/>
        </p:spPr>
        <p:txBody>
          <a:bodyPr wrap="square">
            <a:spAutoFit/>
          </a:bodyPr>
          <a:lstStyle/>
          <a:p>
            <a:pPr algn="ctr">
              <a:spcAft>
                <a:spcPts val="400"/>
              </a:spcAft>
            </a:pPr>
            <a:r>
              <a:rPr sz="1467" b="0">
                <a:solidFill>
                  <a:srgbClr val="B8CFE8"/>
                </a:solidFill>
              </a:rPr>
              <a:t>On-time delivery</a:t>
            </a:r>
          </a:p>
          <a:p>
            <a:pPr algn="ctr">
              <a:spcAft>
                <a:spcPts val="400"/>
              </a:spcAft>
            </a:pPr>
            <a:r>
              <a:rPr sz="1467" b="0">
                <a:solidFill>
                  <a:srgbClr val="B8CFE8"/>
                </a:solidFill>
              </a:rPr>
              <a:t>achievement</a:t>
            </a:r>
          </a:p>
        </p:txBody>
      </p:sp>
      <p:sp>
        <p:nvSpPr>
          <p:cNvPr id="17" name="Rounded Rectangle 16"/>
          <p:cNvSpPr/>
          <p:nvPr/>
        </p:nvSpPr>
        <p:spPr>
          <a:xfrm>
            <a:off x="400000" y="3500000"/>
            <a:ext cx="114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3600000"/>
            <a:ext cx="2700000" cy="350000"/>
          </a:xfrm>
          <a:prstGeom prst="rect">
            <a:avLst/>
          </a:prstGeom>
          <a:noFill/>
        </p:spPr>
        <p:txBody>
          <a:bodyPr wrap="square">
            <a:spAutoFit/>
          </a:bodyPr>
          <a:lstStyle/>
          <a:p>
            <a:pPr algn="l"/>
            <a:r>
              <a:rPr sz="1467" b="1" i="0">
                <a:solidFill>
                  <a:srgbClr val="50E6FF"/>
                </a:solidFill>
              </a:rPr>
              <a:t>Use Case</a:t>
            </a:r>
          </a:p>
        </p:txBody>
      </p:sp>
      <p:sp>
        <p:nvSpPr>
          <p:cNvPr id="19" name="TextBox 18"/>
          <p:cNvSpPr txBox="1"/>
          <p:nvPr/>
        </p:nvSpPr>
        <p:spPr>
          <a:xfrm>
            <a:off x="3350000" y="3600000"/>
            <a:ext cx="2700000" cy="350000"/>
          </a:xfrm>
          <a:prstGeom prst="rect">
            <a:avLst/>
          </a:prstGeom>
          <a:noFill/>
        </p:spPr>
        <p:txBody>
          <a:bodyPr wrap="square">
            <a:spAutoFit/>
          </a:bodyPr>
          <a:lstStyle/>
          <a:p>
            <a:pPr algn="l"/>
            <a:r>
              <a:rPr sz="1467" b="1" i="0">
                <a:solidFill>
                  <a:srgbClr val="50E6FF"/>
                </a:solidFill>
              </a:rPr>
              <a:t>Key Metric</a:t>
            </a:r>
          </a:p>
        </p:txBody>
      </p:sp>
      <p:sp>
        <p:nvSpPr>
          <p:cNvPr id="20" name="TextBox 19"/>
          <p:cNvSpPr txBox="1"/>
          <p:nvPr/>
        </p:nvSpPr>
        <p:spPr>
          <a:xfrm>
            <a:off x="6200000" y="3600000"/>
            <a:ext cx="2700000" cy="350000"/>
          </a:xfrm>
          <a:prstGeom prst="rect">
            <a:avLst/>
          </a:prstGeom>
          <a:noFill/>
        </p:spPr>
        <p:txBody>
          <a:bodyPr wrap="square">
            <a:spAutoFit/>
          </a:bodyPr>
          <a:lstStyle/>
          <a:p>
            <a:pPr algn="l"/>
            <a:r>
              <a:rPr sz="1467" b="1" i="0">
                <a:solidFill>
                  <a:srgbClr val="50E6FF"/>
                </a:solidFill>
              </a:rPr>
              <a:t>Financial Impact</a:t>
            </a:r>
          </a:p>
        </p:txBody>
      </p:sp>
      <p:sp>
        <p:nvSpPr>
          <p:cNvPr id="21" name="TextBox 20"/>
          <p:cNvSpPr txBox="1"/>
          <p:nvPr/>
        </p:nvSpPr>
        <p:spPr>
          <a:xfrm>
            <a:off x="9050000" y="3600000"/>
            <a:ext cx="2700000" cy="350000"/>
          </a:xfrm>
          <a:prstGeom prst="rect">
            <a:avLst/>
          </a:prstGeom>
          <a:noFill/>
        </p:spPr>
        <p:txBody>
          <a:bodyPr wrap="square">
            <a:spAutoFit/>
          </a:bodyPr>
          <a:lstStyle/>
          <a:p>
            <a:pPr algn="l"/>
            <a:r>
              <a:rPr sz="1467" b="1" i="0">
                <a:solidFill>
                  <a:srgbClr val="50E6FF"/>
                </a:solidFill>
              </a:rPr>
              <a:t>Time to Value</a:t>
            </a:r>
          </a:p>
        </p:txBody>
      </p:sp>
      <p:sp>
        <p:nvSpPr>
          <p:cNvPr id="22" name="Rounded Rectangle 21"/>
          <p:cNvSpPr/>
          <p:nvPr/>
        </p:nvSpPr>
        <p:spPr>
          <a:xfrm>
            <a:off x="500000" y="3950000"/>
            <a:ext cx="111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4050000"/>
            <a:ext cx="2700000" cy="350000"/>
          </a:xfrm>
          <a:prstGeom prst="rect">
            <a:avLst/>
          </a:prstGeom>
          <a:noFill/>
        </p:spPr>
        <p:txBody>
          <a:bodyPr wrap="square">
            <a:spAutoFit/>
          </a:bodyPr>
          <a:lstStyle/>
          <a:p>
            <a:pPr algn="l"/>
            <a:r>
              <a:rPr sz="1333" b="1" i="0">
                <a:solidFill>
                  <a:srgbClr val="0078D4"/>
                </a:solidFill>
              </a:rPr>
              <a:t>Demand Forecasting</a:t>
            </a:r>
          </a:p>
        </p:txBody>
      </p:sp>
      <p:sp>
        <p:nvSpPr>
          <p:cNvPr id="24" name="TextBox 23"/>
          <p:cNvSpPr txBox="1"/>
          <p:nvPr/>
        </p:nvSpPr>
        <p:spPr>
          <a:xfrm>
            <a:off x="3350000" y="4050000"/>
            <a:ext cx="2700000" cy="350000"/>
          </a:xfrm>
          <a:prstGeom prst="rect">
            <a:avLst/>
          </a:prstGeom>
          <a:noFill/>
        </p:spPr>
        <p:txBody>
          <a:bodyPr wrap="square">
            <a:spAutoFit/>
          </a:bodyPr>
          <a:lstStyle/>
          <a:p>
            <a:pPr algn="l"/>
            <a:r>
              <a:rPr sz="1333" b="0" i="0">
                <a:solidFill>
                  <a:srgbClr val="B8CFE8"/>
                </a:solidFill>
              </a:rPr>
              <a:t>30-40% ↓ forecast error</a:t>
            </a:r>
          </a:p>
        </p:txBody>
      </p:sp>
      <p:sp>
        <p:nvSpPr>
          <p:cNvPr id="25" name="TextBox 24"/>
          <p:cNvSpPr txBox="1"/>
          <p:nvPr/>
        </p:nvSpPr>
        <p:spPr>
          <a:xfrm>
            <a:off x="6200000" y="4050000"/>
            <a:ext cx="2700000" cy="350000"/>
          </a:xfrm>
          <a:prstGeom prst="rect">
            <a:avLst/>
          </a:prstGeom>
          <a:noFill/>
        </p:spPr>
        <p:txBody>
          <a:bodyPr wrap="square">
            <a:spAutoFit/>
          </a:bodyPr>
          <a:lstStyle/>
          <a:p>
            <a:pPr algn="l"/>
            <a:r>
              <a:rPr sz="1333" b="0" i="0">
                <a:solidFill>
                  <a:srgbClr val="B8CFE8"/>
                </a:solidFill>
              </a:rPr>
              <a:t>₹2-5Cr freed/plant</a:t>
            </a:r>
          </a:p>
        </p:txBody>
      </p:sp>
      <p:sp>
        <p:nvSpPr>
          <p:cNvPr id="26" name="TextBox 25"/>
          <p:cNvSpPr txBox="1"/>
          <p:nvPr/>
        </p:nvSpPr>
        <p:spPr>
          <a:xfrm>
            <a:off x="9050000" y="4050000"/>
            <a:ext cx="2700000" cy="350000"/>
          </a:xfrm>
          <a:prstGeom prst="rect">
            <a:avLst/>
          </a:prstGeom>
          <a:noFill/>
        </p:spPr>
        <p:txBody>
          <a:bodyPr wrap="square">
            <a:spAutoFit/>
          </a:bodyPr>
          <a:lstStyle/>
          <a:p>
            <a:pPr algn="l"/>
            <a:r>
              <a:rPr sz="1333" b="0" i="0">
                <a:solidFill>
                  <a:srgbClr val="B8CFE8"/>
                </a:solidFill>
              </a:rPr>
              <a:t>8 weeks</a:t>
            </a:r>
          </a:p>
        </p:txBody>
      </p:sp>
      <p:sp>
        <p:nvSpPr>
          <p:cNvPr id="27" name="TextBox 26"/>
          <p:cNvSpPr txBox="1"/>
          <p:nvPr/>
        </p:nvSpPr>
        <p:spPr>
          <a:xfrm>
            <a:off x="500000" y="4450000"/>
            <a:ext cx="2700000" cy="350000"/>
          </a:xfrm>
          <a:prstGeom prst="rect">
            <a:avLst/>
          </a:prstGeom>
          <a:noFill/>
        </p:spPr>
        <p:txBody>
          <a:bodyPr wrap="square">
            <a:spAutoFit/>
          </a:bodyPr>
          <a:lstStyle/>
          <a:p>
            <a:pPr algn="l"/>
            <a:r>
              <a:rPr sz="1333" b="1" i="0">
                <a:solidFill>
                  <a:srgbClr val="FFB900"/>
                </a:solidFill>
              </a:rPr>
              <a:t>Inventory Optimisation</a:t>
            </a:r>
          </a:p>
        </p:txBody>
      </p:sp>
      <p:sp>
        <p:nvSpPr>
          <p:cNvPr id="28" name="TextBox 27"/>
          <p:cNvSpPr txBox="1"/>
          <p:nvPr/>
        </p:nvSpPr>
        <p:spPr>
          <a:xfrm>
            <a:off x="3350000" y="4450000"/>
            <a:ext cx="2700000" cy="350000"/>
          </a:xfrm>
          <a:prstGeom prst="rect">
            <a:avLst/>
          </a:prstGeom>
          <a:noFill/>
        </p:spPr>
        <p:txBody>
          <a:bodyPr wrap="square">
            <a:spAutoFit/>
          </a:bodyPr>
          <a:lstStyle/>
          <a:p>
            <a:pPr algn="l"/>
            <a:r>
              <a:rPr sz="1333" b="0" i="0">
                <a:solidFill>
                  <a:srgbClr val="B8CFE8"/>
                </a:solidFill>
              </a:rPr>
              <a:t>25% ↓ excess stock</a:t>
            </a:r>
          </a:p>
        </p:txBody>
      </p:sp>
      <p:sp>
        <p:nvSpPr>
          <p:cNvPr id="29" name="TextBox 28"/>
          <p:cNvSpPr txBox="1"/>
          <p:nvPr/>
        </p:nvSpPr>
        <p:spPr>
          <a:xfrm>
            <a:off x="6200000" y="4450000"/>
            <a:ext cx="2700000" cy="350000"/>
          </a:xfrm>
          <a:prstGeom prst="rect">
            <a:avLst/>
          </a:prstGeom>
          <a:noFill/>
        </p:spPr>
        <p:txBody>
          <a:bodyPr wrap="square">
            <a:spAutoFit/>
          </a:bodyPr>
          <a:lstStyle/>
          <a:p>
            <a:pPr algn="l"/>
            <a:r>
              <a:rPr sz="1333" b="0" i="0">
                <a:solidFill>
                  <a:srgbClr val="B8CFE8"/>
                </a:solidFill>
              </a:rPr>
              <a:t>₹3-8Cr saved</a:t>
            </a:r>
          </a:p>
        </p:txBody>
      </p:sp>
      <p:sp>
        <p:nvSpPr>
          <p:cNvPr id="30" name="TextBox 29"/>
          <p:cNvSpPr txBox="1"/>
          <p:nvPr/>
        </p:nvSpPr>
        <p:spPr>
          <a:xfrm>
            <a:off x="9050000" y="4450000"/>
            <a:ext cx="2700000" cy="350000"/>
          </a:xfrm>
          <a:prstGeom prst="rect">
            <a:avLst/>
          </a:prstGeom>
          <a:noFill/>
        </p:spPr>
        <p:txBody>
          <a:bodyPr wrap="square">
            <a:spAutoFit/>
          </a:bodyPr>
          <a:lstStyle/>
          <a:p>
            <a:pPr algn="l"/>
            <a:r>
              <a:rPr sz="1333" b="0" i="0">
                <a:solidFill>
                  <a:srgbClr val="B8CFE8"/>
                </a:solidFill>
              </a:rPr>
              <a:t>6 weeks</a:t>
            </a:r>
          </a:p>
        </p:txBody>
      </p:sp>
      <p:sp>
        <p:nvSpPr>
          <p:cNvPr id="31" name="TextBox 30"/>
          <p:cNvSpPr txBox="1"/>
          <p:nvPr/>
        </p:nvSpPr>
        <p:spPr>
          <a:xfrm>
            <a:off x="500000" y="4850000"/>
            <a:ext cx="2700000" cy="350000"/>
          </a:xfrm>
          <a:prstGeom prst="rect">
            <a:avLst/>
          </a:prstGeom>
          <a:noFill/>
        </p:spPr>
        <p:txBody>
          <a:bodyPr wrap="square">
            <a:spAutoFit/>
          </a:bodyPr>
          <a:lstStyle/>
          <a:p>
            <a:pPr algn="l"/>
            <a:r>
              <a:rPr sz="1333" b="1" i="0">
                <a:solidFill>
                  <a:srgbClr val="00B294"/>
                </a:solidFill>
              </a:rPr>
              <a:t>Supply Planning</a:t>
            </a:r>
          </a:p>
        </p:txBody>
      </p:sp>
      <p:sp>
        <p:nvSpPr>
          <p:cNvPr id="32" name="TextBox 31"/>
          <p:cNvSpPr txBox="1"/>
          <p:nvPr/>
        </p:nvSpPr>
        <p:spPr>
          <a:xfrm>
            <a:off x="3350000" y="4850000"/>
            <a:ext cx="2700000" cy="350000"/>
          </a:xfrm>
          <a:prstGeom prst="rect">
            <a:avLst/>
          </a:prstGeom>
          <a:noFill/>
        </p:spPr>
        <p:txBody>
          <a:bodyPr wrap="square">
            <a:spAutoFit/>
          </a:bodyPr>
          <a:lstStyle/>
          <a:p>
            <a:pPr algn="l"/>
            <a:r>
              <a:rPr sz="1333" b="0" i="0">
                <a:solidFill>
                  <a:srgbClr val="B8CFE8"/>
                </a:solidFill>
              </a:rPr>
              <a:t>40% faster S&amp;OP cycle</a:t>
            </a:r>
          </a:p>
        </p:txBody>
      </p:sp>
      <p:sp>
        <p:nvSpPr>
          <p:cNvPr id="33" name="TextBox 32"/>
          <p:cNvSpPr txBox="1"/>
          <p:nvPr/>
        </p:nvSpPr>
        <p:spPr>
          <a:xfrm>
            <a:off x="6200000" y="4850000"/>
            <a:ext cx="2700000" cy="350000"/>
          </a:xfrm>
          <a:prstGeom prst="rect">
            <a:avLst/>
          </a:prstGeom>
          <a:noFill/>
        </p:spPr>
        <p:txBody>
          <a:bodyPr wrap="square">
            <a:spAutoFit/>
          </a:bodyPr>
          <a:lstStyle/>
          <a:p>
            <a:pPr algn="l"/>
            <a:r>
              <a:rPr sz="1333" b="0" i="0">
                <a:solidFill>
                  <a:srgbClr val="B8CFE8"/>
                </a:solidFill>
              </a:rPr>
              <a:t>₹2-4Cr risk avoided</a:t>
            </a:r>
          </a:p>
        </p:txBody>
      </p:sp>
      <p:sp>
        <p:nvSpPr>
          <p:cNvPr id="34" name="TextBox 33"/>
          <p:cNvSpPr txBox="1"/>
          <p:nvPr/>
        </p:nvSpPr>
        <p:spPr>
          <a:xfrm>
            <a:off x="9050000" y="4850000"/>
            <a:ext cx="2700000" cy="350000"/>
          </a:xfrm>
          <a:prstGeom prst="rect">
            <a:avLst/>
          </a:prstGeom>
          <a:noFill/>
        </p:spPr>
        <p:txBody>
          <a:bodyPr wrap="square">
            <a:spAutoFit/>
          </a:bodyPr>
          <a:lstStyle/>
          <a:p>
            <a:pPr algn="l"/>
            <a:r>
              <a:rPr sz="1333" b="0" i="0">
                <a:solidFill>
                  <a:srgbClr val="B8CFE8"/>
                </a:solidFill>
              </a:rPr>
              <a:t>8 weeks</a:t>
            </a:r>
          </a:p>
        </p:txBody>
      </p:sp>
      <p:sp>
        <p:nvSpPr>
          <p:cNvPr id="35" name="TextBox 34"/>
          <p:cNvSpPr txBox="1"/>
          <p:nvPr/>
        </p:nvSpPr>
        <p:spPr>
          <a:xfrm>
            <a:off x="500000" y="5250000"/>
            <a:ext cx="2700000" cy="350000"/>
          </a:xfrm>
          <a:prstGeom prst="rect">
            <a:avLst/>
          </a:prstGeom>
          <a:noFill/>
        </p:spPr>
        <p:txBody>
          <a:bodyPr wrap="square">
            <a:spAutoFit/>
          </a:bodyPr>
          <a:lstStyle/>
          <a:p>
            <a:pPr algn="l"/>
            <a:r>
              <a:rPr sz="1333" b="1" i="0">
                <a:solidFill>
                  <a:srgbClr val="FF8C00"/>
                </a:solidFill>
              </a:rPr>
              <a:t>Logistics Optimisation</a:t>
            </a:r>
          </a:p>
        </p:txBody>
      </p:sp>
      <p:sp>
        <p:nvSpPr>
          <p:cNvPr id="36" name="TextBox 35"/>
          <p:cNvSpPr txBox="1"/>
          <p:nvPr/>
        </p:nvSpPr>
        <p:spPr>
          <a:xfrm>
            <a:off x="3350000" y="5250000"/>
            <a:ext cx="2700000" cy="350000"/>
          </a:xfrm>
          <a:prstGeom prst="rect">
            <a:avLst/>
          </a:prstGeom>
          <a:noFill/>
        </p:spPr>
        <p:txBody>
          <a:bodyPr wrap="square">
            <a:spAutoFit/>
          </a:bodyPr>
          <a:lstStyle/>
          <a:p>
            <a:pPr algn="l"/>
            <a:r>
              <a:rPr sz="1333" b="0" i="0">
                <a:solidFill>
                  <a:srgbClr val="B8CFE8"/>
                </a:solidFill>
              </a:rPr>
              <a:t>12% ↓ transport cost</a:t>
            </a:r>
          </a:p>
        </p:txBody>
      </p:sp>
      <p:sp>
        <p:nvSpPr>
          <p:cNvPr id="37" name="TextBox 36"/>
          <p:cNvSpPr txBox="1"/>
          <p:nvPr/>
        </p:nvSpPr>
        <p:spPr>
          <a:xfrm>
            <a:off x="6200000" y="5250000"/>
            <a:ext cx="2700000" cy="350000"/>
          </a:xfrm>
          <a:prstGeom prst="rect">
            <a:avLst/>
          </a:prstGeom>
          <a:noFill/>
        </p:spPr>
        <p:txBody>
          <a:bodyPr wrap="square">
            <a:spAutoFit/>
          </a:bodyPr>
          <a:lstStyle/>
          <a:p>
            <a:pPr algn="l"/>
            <a:r>
              <a:rPr sz="1333" b="0" i="0">
                <a:solidFill>
                  <a:srgbClr val="B8CFE8"/>
                </a:solidFill>
              </a:rPr>
              <a:t>₹5-8Cr logistics saved</a:t>
            </a:r>
          </a:p>
        </p:txBody>
      </p:sp>
      <p:sp>
        <p:nvSpPr>
          <p:cNvPr id="38" name="TextBox 37"/>
          <p:cNvSpPr txBox="1"/>
          <p:nvPr/>
        </p:nvSpPr>
        <p:spPr>
          <a:xfrm>
            <a:off x="9050000" y="5250000"/>
            <a:ext cx="2700000" cy="350000"/>
          </a:xfrm>
          <a:prstGeom prst="rect">
            <a:avLst/>
          </a:prstGeom>
          <a:noFill/>
        </p:spPr>
        <p:txBody>
          <a:bodyPr wrap="square">
            <a:spAutoFit/>
          </a:bodyPr>
          <a:lstStyle/>
          <a:p>
            <a:pPr algn="l"/>
            <a:r>
              <a:rPr sz="1333" b="0" i="0">
                <a:solidFill>
                  <a:srgbClr val="B8CFE8"/>
                </a:solidFill>
              </a:rPr>
              <a:t>10 weeks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Implementation Roadmap</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12-week phased delivery — fast time to first value</a:t>
            </a:r>
          </a:p>
        </p:txBody>
      </p:sp>
      <p:sp>
        <p:nvSpPr>
          <p:cNvPr id="5" name="Rounded Rectangle 4"/>
          <p:cNvSpPr/>
          <p:nvPr/>
        </p:nvSpPr>
        <p:spPr>
          <a:xfrm>
            <a:off x="5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6000" y="1500000"/>
            <a:ext cx="35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6000" y="1650000"/>
            <a:ext cx="3200000" cy="350000"/>
          </a:xfrm>
          <a:prstGeom prst="rect">
            <a:avLst/>
          </a:prstGeom>
          <a:noFill/>
        </p:spPr>
        <p:txBody>
          <a:bodyPr wrap="square">
            <a:spAutoFit/>
          </a:bodyPr>
          <a:lstStyle/>
          <a:p>
            <a:pPr algn="l"/>
            <a:r>
              <a:rPr sz="1467" b="1" i="0">
                <a:solidFill>
                  <a:srgbClr val="0078D4"/>
                </a:solidFill>
              </a:rPr>
              <a:t>Phase 1  |  Weeks 1–4</a:t>
            </a:r>
          </a:p>
        </p:txBody>
      </p:sp>
      <p:sp>
        <p:nvSpPr>
          <p:cNvPr id="8" name="TextBox 7"/>
          <p:cNvSpPr txBox="1"/>
          <p:nvPr/>
        </p:nvSpPr>
        <p:spPr>
          <a:xfrm>
            <a:off x="696000" y="2000000"/>
            <a:ext cx="3200000" cy="400000"/>
          </a:xfrm>
          <a:prstGeom prst="rect">
            <a:avLst/>
          </a:prstGeom>
          <a:noFill/>
        </p:spPr>
        <p:txBody>
          <a:bodyPr wrap="square">
            <a:spAutoFit/>
          </a:bodyPr>
          <a:lstStyle/>
          <a:p>
            <a:pPr algn="l"/>
            <a:r>
              <a:rPr sz="1600" b="1" i="0">
                <a:solidFill>
                  <a:srgbClr val="FFFFFF"/>
                </a:solidFill>
              </a:rPr>
              <a:t>Data Foundation</a:t>
            </a:r>
          </a:p>
        </p:txBody>
      </p:sp>
      <p:sp>
        <p:nvSpPr>
          <p:cNvPr id="9" name="TextBox 8"/>
          <p:cNvSpPr txBox="1"/>
          <p:nvPr/>
        </p:nvSpPr>
        <p:spPr>
          <a:xfrm>
            <a:off x="696000" y="2500000"/>
            <a:ext cx="3200000" cy="2800000"/>
          </a:xfrm>
          <a:prstGeom prst="rect">
            <a:avLst/>
          </a:prstGeom>
          <a:noFill/>
        </p:spPr>
        <p:txBody>
          <a:bodyPr wrap="square">
            <a:spAutoFit/>
          </a:bodyPr>
          <a:lstStyle/>
          <a:p>
            <a:pPr algn="l">
              <a:spcAft>
                <a:spcPts val="400"/>
              </a:spcAft>
            </a:pPr>
            <a:r>
              <a:rPr sz="1333" b="0">
                <a:solidFill>
                  <a:srgbClr val="B8CFE8"/>
                </a:solidFill>
              </a:rPr>
              <a:t>  SAP connector setup (ODP/BAPI)</a:t>
            </a:r>
          </a:p>
          <a:p>
            <a:pPr algn="l">
              <a:spcAft>
                <a:spcPts val="400"/>
              </a:spcAft>
            </a:pPr>
            <a:r>
              <a:rPr sz="1333" b="0">
                <a:solidFill>
                  <a:srgbClr val="B8CFE8"/>
                </a:solidFill>
              </a:rPr>
              <a:t>  Fabric Lakehouse provisioning</a:t>
            </a:r>
          </a:p>
          <a:p>
            <a:pPr algn="l">
              <a:spcAft>
                <a:spcPts val="400"/>
              </a:spcAft>
            </a:pPr>
            <a:r>
              <a:rPr sz="1333" b="0">
                <a:solidFill>
                  <a:srgbClr val="B8CFE8"/>
                </a:solidFill>
              </a:rPr>
              <a:t>  Bronze/Silver/Gold zone build</a:t>
            </a:r>
          </a:p>
          <a:p>
            <a:pPr algn="l">
              <a:spcAft>
                <a:spcPts val="400"/>
              </a:spcAft>
            </a:pPr>
            <a:r>
              <a:rPr sz="1333" b="0">
                <a:solidFill>
                  <a:srgbClr val="B8CFE8"/>
                </a:solidFill>
              </a:rPr>
              <a:t>  Data quality &amp; governance setup</a:t>
            </a:r>
          </a:p>
        </p:txBody>
      </p:sp>
      <p:sp>
        <p:nvSpPr>
          <p:cNvPr id="10" name="Chevron 9"/>
          <p:cNvSpPr/>
          <p:nvPr/>
        </p:nvSpPr>
        <p:spPr>
          <a:xfrm>
            <a:off x="4076000" y="3000000"/>
            <a:ext cx="240000" cy="50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6000" y="1500000"/>
            <a:ext cx="35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6000" y="1650000"/>
            <a:ext cx="3200000" cy="350000"/>
          </a:xfrm>
          <a:prstGeom prst="rect">
            <a:avLst/>
          </a:prstGeom>
          <a:noFill/>
        </p:spPr>
        <p:txBody>
          <a:bodyPr wrap="square">
            <a:spAutoFit/>
          </a:bodyPr>
          <a:lstStyle/>
          <a:p>
            <a:pPr algn="l"/>
            <a:r>
              <a:rPr sz="1467" b="1" i="0">
                <a:solidFill>
                  <a:srgbClr val="00B294"/>
                </a:solidFill>
              </a:rPr>
              <a:t>Phase 2  |  Weeks 5–8</a:t>
            </a:r>
          </a:p>
        </p:txBody>
      </p:sp>
      <p:sp>
        <p:nvSpPr>
          <p:cNvPr id="14" name="TextBox 13"/>
          <p:cNvSpPr txBox="1"/>
          <p:nvPr/>
        </p:nvSpPr>
        <p:spPr>
          <a:xfrm>
            <a:off x="4496000" y="2000000"/>
            <a:ext cx="3200000" cy="400000"/>
          </a:xfrm>
          <a:prstGeom prst="rect">
            <a:avLst/>
          </a:prstGeom>
          <a:noFill/>
        </p:spPr>
        <p:txBody>
          <a:bodyPr wrap="square">
            <a:spAutoFit/>
          </a:bodyPr>
          <a:lstStyle/>
          <a:p>
            <a:pPr algn="l"/>
            <a:r>
              <a:rPr sz="1600" b="1" i="0">
                <a:solidFill>
                  <a:srgbClr val="FFFFFF"/>
                </a:solidFill>
              </a:rPr>
              <a:t>AI Models &amp; Analytics</a:t>
            </a:r>
          </a:p>
        </p:txBody>
      </p:sp>
      <p:sp>
        <p:nvSpPr>
          <p:cNvPr id="15" name="TextBox 14"/>
          <p:cNvSpPr txBox="1"/>
          <p:nvPr/>
        </p:nvSpPr>
        <p:spPr>
          <a:xfrm>
            <a:off x="4496000" y="2500000"/>
            <a:ext cx="3200000" cy="2800000"/>
          </a:xfrm>
          <a:prstGeom prst="rect">
            <a:avLst/>
          </a:prstGeom>
          <a:noFill/>
        </p:spPr>
        <p:txBody>
          <a:bodyPr wrap="square">
            <a:spAutoFit/>
          </a:bodyPr>
          <a:lstStyle/>
          <a:p>
            <a:pPr algn="l">
              <a:spcAft>
                <a:spcPts val="400"/>
              </a:spcAft>
            </a:pPr>
            <a:r>
              <a:rPr sz="1333" b="0">
                <a:solidFill>
                  <a:srgbClr val="B8CFE8"/>
                </a:solidFill>
              </a:rPr>
              <a:t>  Demand forecasting model training</a:t>
            </a:r>
          </a:p>
          <a:p>
            <a:pPr algn="l">
              <a:spcAft>
                <a:spcPts val="400"/>
              </a:spcAft>
            </a:pPr>
            <a:r>
              <a:rPr sz="1333" b="0">
                <a:solidFill>
                  <a:srgbClr val="B8CFE8"/>
                </a:solidFill>
              </a:rPr>
              <a:t>  Inventory optimization engine</a:t>
            </a:r>
          </a:p>
          <a:p>
            <a:pPr algn="l">
              <a:spcAft>
                <a:spcPts val="400"/>
              </a:spcAft>
            </a:pPr>
            <a:r>
              <a:rPr sz="1333" b="0">
                <a:solidFill>
                  <a:srgbClr val="B8CFE8"/>
                </a:solidFill>
              </a:rPr>
              <a:t>  Supply planning algorithms</a:t>
            </a:r>
          </a:p>
          <a:p>
            <a:pPr algn="l">
              <a:spcAft>
                <a:spcPts val="400"/>
              </a:spcAft>
            </a:pPr>
            <a:r>
              <a:rPr sz="1333" b="0">
                <a:solidFill>
                  <a:srgbClr val="B8CFE8"/>
                </a:solidFill>
              </a:rPr>
              <a:t>  Power BI semantic models</a:t>
            </a:r>
          </a:p>
        </p:txBody>
      </p:sp>
      <p:sp>
        <p:nvSpPr>
          <p:cNvPr id="16" name="Chevron 15"/>
          <p:cNvSpPr/>
          <p:nvPr/>
        </p:nvSpPr>
        <p:spPr>
          <a:xfrm>
            <a:off x="7876000" y="3000000"/>
            <a:ext cx="240000" cy="50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46000" y="1500000"/>
            <a:ext cx="35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6000" y="1650000"/>
            <a:ext cx="3200000" cy="350000"/>
          </a:xfrm>
          <a:prstGeom prst="rect">
            <a:avLst/>
          </a:prstGeom>
          <a:noFill/>
        </p:spPr>
        <p:txBody>
          <a:bodyPr wrap="square">
            <a:spAutoFit/>
          </a:bodyPr>
          <a:lstStyle/>
          <a:p>
            <a:pPr algn="l"/>
            <a:r>
              <a:rPr sz="1467" b="1" i="0">
                <a:solidFill>
                  <a:srgbClr val="FFB900"/>
                </a:solidFill>
              </a:rPr>
              <a:t>Phase 3  |  Weeks 9–12</a:t>
            </a:r>
          </a:p>
        </p:txBody>
      </p:sp>
      <p:sp>
        <p:nvSpPr>
          <p:cNvPr id="20" name="TextBox 19"/>
          <p:cNvSpPr txBox="1"/>
          <p:nvPr/>
        </p:nvSpPr>
        <p:spPr>
          <a:xfrm>
            <a:off x="8296000" y="2000000"/>
            <a:ext cx="3200000" cy="400000"/>
          </a:xfrm>
          <a:prstGeom prst="rect">
            <a:avLst/>
          </a:prstGeom>
          <a:noFill/>
        </p:spPr>
        <p:txBody>
          <a:bodyPr wrap="square">
            <a:spAutoFit/>
          </a:bodyPr>
          <a:lstStyle/>
          <a:p>
            <a:pPr algn="l"/>
            <a:r>
              <a:rPr sz="1600" b="1" i="0">
                <a:solidFill>
                  <a:srgbClr val="FFFFFF"/>
                </a:solidFill>
              </a:rPr>
              <a:t>Agentic AI &amp; Go-Live</a:t>
            </a:r>
          </a:p>
        </p:txBody>
      </p:sp>
      <p:sp>
        <p:nvSpPr>
          <p:cNvPr id="21" name="TextBox 20"/>
          <p:cNvSpPr txBox="1"/>
          <p:nvPr/>
        </p:nvSpPr>
        <p:spPr>
          <a:xfrm>
            <a:off x="8296000" y="2500000"/>
            <a:ext cx="3200000" cy="2800000"/>
          </a:xfrm>
          <a:prstGeom prst="rect">
            <a:avLst/>
          </a:prstGeom>
          <a:noFill/>
        </p:spPr>
        <p:txBody>
          <a:bodyPr wrap="square">
            <a:spAutoFit/>
          </a:bodyPr>
          <a:lstStyle/>
          <a:p>
            <a:pPr algn="l">
              <a:spcAft>
                <a:spcPts val="400"/>
              </a:spcAft>
            </a:pPr>
            <a:r>
              <a:rPr sz="1333" b="0">
                <a:solidFill>
                  <a:srgbClr val="B8CFE8"/>
                </a:solidFill>
              </a:rPr>
              <a:t>  Copilot Studio bot deployment</a:t>
            </a:r>
          </a:p>
          <a:p>
            <a:pPr algn="l">
              <a:spcAft>
                <a:spcPts val="400"/>
              </a:spcAft>
            </a:pPr>
            <a:r>
              <a:rPr sz="1333" b="0">
                <a:solidFill>
                  <a:srgbClr val="B8CFE8"/>
                </a:solidFill>
              </a:rPr>
              <a:t>  Agent orchestration layer</a:t>
            </a:r>
          </a:p>
          <a:p>
            <a:pPr algn="l">
              <a:spcAft>
                <a:spcPts val="400"/>
              </a:spcAft>
            </a:pPr>
            <a:r>
              <a:rPr sz="1333" b="0">
                <a:solidFill>
                  <a:srgbClr val="B8CFE8"/>
                </a:solidFill>
              </a:rPr>
              <a:t>  SAP back-write integration</a:t>
            </a:r>
          </a:p>
          <a:p>
            <a:pPr algn="l">
              <a:spcAft>
                <a:spcPts val="400"/>
              </a:spcAft>
            </a:pPr>
            <a:r>
              <a:rPr sz="1333" b="0">
                <a:solidFill>
                  <a:srgbClr val="B8CFE8"/>
                </a:solidFill>
              </a:rPr>
              <a:t>  UAT, training &amp; go-live</a:t>
            </a:r>
          </a:p>
        </p:txBody>
      </p:sp>
      <p:sp>
        <p:nvSpPr>
          <p:cNvPr id="22" name="Rounded Rectangle 21"/>
          <p:cNvSpPr/>
          <p:nvPr/>
        </p:nvSpPr>
        <p:spPr>
          <a:xfrm>
            <a:off x="546000" y="5800000"/>
            <a:ext cx="111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000" y="5850000"/>
            <a:ext cx="10700000" cy="450000"/>
          </a:xfrm>
          <a:prstGeom prst="rect">
            <a:avLst/>
          </a:prstGeom>
          <a:noFill/>
        </p:spPr>
        <p:txBody>
          <a:bodyPr wrap="square">
            <a:spAutoFit/>
          </a:bodyPr>
          <a:lstStyle/>
          <a:p>
            <a:pPr algn="ctr"/>
            <a:r>
              <a:rPr sz="1333" b="0" i="0">
                <a:solidFill>
                  <a:srgbClr val="E8F4FD"/>
                </a:solidFill>
              </a:rPr>
              <a:t>First value visible in Week 6 (demand forecast MVP)  ·  Full production by Week 12  ·  Ongoing optimization post go-live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Next Steps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How we move from presentation to production</a:t>
            </a:r>
          </a:p>
        </p:txBody>
      </p:sp>
      <p:sp>
        <p:nvSpPr>
          <p:cNvPr id="5" name="Rounded Rectangle 4"/>
          <p:cNvSpPr/>
          <p:nvPr/>
        </p:nvSpPr>
        <p:spPr>
          <a:xfrm>
            <a:off x="5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6000" y="1500000"/>
            <a:ext cx="26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46000" y="1700000"/>
            <a:ext cx="500000" cy="50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6000" y="1760000"/>
            <a:ext cx="500000" cy="400000"/>
          </a:xfrm>
          <a:prstGeom prst="rect">
            <a:avLst/>
          </a:prstGeom>
          <a:noFill/>
        </p:spPr>
        <p:txBody>
          <a:bodyPr wrap="square">
            <a:spAutoFit/>
          </a:bodyPr>
          <a:lstStyle/>
          <a:p>
            <a:pPr algn="ctr"/>
            <a:r>
              <a:rPr sz="1600" b="1" i="0">
                <a:solidFill>
                  <a:srgbClr val="FFFFFF"/>
                </a:solidFill>
              </a:rPr>
              <a:t>01</a:t>
            </a:r>
          </a:p>
        </p:txBody>
      </p:sp>
      <p:sp>
        <p:nvSpPr>
          <p:cNvPr id="9" name="TextBox 8"/>
          <p:cNvSpPr txBox="1"/>
          <p:nvPr/>
        </p:nvSpPr>
        <p:spPr>
          <a:xfrm>
            <a:off x="696000" y="2300000"/>
            <a:ext cx="2400000" cy="400000"/>
          </a:xfrm>
          <a:prstGeom prst="rect">
            <a:avLst/>
          </a:prstGeom>
          <a:noFill/>
        </p:spPr>
        <p:txBody>
          <a:bodyPr wrap="square">
            <a:spAutoFit/>
          </a:bodyPr>
          <a:lstStyle/>
          <a:p>
            <a:pPr algn="ctr"/>
            <a:r>
              <a:rPr sz="1600" b="1" i="0">
                <a:solidFill>
                  <a:srgbClr val="FFFFFF"/>
                </a:solidFill>
              </a:rPr>
              <a:t>Discovery Workshop</a:t>
            </a:r>
          </a:p>
        </p:txBody>
      </p:sp>
      <p:sp>
        <p:nvSpPr>
          <p:cNvPr id="10" name="TextBox 9"/>
          <p:cNvSpPr txBox="1"/>
          <p:nvPr/>
        </p:nvSpPr>
        <p:spPr>
          <a:xfrm>
            <a:off x="696000" y="2700000"/>
            <a:ext cx="2400000" cy="300000"/>
          </a:xfrm>
          <a:prstGeom prst="rect">
            <a:avLst/>
          </a:prstGeom>
          <a:noFill/>
        </p:spPr>
        <p:txBody>
          <a:bodyPr wrap="square">
            <a:spAutoFit/>
          </a:bodyPr>
          <a:lstStyle/>
          <a:p>
            <a:pPr algn="ctr"/>
            <a:r>
              <a:rPr sz="1333" b="1" i="0">
                <a:solidFill>
                  <a:srgbClr val="0078D4"/>
                </a:solidFill>
              </a:rPr>
              <a:t>Week 1-2</a:t>
            </a:r>
          </a:p>
        </p:txBody>
      </p:sp>
      <p:sp>
        <p:nvSpPr>
          <p:cNvPr id="11" name="TextBox 10"/>
          <p:cNvSpPr txBox="1"/>
          <p:nvPr/>
        </p:nvSpPr>
        <p:spPr>
          <a:xfrm>
            <a:off x="696000" y="3100000"/>
            <a:ext cx="2400000" cy="2000000"/>
          </a:xfrm>
          <a:prstGeom prst="rect">
            <a:avLst/>
          </a:prstGeom>
          <a:noFill/>
        </p:spPr>
        <p:txBody>
          <a:bodyPr wrap="square">
            <a:spAutoFit/>
          </a:bodyPr>
          <a:lstStyle/>
          <a:p>
            <a:pPr algn="l">
              <a:spcAft>
                <a:spcPts val="400"/>
              </a:spcAft>
            </a:pPr>
            <a:r>
              <a:rPr sz="1333" b="0">
                <a:solidFill>
                  <a:srgbClr val="B8CFE8"/>
                </a:solidFill>
              </a:rPr>
              <a:t>2-day workshop to map your SAP landscape,</a:t>
            </a:r>
          </a:p>
          <a:p>
            <a:pPr algn="l">
              <a:spcAft>
                <a:spcPts val="400"/>
              </a:spcAft>
            </a:pPr>
            <a:r>
              <a:rPr sz="1333" b="0">
                <a:solidFill>
                  <a:srgbClr val="B8CFE8"/>
                </a:solidFill>
              </a:rPr>
              <a:t>prioritise use cases, and define success metrics.</a:t>
            </a:r>
          </a:p>
          <a:p>
            <a:pPr algn="l">
              <a:spcAft>
                <a:spcPts val="400"/>
              </a:spcAft>
            </a:pPr>
            <a:r>
              <a:rPr sz="1333" b="0">
                <a:solidFill>
                  <a:srgbClr val="B8CFE8"/>
                </a:solidFill>
              </a:rPr>
              <a:t>Includes stakeholder interviews &amp; data audit.</a:t>
            </a:r>
          </a:p>
        </p:txBody>
      </p:sp>
      <p:sp>
        <p:nvSpPr>
          <p:cNvPr id="12" name="Rounded Rectangle 11"/>
          <p:cNvSpPr/>
          <p:nvPr/>
        </p:nvSpPr>
        <p:spPr>
          <a:xfrm>
            <a:off x="33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6000" y="1500000"/>
            <a:ext cx="26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46000" y="1700000"/>
            <a:ext cx="500000" cy="50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000" y="1760000"/>
            <a:ext cx="500000" cy="400000"/>
          </a:xfrm>
          <a:prstGeom prst="rect">
            <a:avLst/>
          </a:prstGeom>
          <a:noFill/>
        </p:spPr>
        <p:txBody>
          <a:bodyPr wrap="square">
            <a:spAutoFit/>
          </a:bodyPr>
          <a:lstStyle/>
          <a:p>
            <a:pPr algn="ctr"/>
            <a:r>
              <a:rPr sz="1600" b="1" i="0">
                <a:solidFill>
                  <a:srgbClr val="FFFFFF"/>
                </a:solidFill>
              </a:rPr>
              <a:t>02</a:t>
            </a:r>
          </a:p>
        </p:txBody>
      </p:sp>
      <p:sp>
        <p:nvSpPr>
          <p:cNvPr id="16" name="TextBox 15"/>
          <p:cNvSpPr txBox="1"/>
          <p:nvPr/>
        </p:nvSpPr>
        <p:spPr>
          <a:xfrm>
            <a:off x="3496000" y="2300000"/>
            <a:ext cx="2400000" cy="400000"/>
          </a:xfrm>
          <a:prstGeom prst="rect">
            <a:avLst/>
          </a:prstGeom>
          <a:noFill/>
        </p:spPr>
        <p:txBody>
          <a:bodyPr wrap="square">
            <a:spAutoFit/>
          </a:bodyPr>
          <a:lstStyle/>
          <a:p>
            <a:pPr algn="ctr"/>
            <a:r>
              <a:rPr sz="1600" b="1" i="0">
                <a:solidFill>
                  <a:srgbClr val="FFFFFF"/>
                </a:solidFill>
              </a:rPr>
              <a:t>POC Scope &amp; Agreement</a:t>
            </a:r>
          </a:p>
        </p:txBody>
      </p:sp>
      <p:sp>
        <p:nvSpPr>
          <p:cNvPr id="17" name="TextBox 16"/>
          <p:cNvSpPr txBox="1"/>
          <p:nvPr/>
        </p:nvSpPr>
        <p:spPr>
          <a:xfrm>
            <a:off x="3496000" y="2700000"/>
            <a:ext cx="2400000" cy="300000"/>
          </a:xfrm>
          <a:prstGeom prst="rect">
            <a:avLst/>
          </a:prstGeom>
          <a:noFill/>
        </p:spPr>
        <p:txBody>
          <a:bodyPr wrap="square">
            <a:spAutoFit/>
          </a:bodyPr>
          <a:lstStyle/>
          <a:p>
            <a:pPr algn="ctr"/>
            <a:r>
              <a:rPr sz="1333" b="1" i="0">
                <a:solidFill>
                  <a:srgbClr val="00B294"/>
                </a:solidFill>
              </a:rPr>
              <a:t>Week 3</a:t>
            </a:r>
          </a:p>
        </p:txBody>
      </p:sp>
      <p:sp>
        <p:nvSpPr>
          <p:cNvPr id="18" name="TextBox 17"/>
          <p:cNvSpPr txBox="1"/>
          <p:nvPr/>
        </p:nvSpPr>
        <p:spPr>
          <a:xfrm>
            <a:off x="3496000" y="3100000"/>
            <a:ext cx="2400000" cy="2000000"/>
          </a:xfrm>
          <a:prstGeom prst="rect">
            <a:avLst/>
          </a:prstGeom>
          <a:noFill/>
        </p:spPr>
        <p:txBody>
          <a:bodyPr wrap="square">
            <a:spAutoFit/>
          </a:bodyPr>
          <a:lstStyle/>
          <a:p>
            <a:pPr algn="l">
              <a:spcAft>
                <a:spcPts val="400"/>
              </a:spcAft>
            </a:pPr>
            <a:r>
              <a:rPr sz="1333" b="0">
                <a:solidFill>
                  <a:srgbClr val="B8CFE8"/>
                </a:solidFill>
              </a:rPr>
              <a:t>Define POC boundaries — typically 1 use case</a:t>
            </a:r>
          </a:p>
          <a:p>
            <a:pPr algn="l">
              <a:spcAft>
                <a:spcPts val="400"/>
              </a:spcAft>
            </a:pPr>
            <a:r>
              <a:rPr sz="1333" b="0">
                <a:solidFill>
                  <a:srgbClr val="B8CFE8"/>
                </a:solidFill>
              </a:rPr>
              <a:t>(Demand Forecasting recommended as highest ROI).</a:t>
            </a:r>
          </a:p>
          <a:p>
            <a:pPr algn="l">
              <a:spcAft>
                <a:spcPts val="400"/>
              </a:spcAft>
            </a:pPr>
            <a:r>
              <a:rPr sz="1333" b="0">
                <a:solidFill>
                  <a:srgbClr val="B8CFE8"/>
                </a:solidFill>
              </a:rPr>
              <a:t>Fixed-price, 6-week delivery.</a:t>
            </a:r>
          </a:p>
        </p:txBody>
      </p:sp>
      <p:sp>
        <p:nvSpPr>
          <p:cNvPr id="19" name="Rounded Rectangle 18"/>
          <p:cNvSpPr/>
          <p:nvPr/>
        </p:nvSpPr>
        <p:spPr>
          <a:xfrm>
            <a:off x="61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96000" y="1500000"/>
            <a:ext cx="26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46000" y="1700000"/>
            <a:ext cx="500000" cy="50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46000" y="1760000"/>
            <a:ext cx="500000" cy="400000"/>
          </a:xfrm>
          <a:prstGeom prst="rect">
            <a:avLst/>
          </a:prstGeom>
          <a:noFill/>
        </p:spPr>
        <p:txBody>
          <a:bodyPr wrap="square">
            <a:spAutoFit/>
          </a:bodyPr>
          <a:lstStyle/>
          <a:p>
            <a:pPr algn="ctr"/>
            <a:r>
              <a:rPr sz="1600" b="1" i="0">
                <a:solidFill>
                  <a:srgbClr val="FFFFFF"/>
                </a:solidFill>
              </a:rPr>
              <a:t>03</a:t>
            </a:r>
          </a:p>
        </p:txBody>
      </p:sp>
      <p:sp>
        <p:nvSpPr>
          <p:cNvPr id="23" name="TextBox 22"/>
          <p:cNvSpPr txBox="1"/>
          <p:nvPr/>
        </p:nvSpPr>
        <p:spPr>
          <a:xfrm>
            <a:off x="6296000" y="2300000"/>
            <a:ext cx="2400000" cy="400000"/>
          </a:xfrm>
          <a:prstGeom prst="rect">
            <a:avLst/>
          </a:prstGeom>
          <a:noFill/>
        </p:spPr>
        <p:txBody>
          <a:bodyPr wrap="square">
            <a:spAutoFit/>
          </a:bodyPr>
          <a:lstStyle/>
          <a:p>
            <a:pPr algn="ctr"/>
            <a:r>
              <a:rPr sz="1600" b="1" i="0">
                <a:solidFill>
                  <a:srgbClr val="FFFFFF"/>
                </a:solidFill>
              </a:rPr>
              <a:t>POC Delivery</a:t>
            </a:r>
          </a:p>
        </p:txBody>
      </p:sp>
      <p:sp>
        <p:nvSpPr>
          <p:cNvPr id="24" name="TextBox 23"/>
          <p:cNvSpPr txBox="1"/>
          <p:nvPr/>
        </p:nvSpPr>
        <p:spPr>
          <a:xfrm>
            <a:off x="6296000" y="2700000"/>
            <a:ext cx="2400000" cy="300000"/>
          </a:xfrm>
          <a:prstGeom prst="rect">
            <a:avLst/>
          </a:prstGeom>
          <a:noFill/>
        </p:spPr>
        <p:txBody>
          <a:bodyPr wrap="square">
            <a:spAutoFit/>
          </a:bodyPr>
          <a:lstStyle/>
          <a:p>
            <a:pPr algn="ctr"/>
            <a:r>
              <a:rPr sz="1333" b="1" i="0">
                <a:solidFill>
                  <a:srgbClr val="FFB900"/>
                </a:solidFill>
              </a:rPr>
              <a:t>Weeks 4-9</a:t>
            </a:r>
          </a:p>
        </p:txBody>
      </p:sp>
      <p:sp>
        <p:nvSpPr>
          <p:cNvPr id="25" name="TextBox 24"/>
          <p:cNvSpPr txBox="1"/>
          <p:nvPr/>
        </p:nvSpPr>
        <p:spPr>
          <a:xfrm>
            <a:off x="6296000" y="3100000"/>
            <a:ext cx="2400000" cy="2000000"/>
          </a:xfrm>
          <a:prstGeom prst="rect">
            <a:avLst/>
          </a:prstGeom>
          <a:noFill/>
        </p:spPr>
        <p:txBody>
          <a:bodyPr wrap="square">
            <a:spAutoFit/>
          </a:bodyPr>
          <a:lstStyle/>
          <a:p>
            <a:pPr algn="l">
              <a:spcAft>
                <a:spcPts val="400"/>
              </a:spcAft>
            </a:pPr>
            <a:r>
              <a:rPr sz="1333" b="0">
                <a:solidFill>
                  <a:srgbClr val="B8CFE8"/>
                </a:solidFill>
              </a:rPr>
              <a:t>End-to-end working prototype: SAP data → Fabric</a:t>
            </a:r>
          </a:p>
          <a:p>
            <a:pPr algn="l">
              <a:spcAft>
                <a:spcPts val="400"/>
              </a:spcAft>
            </a:pPr>
            <a:r>
              <a:rPr sz="1333" b="0">
                <a:solidFill>
                  <a:srgbClr val="B8CFE8"/>
                </a:solidFill>
              </a:rPr>
              <a:t>→ AI model → Copilot bot. With live SAP data,</a:t>
            </a:r>
          </a:p>
          <a:p>
            <a:pPr algn="l">
              <a:spcAft>
                <a:spcPts val="400"/>
              </a:spcAft>
            </a:pPr>
            <a:r>
              <a:rPr sz="1333" b="0">
                <a:solidFill>
                  <a:srgbClr val="B8CFE8"/>
                </a:solidFill>
              </a:rPr>
              <a:t>not synthetic. Measurable accuracy baseline.</a:t>
            </a:r>
          </a:p>
        </p:txBody>
      </p:sp>
      <p:sp>
        <p:nvSpPr>
          <p:cNvPr id="26" name="Rounded Rectangle 25"/>
          <p:cNvSpPr/>
          <p:nvPr/>
        </p:nvSpPr>
        <p:spPr>
          <a:xfrm>
            <a:off x="89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96000" y="1500000"/>
            <a:ext cx="26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46000" y="1700000"/>
            <a:ext cx="500000" cy="50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46000" y="1760000"/>
            <a:ext cx="500000" cy="400000"/>
          </a:xfrm>
          <a:prstGeom prst="rect">
            <a:avLst/>
          </a:prstGeom>
          <a:noFill/>
        </p:spPr>
        <p:txBody>
          <a:bodyPr wrap="square">
            <a:spAutoFit/>
          </a:bodyPr>
          <a:lstStyle/>
          <a:p>
            <a:pPr algn="ctr"/>
            <a:r>
              <a:rPr sz="1600" b="1" i="0">
                <a:solidFill>
                  <a:srgbClr val="FFFFFF"/>
                </a:solidFill>
              </a:rPr>
              <a:t>04</a:t>
            </a:r>
          </a:p>
        </p:txBody>
      </p:sp>
      <p:sp>
        <p:nvSpPr>
          <p:cNvPr id="30" name="TextBox 29"/>
          <p:cNvSpPr txBox="1"/>
          <p:nvPr/>
        </p:nvSpPr>
        <p:spPr>
          <a:xfrm>
            <a:off x="9096000" y="2300000"/>
            <a:ext cx="2400000" cy="400000"/>
          </a:xfrm>
          <a:prstGeom prst="rect">
            <a:avLst/>
          </a:prstGeom>
          <a:noFill/>
        </p:spPr>
        <p:txBody>
          <a:bodyPr wrap="square">
            <a:spAutoFit/>
          </a:bodyPr>
          <a:lstStyle/>
          <a:p>
            <a:pPr algn="ctr"/>
            <a:r>
              <a:rPr sz="1600" b="1" i="0">
                <a:solidFill>
                  <a:srgbClr val="FFFFFF"/>
                </a:solidFill>
              </a:rPr>
              <a:t>Scale &amp; Productionise</a:t>
            </a:r>
          </a:p>
        </p:txBody>
      </p:sp>
      <p:sp>
        <p:nvSpPr>
          <p:cNvPr id="31" name="TextBox 30"/>
          <p:cNvSpPr txBox="1"/>
          <p:nvPr/>
        </p:nvSpPr>
        <p:spPr>
          <a:xfrm>
            <a:off x="9096000" y="2700000"/>
            <a:ext cx="2400000" cy="300000"/>
          </a:xfrm>
          <a:prstGeom prst="rect">
            <a:avLst/>
          </a:prstGeom>
          <a:noFill/>
        </p:spPr>
        <p:txBody>
          <a:bodyPr wrap="square">
            <a:spAutoFit/>
          </a:bodyPr>
          <a:lstStyle/>
          <a:p>
            <a:pPr algn="ctr"/>
            <a:r>
              <a:rPr sz="1333" b="1" i="0">
                <a:solidFill>
                  <a:srgbClr val="FF8C00"/>
                </a:solidFill>
              </a:rPr>
              <a:t>Weeks 10-16</a:t>
            </a:r>
          </a:p>
        </p:txBody>
      </p:sp>
      <p:sp>
        <p:nvSpPr>
          <p:cNvPr id="32" name="TextBox 31"/>
          <p:cNvSpPr txBox="1"/>
          <p:nvPr/>
        </p:nvSpPr>
        <p:spPr>
          <a:xfrm>
            <a:off x="9096000" y="3100000"/>
            <a:ext cx="2400000" cy="2000000"/>
          </a:xfrm>
          <a:prstGeom prst="rect">
            <a:avLst/>
          </a:prstGeom>
          <a:noFill/>
        </p:spPr>
        <p:txBody>
          <a:bodyPr wrap="square">
            <a:spAutoFit/>
          </a:bodyPr>
          <a:lstStyle/>
          <a:p>
            <a:pPr algn="l">
              <a:spcAft>
                <a:spcPts val="400"/>
              </a:spcAft>
            </a:pPr>
            <a:r>
              <a:rPr sz="1333" b="0">
                <a:solidFill>
                  <a:srgbClr val="B8CFE8"/>
                </a:solidFill>
              </a:rPr>
              <a:t>Expand to remaining use cases. Full security,</a:t>
            </a:r>
          </a:p>
          <a:p>
            <a:pPr algn="l">
              <a:spcAft>
                <a:spcPts val="400"/>
              </a:spcAft>
            </a:pPr>
            <a:r>
              <a:rPr sz="1333" b="0">
                <a:solidFill>
                  <a:srgbClr val="B8CFE8"/>
                </a:solidFill>
              </a:rPr>
              <a:t>governance, and operational readiness.</a:t>
            </a:r>
          </a:p>
          <a:p>
            <a:pPr algn="l">
              <a:spcAft>
                <a:spcPts val="400"/>
              </a:spcAft>
            </a:pPr>
            <a:r>
              <a:rPr sz="1333" b="0">
                <a:solidFill>
                  <a:srgbClr val="B8CFE8"/>
                </a:solidFill>
              </a:rPr>
              <a:t>Handover with training &amp; runbooks.</a:t>
            </a:r>
          </a:p>
        </p:txBody>
      </p:sp>
      <p:sp>
        <p:nvSpPr>
          <p:cNvPr id="33" name="Rounded Rectangle 32"/>
          <p:cNvSpPr/>
          <p:nvPr/>
        </p:nvSpPr>
        <p:spPr>
          <a:xfrm>
            <a:off x="596000" y="5700000"/>
            <a:ext cx="11000000" cy="70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96000" y="5750000"/>
            <a:ext cx="10600000" cy="300000"/>
          </a:xfrm>
          <a:prstGeom prst="rect">
            <a:avLst/>
          </a:prstGeom>
          <a:noFill/>
        </p:spPr>
        <p:txBody>
          <a:bodyPr wrap="square">
            <a:spAutoFit/>
          </a:bodyPr>
          <a:lstStyle/>
          <a:p>
            <a:pPr algn="ctr"/>
            <a:r>
              <a:rPr sz="1600" b="1" i="0">
                <a:solidFill>
                  <a:srgbClr val="FFFFFF"/>
                </a:solidFill>
              </a:rPr>
              <a:t>Ready to start?</a:t>
            </a:r>
          </a:p>
        </p:txBody>
      </p:sp>
      <p:sp>
        <p:nvSpPr>
          <p:cNvPr id="35" name="TextBox 34"/>
          <p:cNvSpPr txBox="1"/>
          <p:nvPr/>
        </p:nvSpPr>
        <p:spPr>
          <a:xfrm>
            <a:off x="796000" y="6050000"/>
            <a:ext cx="10600000" cy="300000"/>
          </a:xfrm>
          <a:prstGeom prst="rect">
            <a:avLst/>
          </a:prstGeom>
          <a:noFill/>
        </p:spPr>
        <p:txBody>
          <a:bodyPr wrap="square">
            <a:spAutoFit/>
          </a:bodyPr>
          <a:lstStyle/>
          <a:p>
            <a:pPr algn="ctr"/>
            <a:r>
              <a:rPr sz="1467" b="0" i="0">
                <a:solidFill>
                  <a:srgbClr val="E8F4FD"/>
                </a:solidFill>
              </a:rPr>
              <a:t>Contact us to schedule the Discovery Workshop  ·  [your.name@nttdata.com]  ·  [+91 XXXX XXXXXX]</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NTT DATA LIGHT ">
  <a:themeElements>
    <a:clrScheme name="Benutzerdefiniert 51">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9525">
          <a:noFill/>
        </a:ln>
      </a:spPr>
      <a:bodyPr lIns="0" tIns="0" rIns="0" bIns="0" rtlCol="0" anchor="t"/>
      <a:lstStyle>
        <a:defPPr algn="l">
          <a:lnSpc>
            <a:spcPct val="110000"/>
          </a:lnSpc>
          <a:spcBef>
            <a:spcPts val="600"/>
          </a:spcBef>
          <a:defRPr sz="18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7540CC86-4BC2-4C40-AFD1-445E1BD28808}"/>
    </a:ext>
  </a:extLst>
</a:theme>
</file>

<file path=ppt/theme/theme2.xml><?xml version="1.0" encoding="utf-8"?>
<a:theme xmlns:a="http://schemas.openxmlformats.org/drawingml/2006/main" name="NTT DATA DARK ">
  <a:themeElements>
    <a:clrScheme name="Benutzerdefiniert 52">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9525">
          <a:noFill/>
        </a:ln>
      </a:spPr>
      <a:bodyPr lIns="0" tIns="0" rIns="0" bIns="0" rtlCol="0" anchor="t"/>
      <a:lstStyle>
        <a:defPPr algn="l">
          <a:lnSpc>
            <a:spcPct val="110000"/>
          </a:lnSpc>
          <a:spcBef>
            <a:spcPts val="600"/>
          </a:spcBef>
          <a:defRPr sz="1800" dirty="0" err="1" smtClean="0">
            <a:solidFill>
              <a:schemeClr val="accent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bg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EF93F315-4778-43EC-9FED-276A3B6713C6}"/>
    </a:ext>
  </a:extLst>
</a:theme>
</file>

<file path=ppt/theme/theme3.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3">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2">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902A2517DC2E547AF9EA473E7A12163" ma:contentTypeVersion="19" ma:contentTypeDescription="Create a new document." ma:contentTypeScope="" ma:versionID="773d3e698a68b45a9fe7f709a50adfc5">
  <xsd:schema xmlns:xsd="http://www.w3.org/2001/XMLSchema" xmlns:xs="http://www.w3.org/2001/XMLSchema" xmlns:p="http://schemas.microsoft.com/office/2006/metadata/properties" xmlns:ns1="http://schemas.microsoft.com/sharepoint/v3" xmlns:ns2="479f7807-8af8-4165-88ef-8e8a9ed95c95" xmlns:ns3="90789308-1fc9-44cd-a89d-04792a429752" targetNamespace="http://schemas.microsoft.com/office/2006/metadata/properties" ma:root="true" ma:fieldsID="79d4c31de4e5677dd3f117ff4f7b39d6" ns1:_="" ns2:_="" ns3:_="">
    <xsd:import namespace="http://schemas.microsoft.com/sharepoint/v3"/>
    <xsd:import namespace="479f7807-8af8-4165-88ef-8e8a9ed95c95"/>
    <xsd:import namespace="90789308-1fc9-44cd-a89d-04792a42975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Location" minOccurs="0"/>
                <xsd:element ref="ns1:_ip_UnifiedCompliancePolicyProperties" minOccurs="0"/>
                <xsd:element ref="ns1:_ip_UnifiedCompliancePolicyUIAction" minOccurs="0"/>
                <xsd:element ref="ns2:MediaServiceBillingMetadata" minOccurs="0"/>
                <xsd:element ref="ns2:_Flow_Signoff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79f7807-8af8-4165-88ef-8e8a9ed95c9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444951b-1b3b-4f09-8d96-1e2cbb0c2961"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descrip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_Flow_SignoffStatus" ma:index="26" nillable="true" ma:displayName="Sign-off status" ma:internalName="_x0024_Resources_x003a_core_x002c_Signoff_Status">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0789308-1fc9-44cd-a89d-04792a429752"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bbffbc66-9409-43da-943c-3e5840b5f683}" ma:internalName="TaxCatchAll" ma:showField="CatchAllData" ma:web="90789308-1fc9-44cd-a89d-04792a42975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90789308-1fc9-44cd-a89d-04792a429752" xsi:nil="true"/>
    <_Flow_SignoffStatus xmlns="479f7807-8af8-4165-88ef-8e8a9ed95c95" xsi:nil="true"/>
    <_ip_UnifiedCompliancePolicyProperties xmlns="http://schemas.microsoft.com/sharepoint/v3" xsi:nil="true"/>
    <lcf76f155ced4ddcb4097134ff3c332f xmlns="479f7807-8af8-4165-88ef-8e8a9ed95c95">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E1B1063-FF0F-4A88-9BA6-032AFE4CE4CE}">
  <ds:schemaRefs>
    <ds:schemaRef ds:uri="http://schemas.microsoft.com/sharepoint/v3/contenttype/forms"/>
  </ds:schemaRefs>
</ds:datastoreItem>
</file>

<file path=customXml/itemProps2.xml><?xml version="1.0" encoding="utf-8"?>
<ds:datastoreItem xmlns:ds="http://schemas.openxmlformats.org/officeDocument/2006/customXml" ds:itemID="{DA90E7D8-C8E4-43A4-A610-92B4FA8288FD}">
  <ds:schemaRefs>
    <ds:schemaRef ds:uri="479f7807-8af8-4165-88ef-8e8a9ed95c95"/>
    <ds:schemaRef ds:uri="90789308-1fc9-44cd-a89d-04792a42975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144343E-4CC8-4AAF-8318-2DDA6BE56C2B}">
  <ds:schemaRefs>
    <ds:schemaRef ds:uri="479f7807-8af8-4165-88ef-8e8a9ed95c95"/>
    <ds:schemaRef ds:uri="90789308-1fc9-44cd-a89d-04792a42975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ec3fe26b-7d76-4b37-8465-ecc347eca3f0}" enabled="1" method="Standard" siteId="{46c4de19-0ffc-4c54-aa86-ee7274afa9d7}" removed="0"/>
</clbl:labelList>
</file>

<file path=docProps/app.xml><?xml version="1.0" encoding="utf-8"?>
<Properties xmlns="http://schemas.openxmlformats.org/officeDocument/2006/extended-properties" xmlns:vt="http://schemas.openxmlformats.org/officeDocument/2006/docPropsVTypes">
  <Template>NTT DATA Global Template-v05</Template>
  <TotalTime>5290</TotalTime>
  <Words>1460</Words>
  <Application>Microsoft Office PowerPoint</Application>
  <PresentationFormat>Widescreen</PresentationFormat>
  <Paragraphs>185</Paragraphs>
  <Slides>11</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11</vt:i4>
      </vt:variant>
    </vt:vector>
  </HeadingPairs>
  <TitlesOfParts>
    <vt:vector size="19" baseType="lpstr">
      <vt:lpstr>Aptos</vt:lpstr>
      <vt:lpstr>Arial</vt:lpstr>
      <vt:lpstr>Calibri</vt:lpstr>
      <vt:lpstr>Georgia</vt:lpstr>
      <vt:lpstr>Roboto</vt:lpstr>
      <vt:lpstr>Wingdings</vt:lpstr>
      <vt:lpstr>NTT DATA LIGHT </vt:lpstr>
      <vt:lpstr>NTT DATA DARK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Copyright NTT DATA Business Solutions AG – All Rights Reserved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 Antony</dc:creator>
  <cp:keywords/>
  <cp:lastModifiedBy>Shekhar Bhartiya</cp:lastModifiedBy>
  <cp:revision>29</cp:revision>
  <dcterms:created xsi:type="dcterms:W3CDTF">2026-02-23T12:36:25Z</dcterms:created>
  <dcterms:modified xsi:type="dcterms:W3CDTF">2026-03-09T08:47:19Z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37e5cc-ed1f-4ad6-a881-35c0f1c6f3d8_Enabled">
    <vt:lpwstr>true</vt:lpwstr>
  </property>
  <property fmtid="{D5CDD505-2E9C-101B-9397-08002B2CF9AE}" pid="3" name="MSIP_Label_4637e5cc-ed1f-4ad6-a881-35c0f1c6f3d8_SetDate">
    <vt:lpwstr>2023-10-06T08:29:05Z</vt:lpwstr>
  </property>
  <property fmtid="{D5CDD505-2E9C-101B-9397-08002B2CF9AE}" pid="4" name="MSIP_Label_4637e5cc-ed1f-4ad6-a881-35c0f1c6f3d8_Method">
    <vt:lpwstr>Standard</vt:lpwstr>
  </property>
  <property fmtid="{D5CDD505-2E9C-101B-9397-08002B2CF9AE}" pid="5" name="MSIP_Label_4637e5cc-ed1f-4ad6-a881-35c0f1c6f3d8_Name">
    <vt:lpwstr>General</vt:lpwstr>
  </property>
  <property fmtid="{D5CDD505-2E9C-101B-9397-08002B2CF9AE}" pid="6" name="MSIP_Label_4637e5cc-ed1f-4ad6-a881-35c0f1c6f3d8_SiteId">
    <vt:lpwstr>e3cf3c98-a978-465f-8254-9d541eeea73c</vt:lpwstr>
  </property>
  <property fmtid="{D5CDD505-2E9C-101B-9397-08002B2CF9AE}" pid="7" name="MSIP_Label_4637e5cc-ed1f-4ad6-a881-35c0f1c6f3d8_ActionId">
    <vt:lpwstr>0d11dad3-86e1-48a7-998b-d249292d9478</vt:lpwstr>
  </property>
  <property fmtid="{D5CDD505-2E9C-101B-9397-08002B2CF9AE}" pid="8" name="MSIP_Label_4637e5cc-ed1f-4ad6-a881-35c0f1c6f3d8_ContentBits">
    <vt:lpwstr>0</vt:lpwstr>
  </property>
  <property fmtid="{D5CDD505-2E9C-101B-9397-08002B2CF9AE}" pid="9" name="ContentTypeId">
    <vt:lpwstr>0x010100F902A2517DC2E547AF9EA473E7A12163</vt:lpwstr>
  </property>
  <property fmtid="{D5CDD505-2E9C-101B-9397-08002B2CF9AE}" pid="10" name="MediaServiceImageTags">
    <vt:lpwstr/>
  </property>
  <property fmtid="{D5CDD505-2E9C-101B-9397-08002B2CF9AE}" pid="11" name="Order">
    <vt:r8>2467500</vt:r8>
  </property>
  <property fmtid="{D5CDD505-2E9C-101B-9397-08002B2CF9AE}" pid="12" name="ComplianceAssetId">
    <vt:lpwstr/>
  </property>
  <property fmtid="{D5CDD505-2E9C-101B-9397-08002B2CF9AE}" pid="13" name="_ExtendedDescription">
    <vt:lpwstr/>
  </property>
  <property fmtid="{D5CDD505-2E9C-101B-9397-08002B2CF9AE}" pid="14" name="TriggerFlowInfo">
    <vt:lpwstr/>
  </property>
  <property fmtid="{D5CDD505-2E9C-101B-9397-08002B2CF9AE}" pid="15" name="ClassificationContentMarkingHeaderLocations">
    <vt:lpwstr>NTT DATA LIGHT :8\NTT DATA DARK :4</vt:lpwstr>
  </property>
  <property fmtid="{D5CDD505-2E9C-101B-9397-08002B2CF9AE}" pid="16" name="ClassificationContentMarkingHeaderText">
    <vt:lpwstr>RESTRICTED</vt:lpwstr>
  </property>
</Properties>
</file>