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SINGAPORE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4688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BDD7EE"/>
                </a:solidFill>
              </a:defRPr>
            </a:pPr>
            <a:r>
              <a:t>Go-To-Market Strategy &amp; LE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FAADC"/>
                </a:solidFill>
              </a:defRPr>
            </a:pPr>
            <a:r>
              <a:t>NTT DATA | SAP Practice | APAC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7548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BF8F00"/>
                </a:solidFill>
              </a:defRPr>
            </a:pPr>
            <a:r>
              <a:t>LE Definition: Company Turnover &gt; $5B 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03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FAADC"/>
                </a:solidFill>
              </a:defRPr>
            </a:pPr>
            <a:r>
              <a:t>Data Sources:</a:t>
            </a:r>
            <a:br/>
            <a:r>
              <a:t>  Ops = Aashita/NTT Operations Target List (SG Sheet)</a:t>
            </a:r>
            <a:br/>
            <a:r>
              <a:t>  SAP = SAP SEA MOVE List -LE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1264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FAADC"/>
                </a:solidFill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F4E79"/>
                </a:solidFill>
              </a:defRPr>
            </a:pPr>
            <a:r>
              <a:t>EXECUTIVE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737360" cy="12801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115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Ops Target</a:t>
            </a:r>
            <a:br/>
            <a:r>
              <a:t>Accounts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0" y="1188720"/>
            <a:ext cx="1737360" cy="1280160"/>
          </a:xfrm>
          <a:prstGeom prst="rect">
            <a:avLst/>
          </a:prstGeom>
          <a:solidFill>
            <a:srgbClr val="B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75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SAP MOVE</a:t>
            </a:r>
            <a:br/>
            <a:r>
              <a:t>List (SG)</a:t>
            </a:r>
          </a:p>
        </p:txBody>
      </p:sp>
      <p:sp>
        <p:nvSpPr>
          <p:cNvPr id="5" name="Rectangle 4"/>
          <p:cNvSpPr/>
          <p:nvPr/>
        </p:nvSpPr>
        <p:spPr>
          <a:xfrm>
            <a:off x="4297680" y="1188720"/>
            <a:ext cx="1737360" cy="1280160"/>
          </a:xfrm>
          <a:prstGeom prst="rect">
            <a:avLst/>
          </a:prstGeom>
          <a:solidFill>
            <a:srgbClr val="548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83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SAP Install</a:t>
            </a:r>
            <a:br/>
            <a:r>
              <a:t>Base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188720"/>
            <a:ext cx="1737360" cy="12801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69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Migration</a:t>
            </a:r>
            <a:br/>
            <a:r>
              <a:t>Targets</a:t>
            </a:r>
          </a:p>
        </p:txBody>
      </p:sp>
      <p:sp>
        <p:nvSpPr>
          <p:cNvPr id="7" name="Rectangle 6"/>
          <p:cNvSpPr/>
          <p:nvPr/>
        </p:nvSpPr>
        <p:spPr>
          <a:xfrm>
            <a:off x="8138160" y="1188720"/>
            <a:ext cx="1737360" cy="12801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39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Tier 1</a:t>
            </a:r>
            <a:br/>
            <a:r>
              <a:t>(Urgent)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0" y="1188720"/>
            <a:ext cx="1737360" cy="1280160"/>
          </a:xfrm>
          <a:prstGeom prst="rect">
            <a:avLst/>
          </a:prstGeom>
          <a:solidFill>
            <a:srgbClr val="7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6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Overlap</a:t>
            </a:r>
            <a:br/>
            <a:r>
              <a:t>(Ops + SAP)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3464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• All 115 Ops accounts qualify as LE (turnover &gt; $5B)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• BFSI dominates: 42 accounts (36% of Ops target list)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• Energy &amp; Utilities: 25 accounts — strong SAP migration pipeline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• 83 of 115 accounts (72%) have confirmed SAP Install Base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• 69 accounts classified as Migration Targets (60%)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• Source: Ops = Aashita/NTT team | SAP = SAP MOVE List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8346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00000"/>
                </a:solidFill>
              </a:defRPr>
            </a:pPr>
            <a:r>
              <a:t>KEY GAPS TO ADDRESS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38328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• Only 6 accounts overlap between Ops &amp; SAP lists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• 109 Ops targets NOT on SAP MOVE — missing SAP alignment?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• 69 SAP MOVE accounts NOT on Ops list — untapped potential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• Zero active AMS customers in Singapore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• 16 dormant AMS accounts — reactivation opportunity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F4E79"/>
                </a:solidFill>
              </a:defRPr>
            </a:pPr>
            <a:r>
              <a:t>MARKET LANDSCAPE — INDUSTRY BREAKDOWN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12471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20"/>
                <a:gridCol w="1874520"/>
                <a:gridCol w="1874520"/>
                <a:gridCol w="1874520"/>
                <a:gridCol w="1874520"/>
                <a:gridCol w="1874520"/>
              </a:tblGrid>
              <a:tr h="37407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Industry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Accounts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SAP Base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Migration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Tier 1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Total Rev ($B)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BFSI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$793.1B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Energy &amp; Utility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$795.7B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Wholesale Distribution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$817.7B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Energy &amp; Utilities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$38.6B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High Tech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$125.1B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Logistics &amp; Transportation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$45.3B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Professional Services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$105.0B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Public Sector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$24.1B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Retail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$167.7B</a:t>
                      </a:r>
                    </a:p>
                  </a:txBody>
                  <a:tcPr/>
                </a:tc>
              </a:tr>
              <a:tr h="3740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CPG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$35.3B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760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</a:defRPr>
            </a:pPr>
            <a:r>
              <a:t>Source: Ops (SG Sheet) | All 115 accounts LE qualified (&gt;$5B turnover)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F4E79"/>
                </a:solidFill>
              </a:defRPr>
            </a:pPr>
            <a:r>
              <a:t>TARGET ACCOUNT PRIORITIZATION — TOP 15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097280"/>
          <a:ext cx="950976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/>
                <a:gridCol w="3200400"/>
                <a:gridCol w="1645920"/>
                <a:gridCol w="914400"/>
                <a:gridCol w="1645920"/>
                <a:gridCol w="1097280"/>
                <a:gridCol w="640080"/>
              </a:tblGrid>
              <a:tr h="314325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Account Name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Industry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Urgency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Revenue ($B)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Score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ASE Singapore Pte Ltd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Electronics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Tier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Migration 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$18.4B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</a:tr>
              <a:tr h="31432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DAIKIN ASIA SERVICING PTE LTD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Electronics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Tier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Migration 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$31.3B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</a:tr>
              <a:tr h="31432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RGE Pte. Ltd.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Energy &amp; Utility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Tier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Migration 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$40.0B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</a:tr>
              <a:tr h="31432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The Monetary Authority of Singapore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BFSI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Tier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Migration 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$10.7B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</a:tr>
              <a:tr h="31432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Ministry of Manpower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Wholesale Distribution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Tier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Migration 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$433.5B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</a:tr>
              <a:tr h="31432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SINGAPORE POOLS (PRIVATE) LIMITED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Hospitality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Tier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Migration 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$12.2B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</a:tr>
              <a:tr h="31432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United Overseas Bank Limited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BFSI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Tier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Migration 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$17.6B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</a:tr>
              <a:tr h="31432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TOYOTA MOTOR ASIA (SINGAPORE) PTE. LTD.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Automotive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Tier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Migration 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$23.2B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</a:tr>
              <a:tr h="31432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MICRON SEMICONDUCTOR ASIA OPERATIONS PTE. LTD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High Tech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Tier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Migration 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$25.4B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</a:tr>
              <a:tr h="31432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KENNAMETAL DISTRIBUTION SERVICES ASIA PTE. 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Wholesale Distribution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Tier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Migration 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$43.0B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</a:tr>
              <a:tr h="31432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GLENCORE SINGAPORE PTE. LTD.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Energy &amp; Utility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Tier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Migration 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$39.1B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</a:tr>
              <a:tr h="31432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APPLIED MATERIALS SOUTH EAST ASIA PTE. LTD.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Wholesale Distribution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Tier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Migration 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$21.7B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</a:tr>
              <a:tr h="31432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MITSUBISHI CORPORATION RTM INTERNATIONAL PTE.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Wholesale Distribution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Tier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Migration 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$6.0B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</a:tr>
              <a:tr h="31432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PHILLIPS 66 INTERNATIONAL TRADING PTE. LTD.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Energy &amp; Utility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Tier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Migration 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$11.8B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</a:tr>
              <a:tr h="31432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CARGILL INTERNATIONAL TRADING PTE LTD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BFSI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Tier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Migration 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$11.6B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</a:defRPr>
            </a:pPr>
            <a:r>
              <a:t>Scoring: Tier1=3 | Tier2=2 | Tier3=1 | Migration=2 | ManagedSvc=1 | SAP Base=1 | LE Qualified(&gt;$5B)=1 | Max=8 | Source: Ops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F4E79"/>
                </a:solidFill>
              </a:defRPr>
            </a:pPr>
            <a:r>
              <a:t>AUDIT TRAIL — OPS vs SAP SOURCE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48235"/>
                </a:solidFill>
              </a:defRPr>
            </a:pPr>
            <a:r>
              <a:t>OPS ONLY (109 accounts)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</a:defRPr>
            </a:pPr>
            <a:r>
              <a:t>Source: Aashita/NTT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3657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• On Ops target list (SG Sheet)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• NOT present in SAP MOVE list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• May need SAP team validation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• Key: Wilmar, Standard Chartered,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•   Temasek, SingTel, UOB...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• Action: Validate with SAP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10972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B2D8E"/>
                </a:solidFill>
              </a:defRPr>
            </a:pPr>
            <a:r>
              <a:t>BOTH SOURCES (6)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1645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</a:defRPr>
            </a:pPr>
            <a:r>
              <a:t>Confirmed by Ops AND SAP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210312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• MAS (Monetary Authority)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• United Overseas Bank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• SingTel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• Surbana Jurong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• Senoko Energy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• Ministry of Home Affairs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• Action: Highest-confidence targets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1097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BF8F00"/>
                </a:solidFill>
              </a:defRPr>
            </a:pPr>
            <a:r>
              <a:t>SAP ONLY (69 accounts)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16459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</a:defRPr>
            </a:pPr>
            <a:r>
              <a:t>Source: SAP SEA MOVE List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2103120"/>
            <a:ext cx="3657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• On SAP MOVE list for SG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• NOT on Ops target list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• 44 are 1st MOVE, 25 are 2nd MOVE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• Industries: Healthcare, Public Sector,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•   High Tech, Industrial Machinery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• Action: Review for Ops list inclusion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943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0000"/>
                </a:solidFill>
              </a:defRPr>
            </a:pPr>
            <a:r>
              <a:t>CRITICAL: Only 3.3% overlap — significant gap between Ops and SAP targeting. Reconciliation needed.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F4E79"/>
                </a:solidFill>
              </a:defRPr>
            </a:pPr>
            <a:r>
              <a:t>SAP MOVE LIST — SINGAPORE DEEP 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F8F00"/>
                </a:solidFill>
              </a:defRPr>
            </a:pPr>
            <a:r>
              <a:t>Source: SAP SEA MOVE LIST -LE (SAP data)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4E79"/>
                </a:solidFill>
              </a:defRPr>
            </a:pPr>
            <a:r>
              <a:t>MOVE TYPE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828800"/>
          <a:ext cx="36576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/>
                <a:gridCol w="1219200"/>
                <a:gridCol w="1219200"/>
              </a:tblGrid>
              <a:tr h="3657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Count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%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1st MOVE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59%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2nd MOVE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41%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3200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4E79"/>
                </a:solidFill>
              </a:defRPr>
            </a:pPr>
            <a:r>
              <a:t>MOVE CATEGORY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3657600"/>
          <a:ext cx="3657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/>
                <a:gridCol w="1219200"/>
                <a:gridCol w="1219200"/>
              </a:tblGrid>
              <a:tr h="3429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Count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%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Comm.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76%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Tech.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21%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Inactive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3%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0" y="1371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4E79"/>
                </a:solidFill>
              </a:defRPr>
            </a:pPr>
            <a:r>
              <a:t>TOP INDUSTRIES (SAP MOVE)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0" y="1828800"/>
          <a:ext cx="54864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3556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Industry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Accounts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Healthcare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/>
                </a:tc>
              </a:tr>
              <a:tr h="3556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Public Sector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</a:tr>
              <a:tr h="3556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Industrial Machinery and Components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</a:tr>
              <a:tr h="3556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High Tech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</a:tr>
              <a:tr h="3556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Defense and Security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</a:tr>
              <a:tr h="3556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Utilities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</a:tr>
              <a:tr h="3556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Professional Services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</a:tr>
              <a:tr h="3556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Mill Prod. &amp; Mining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F4E79"/>
                </a:solidFill>
              </a:defRPr>
            </a:pPr>
            <a:r>
              <a:t>AMS CUSTOMER LANDSCAPE — SINGAPORE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00000"/>
                </a:solidFill>
              </a:defRPr>
            </a:pPr>
            <a:r>
              <a:t>CURRENT STATE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• ZERO active AMS customers in Singapore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• 16 dormant/not-active AMS accounts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• Total historical contract value: ~$786K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• None currently have SAP CRM pipeline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• Source: AMS (Not Active SAP Cust)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4E79"/>
                </a:solidFill>
              </a:defRPr>
            </a:pPr>
            <a:r>
              <a:t>NOT-ACTIVE AMS — REACTIVATION TARGETS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4663440"/>
          <a:ext cx="10972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166254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Customer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SAP Customer Name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Contract Value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16625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Olympus Singapore Pte Ltd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OLYMPUS SINGAPORE PTE LTD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$441.3K</a:t>
                      </a:r>
                    </a:p>
                  </a:txBody>
                  <a:tcPr/>
                </a:tc>
              </a:tr>
              <a:tr h="16625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Chong Lee Leong Seng Co Ltd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CHONG LEE LEONG SENG CO 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$72.3K</a:t>
                      </a:r>
                    </a:p>
                  </a:txBody>
                  <a:tcPr/>
                </a:tc>
              </a:tr>
              <a:tr h="16625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Mitsubishi Heavy Industries Engine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MITSUBISHI HEAVY INDUSTRI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$65.9K</a:t>
                      </a:r>
                    </a:p>
                  </a:txBody>
                  <a:tcPr/>
                </a:tc>
              </a:tr>
              <a:tr h="16625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Enterprise Singapore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ENTERPRISE SINGAPORE BOAR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$47.3K</a:t>
                      </a:r>
                    </a:p>
                  </a:txBody>
                  <a:tcPr/>
                </a:tc>
              </a:tr>
              <a:tr h="16625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Sysmex Asia Pacific Pte Ltd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SYSMEX ASIA PACIFIC PTE 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$40.6K</a:t>
                      </a:r>
                    </a:p>
                  </a:txBody>
                  <a:tcPr/>
                </a:tc>
              </a:tr>
              <a:tr h="16625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AMOS Group Limited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AMOS GROUP LIMITED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$21.2K</a:t>
                      </a:r>
                    </a:p>
                  </a:txBody>
                  <a:tcPr/>
                </a:tc>
              </a:tr>
              <a:tr h="16625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Ngo Chew Hong Edible Oil Pte Ltd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NGO CHEW HONG EDIBLE OIL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$17.0K</a:t>
                      </a:r>
                    </a:p>
                  </a:txBody>
                  <a:tcPr/>
                </a:tc>
              </a:tr>
              <a:tr h="16625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The Monetary Authority of Singapore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MONETARY AUTHORITY OF SIN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$17.0K</a:t>
                      </a:r>
                    </a:p>
                  </a:txBody>
                  <a:tcPr/>
                </a:tc>
              </a:tr>
              <a:tr h="16625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Yum! Asia Franchise Pte Ltd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YUM! ASIA FRANCHISE PTE 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$17.0K</a:t>
                      </a:r>
                    </a:p>
                  </a:txBody>
                  <a:tcPr/>
                </a:tc>
              </a:tr>
              <a:tr h="1662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City Energy Pte. Ltd.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CITY ENERGY PTE. LTD. (AS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$16.4K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GTM RECOMMENDATIONS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BF8F00"/>
                </a:solidFill>
              </a:defRPr>
            </a:pPr>
            <a:r>
              <a:t>IMMEDIATE (0-30 days)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Reconcile Ops target list with SAP MOVE list — 6 overlapping accounts are priority #1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Review 69 SAP-only accounts for inclusion in Ops pipeline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Validate 109 Ops-only accounts with SAP team for MOVE eligibility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Initiate outreach to top 6 overlap accounts (MAS, UOB, SingTel, etc.)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9067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BF8F00"/>
                </a:solidFill>
              </a:defRPr>
            </a:pPr>
            <a:r>
              <a:t>SHORT-TERM (30-90 days)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47872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Develop BFSI-specific value proposition (42 accounts = 36% of market)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Create Energy &amp; Utilities migration playbook (25 accounts)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Reactivation campaign for 16 dormant AMS accounts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Engage SAP AEs (Evelyn Lee, Sharon Tee) on aligned MOVE accounts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992624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BF8F00"/>
                </a:solidFill>
              </a:defRPr>
            </a:pPr>
            <a:r>
              <a:t>MEDIUM-TERM (90-180 days)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449824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Build pipeline across Tier 1 migration targets (39 accounts)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Develop managed services proposals for 14 identified opportunities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Convert AMS dormant accounts to active contracts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• Quarterly Ops-SAP alignment review to reduce list gap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F4E79"/>
                </a:solidFill>
              </a:defRPr>
            </a:pPr>
            <a:r>
              <a:t>NTT URGENCY TIER BREAKDOWN (Source: Ops)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00000"/>
                </a:solidFill>
              </a:defRPr>
            </a:pPr>
            <a:r>
              <a:t>Tier 1 — 39 accounts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3474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• Ministry of Manpower ($433.5B)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• Lazada South East Asia Pte Ltd ($130.3B)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• KENNAMETAL DISTRIBUTION SERVIC ($43.0B)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• RGE Pte. Ltd. ($40.0B)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• GLENCORE SINGAPORE PTE. LTD. ($39.1B)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• Mitsubishi Heavy Industries En ($33.0B)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• DAIKIN ASIA SERVICING PTE LTD ($31.3B)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9144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BF8F00"/>
                </a:solidFill>
              </a:defRPr>
            </a:pPr>
            <a:r>
              <a:t>Tier 2 — 18 accounts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1463040"/>
            <a:ext cx="3474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• PETROCHINA INTERNATIONAL (SING ($35.6B)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• ROADGET BUSINESS PTE. LTD. ($31.3B)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• JERA TRADING INTERNATIONAL PTE ($30.9B)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• MSIG Asia Pte Ltd ($30.9B)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• SINOCHEM INTERNATIONAL OIL (SI ($28.5B)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• SK ENERGY INTERNATIONAL PTE. L ($28.5B)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• FLEX LTD. ($26.7B)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9144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75B6"/>
                </a:solidFill>
              </a:defRPr>
            </a:pPr>
            <a:r>
              <a:t>Tier 3 — 26 accounts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1463040"/>
            <a:ext cx="3474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• Temasek ($125.9B)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• APPLE SOUTH ASIA PTE. LTD. ($111.5B)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• Wilmar International Limited ($68.1B)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• ADITYA BIRLA GLOBAL TRADING (S ($67.8B)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• ARAMCO TRADING SINGAPORE PTE.  ($56.3B)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• FOXCONN SINGAPORE PTE LTD ($51.8B)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• TOTALENERGIES TRADING ASIA PTE ($50.3B)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0000"/>
                </a:solidFill>
              </a:defRPr>
            </a:pPr>
            <a:r>
              <a:t>32 accounts have no urgency classification — recommend urgent triage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