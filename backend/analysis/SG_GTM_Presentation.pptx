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SINGAPORE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DD7EE"/>
                </a:solidFill>
              </a:defRPr>
            </a:pPr>
            <a:r>
              <a:t>Go-To-Market Strategy &amp; LE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FAADC"/>
                </a:solidFill>
              </a:defRPr>
            </a:pPr>
            <a:r>
              <a:t>NTT DATA | SAP Practice | APAC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FAADC"/>
                </a:solidFill>
              </a:defRPr>
            </a:pPr>
            <a:r>
              <a:t>Sources: Aashita/Ops (SG Target List) | SAP SEA MOVE List | NTT Data 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FAADC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737360" cy="12801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115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NTT Target</a:t>
            </a:r>
            <a:br/>
            <a:r>
              <a:t>Accounts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7440" y="1188720"/>
            <a:ext cx="1737360" cy="128016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75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SAP MOVE</a:t>
            </a:r>
            <a:br/>
            <a:r>
              <a:t>List (SG)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188720"/>
            <a:ext cx="1737360" cy="128016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83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SAP Install</a:t>
            </a:r>
            <a:br/>
            <a:r>
              <a:t>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173736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69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Migration</a:t>
            </a:r>
            <a:br/>
            <a:r>
              <a:t>Targets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188720"/>
            <a:ext cx="1737360" cy="12801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39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Tier 1</a:t>
            </a:r>
            <a:br/>
            <a:r>
              <a:t>(Urgent)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1188720"/>
            <a:ext cx="1737360" cy="1280160"/>
          </a:xfrm>
          <a:prstGeom prst="rect">
            <a:avLst/>
          </a:prstGeom>
          <a:solidFill>
            <a:srgbClr val="7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Overlap</a:t>
            </a:r>
            <a:br/>
            <a:r>
              <a:t>(Both Sources)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BFSI dominates: 42 accounts (36% of NTT target list)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Energy &amp; Utilities: 25 accounts — strong SAP migration pipeline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Wholesale Distribution: 13 accounts with high revenue concentration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83 of 115 accounts (72%) have confirmed SAP Install Base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69 accounts classified as Migration Targets (60%)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Revenue range: $5B to $433B USD turnover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0000"/>
                </a:solidFill>
              </a:defRPr>
            </a:pPr>
            <a:r>
              <a:t>KEY GAPS TO ADDRESS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Only 6 accounts overlap between NTT list &amp; SAP MOVE list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109 NTT targets NOT on SAP MOVE — missing SAP alignment?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69 SAP MOVE accounts NOT on NTT list — untapped potential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Zero active AMS customers in Singapore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16 dormant AMS accounts — reactivation opportunity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MARKET LANDSCAPE — INDUSTRY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740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Industry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Accounts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SAP Base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Migration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Rev ($B)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BFSI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$793.1B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Energy &amp; Utility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$795.7B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Wholesale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$817.7B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Energy &amp; 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$38.6B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High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$125.1B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Logistics &amp; Transportation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$45.3B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Professional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$105.0B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Public Sector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$24.1B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$167.7B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CPG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$35.3B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</a:defRPr>
            </a:pPr>
            <a:r>
              <a:t>Source: SG Sheet (Aashita/Ops) | 115 total accounts across 18 industries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TARGET ACCOUNT PRIORITIZATION — TOP 15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95097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200400"/>
                <a:gridCol w="1645920"/>
                <a:gridCol w="914400"/>
                <a:gridCol w="1645920"/>
                <a:gridCol w="1097280"/>
                <a:gridCol w="640080"/>
              </a:tblGrid>
              <a:tr h="3143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Account Name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Industry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Urgency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Revenue ($B)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Ministry of Manpower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Wholesale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$433.5B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RGE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Energy &amp; Utility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$40.0B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DAIKIN ASIA SERVICING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Electronics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$31.3B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TOYOTA MOTOR ASIA (SINGAPORE)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Automotive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$23.2B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MICRON SEMICONDUCTOR ASIA OPERATIONS PTE.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High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$25.4B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KENNAMETAL DISTRIBUTION SERVICES ASIA PTE. 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Wholesale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$43.0B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APPLIED MATERIALS SOUTH EAST ASIA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Wholesale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$21.7B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GLENCORE SINGAPORE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Energy &amp; Utility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$39.1B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SINGAPORE POOLS (PRIVATE)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Hospitality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$12.2B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ADITYA BIRLA GLOBAL TRADING (SINGAPORE)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BFSI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$67.8B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The Monetary Authority of 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BFSI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$10.7B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APPLE SOUTH ASIA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Wholesale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$111.5B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Temasek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BFSI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$125.9B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TOTALENERGIES TRADING ASIA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Energy &amp; Utility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$50.3B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ASE Singapore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Electronics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Migration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$18.4B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Scoring: Tier1=3pts, Tier2=2pts, Tier3=1pt | Migration=2pts, ManagedSvc=1pt | SAP Base=1pt | Rev&gt;$50B=2pts, &gt;$20B=1pt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SOURCE GAP ANALYSIS — NTT vs SAP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48235"/>
                </a:solidFill>
              </a:defRPr>
            </a:pPr>
            <a:r>
              <a:t>NTT ONLY (109 accounts)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</a:defRPr>
            </a:pPr>
            <a:r>
              <a:t>Source: Aashita/Ops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Accounts on NTT target list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NOT present in SAP MOVE list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May need SAP alignment check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Key names: Wilmar, Standard Chartered,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  Temasek, SingTel, UOB...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Action: Validate with SAP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097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B2D8E"/>
                </a:solidFill>
              </a:defRPr>
            </a:pPr>
            <a:r>
              <a:t>BOTH SOURCES (6)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</a:defRPr>
            </a:pPr>
            <a:r>
              <a:t>Aligned targets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0312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MAS (Monetary Authority)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United Overseas Bank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SingTel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Surbana Jurong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Senoko Energy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Ministry of Home Affairs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Action: Prioritize — highest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  confidence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F00"/>
                </a:solidFill>
              </a:defRPr>
            </a:pPr>
            <a:r>
              <a:t>SAP MOVE ONLY (69)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</a:defRPr>
            </a:pPr>
            <a:r>
              <a:t>Source: SAP SEA MOVE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10312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On SAP MOVE list for SG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NOT on NTT target list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44 are 1st MOVE, 25 are 2nd MOVE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Industries: Healthcare, Public Sector,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  High Tech, Industrial Machinery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Action: Review for NTT list inclusion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0000"/>
                </a:solidFill>
              </a:defRPr>
            </a:pPr>
            <a:r>
              <a:t>CRITICAL: Low overlap (3.3%) between NTT and SAP lists suggests significant misalignment or complementary targeting strategies that need reconciliation.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SAP MOVE LIST — SINGAPORE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MOVE TYPE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1st MOVE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2nd MOVE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MOVE CATEGORY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566160"/>
          <a:ext cx="3657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429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Tech.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TOP INDUSTRIES (SAP MOVE)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64592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55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Industry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Accounts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Public Sector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Industrial Machinery and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High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Defense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Professional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Mill Prod. &amp; Mining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F8F00"/>
                </a:solidFill>
              </a:defRPr>
            </a:pPr>
            <a:r>
              <a:t>NOTE: SAP defines LE differently from NTT. All 75 SG accounts have MA &gt;= $100K.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</a:defRPr>
            </a:pPr>
            <a:r>
              <a:t>Source: SAP SEA MOVE LIST -LE sheet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AMS CUSTOMER LANDSCAPE — SINGAPORE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0000"/>
                </a:solidFill>
              </a:defRPr>
            </a:pPr>
            <a:r>
              <a:t>CURRENT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ZERO active AMS customers in Singapore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16 dormant/not-active AMS accounts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Total historical contract value: ~$786K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None currently have SAP CRM pipeline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• None flagged as compete situations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NOT-ACTIVE AMS ACCOUNTS — REACTIVATION TARGETS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6634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6625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SAP Customer Name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Contract 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Olympus Singapore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OLYMPUS SINGAPORE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$441.3K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Chong Lee Leong Seng Co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CHONG LEE LEONG SENG CO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$72.3K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Mitsubishi Heavy Industries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MITSUBISHI HEAVY INDUSTRI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$65.9K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Enterprise 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ENTERPRISE SINGAPORE BOAR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$47.3K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Sysmex Asia Pacific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SYSMEX ASIA PACIFIC PTE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$40.6K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AMOS Group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AMOS GROUP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$21.2K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Ngo Chew Hong Edible Oil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NGO CHEW HONG EDIBLE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$17.0K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The Monetary Authority of 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MONETARY AUTHORITY OF SIN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$17.0K</a:t>
                      </a:r>
                    </a:p>
                  </a:txBody>
                  <a:tcPr/>
                </a:tc>
              </a:tr>
              <a:tr h="1662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Yum! Asia Franchise Pte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YUM! ASIA FRANCHISE PTE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$17.0K</a:t>
                      </a:r>
                    </a:p>
                  </a:txBody>
                  <a:tcPr/>
                </a:tc>
              </a:tr>
              <a:tr h="1662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City Energy Pte. Ltd.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CITY ENERGY PTE. LTD. (AS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$16.4K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GTM RECOMMENDATIONS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F00"/>
                </a:solidFill>
              </a:defRPr>
            </a:pPr>
            <a:r>
              <a:t>IMMEDIATE (0-30 days)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Reconcile NTT target list with SAP MOVE list — 6 overlapping accounts are priority #1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Review 69 SAP MOVE-only accounts for inclusion in NTT pipeline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Validate 109 NTT-only accounts with SAP team for MOVE eligibility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Initiate outreach to top 6 overlap accounts (MAS, UOB, SingTel, etc.)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90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F00"/>
                </a:solidFill>
              </a:defRPr>
            </a:pPr>
            <a:r>
              <a:t>SHORT-TERM (30-90 days)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47872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Develop BFSI-specific value proposition (42 accounts = 36% of market)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Create Energy &amp; Utilities migration playbook (25 accounts)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Reactivation campaign for 16 dormant AMS accounts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Engage SAP AEs (Evelyn Lee, Sharon Tee) on aligned MOVE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9262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F00"/>
                </a:solidFill>
              </a:defRPr>
            </a:pPr>
            <a:r>
              <a:t>MEDIUM-TERM (90-180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Build pipeline across Tier 1 migration targets (39 accounts)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Develop managed services proposals for 14 identified opportunities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Convert AMS dormant accounts to active contracts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Quarterly NTT-SAP alignment review to reduce list gap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</a:defRPr>
            </a:pPr>
            <a:r>
              <a:t>NTT URGENCY TIER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0000"/>
                </a:solidFill>
              </a:defRPr>
            </a:pPr>
            <a:r>
              <a:t>Tier 1 — 39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Ministry of Manpower ($433.5B)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Lazada South East Asia Pte Ltd ($130.3B)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KENNAMETAL DISTRIBUTION SERVIC ($43.0B)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RGE Pte. Ltd. ($40.0B)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GLENCORE SINGAPORE PTE. LTD. ($39.1B)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Mitsubishi Heavy Industries En ($33.0B)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DAIKIN ASIA SERVICING PTE LTD ($31.3B)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914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8F00"/>
                </a:solidFill>
              </a:defRPr>
            </a:pPr>
            <a:r>
              <a:t>Tier 2 — 18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PETROCHINA INTERNATIONAL (SING ($35.6B)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ROADGET BUSINESS PTE. LTD. ($31.3B)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JERA TRADING INTERNATIONAL PTE ($30.9B)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MSIG Asia Pte Ltd ($30.9B)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SINOCHEM INTERNATIONAL OIL (SI ($28.5B)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SK ENERGY INTERNATIONAL PTE. L ($28.5B)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FLEX LTD. ($26.7B)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914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75B6"/>
                </a:solidFill>
              </a:defRPr>
            </a:pPr>
            <a:r>
              <a:t>Tier 3 — 26 accounts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Temasek ($125.9B)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APPLE SOUTH ASIA PTE. LTD. ($111.5B)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Wilmar International Limited ($68.1B)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ADITYA BIRLA GLOBAL TRADING (S ($67.8B)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ARAMCO TRADING SINGAPORE PTE.  ($56.3B)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FOXCONN SINGAPORE PTE LTD ($51.8B)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</a:defRPr>
            </a:pPr>
            <a:r>
              <a:t>• TOTALENERGIES TRADING ASIA PTE ($50.3B)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0000"/>
                </a:solidFill>
              </a:defRPr>
            </a:pPr>
            <a:r>
              <a:t>32 accounts have no urgency classification — recommend urgent triage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