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27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286000"/>
            <a:ext cx="1828800" cy="54864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Seatrium SAP Pegasus (OEP)</a:t>
            </a:r>
          </a:p>
          <a:p>
            <a:pPr>
              <a:defRPr sz="3600" b="1">
                <a:solidFill>
                  <a:srgbClr val="00A3E0"/>
                </a:solidFill>
              </a:defRPr>
            </a:pPr>
            <a:r>
              <a:t>Archival &amp; Migration to Seatrium Cloud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CCCCCC"/>
                </a:solidFill>
              </a:defRPr>
            </a:pPr>
            <a:r>
              <a:t>Internal Team Briefing  |  NTT DATA</a:t>
            </a:r>
          </a:p>
          <a:p>
            <a:pPr>
              <a:defRPr sz="1600">
                <a:solidFill>
                  <a:srgbClr val="999999"/>
                </a:solidFill>
              </a:defRPr>
            </a:pPr>
            <a:r>
              <a:t>March 2026  |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594360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</a:defRPr>
            </a:pPr>
            <a:r>
              <a:t>NTT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Current SAP Landscape at Seatrium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3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NTT DATA  |  Confidential  |  Seatrium SAP Pegasus Migration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029200" cy="22860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007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/>
          <a:lstStyle/>
          <a:p>
            <a:pPr algn="ctr">
              <a:spcAft>
                <a:spcPts val="600"/>
              </a:spcAft>
              <a:defRPr sz="1600" b="1">
                <a:solidFill>
                  <a:srgbClr val="00327A"/>
                </a:solidFill>
              </a:defRPr>
            </a:pPr>
            <a:r>
              <a:t>SAP RISE Environment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 Pegasus (OEP) – Since 2021, contract ends Oct 2026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 Optimus (SEP) – Since 2021, migrated to S/4HANA 2025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 High Availability setup with multiple servers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 SAP App + S/4HANA DB + GRC (Access Control Mgmt)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463040"/>
            <a:ext cx="5029200" cy="22860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007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/>
          <a:lstStyle/>
          <a:p>
            <a:pPr algn="ctr">
              <a:spcAft>
                <a:spcPts val="600"/>
              </a:spcAft>
              <a:defRPr sz="1600" b="1">
                <a:solidFill>
                  <a:srgbClr val="00327A"/>
                </a:solidFill>
              </a:defRPr>
            </a:pPr>
            <a:r>
              <a:t>OpenText Archive Center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 Shared by both OEP &amp; SEP systems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 Current size: 18TB → target 16TB by Aug 2026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 Linked to SAP for document archival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 Retention: Audit 5–7 years, SOT 10 years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14800"/>
            <a:ext cx="5029200" cy="201168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007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/>
          <a:lstStyle/>
          <a:p>
            <a:pPr algn="ctr">
              <a:spcAft>
                <a:spcPts val="600"/>
              </a:spcAft>
              <a:defRPr sz="1600" b="1">
                <a:solidFill>
                  <a:srgbClr val="00327A"/>
                </a:solidFill>
              </a:defRPr>
            </a:pPr>
            <a:r>
              <a:t>Seatrium Cloud (Target)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 Local cloud infrastructure managed by Seatrium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 Will host the migrated Pegasus (OEP) system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 Users access via Seatrium WAN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 Display access only – no transactional use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4114800"/>
            <a:ext cx="5029200" cy="2011680"/>
          </a:xfrm>
          <a:prstGeom prst="roundRect">
            <a:avLst/>
          </a:prstGeom>
          <a:solidFill>
            <a:srgbClr val="E8F4FD"/>
          </a:solidFill>
          <a:ln w="19050">
            <a:solidFill>
              <a:srgbClr val="007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/>
          <a:lstStyle/>
          <a:p>
            <a:pPr algn="ctr">
              <a:spcAft>
                <a:spcPts val="600"/>
              </a:spcAft>
              <a:defRPr sz="1600" b="1">
                <a:solidFill>
                  <a:srgbClr val="00327A"/>
                </a:solidFill>
              </a:defRPr>
            </a:pPr>
            <a:r>
              <a:t>Key Dates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 SAP RISE contract: 2018 – Oct 2026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 Pegasus migration deadline: 30 Oct 2026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 Archive reduction target: 30 Aug 2026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 Current engagement started: 8 Aug 2024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What Is the Customer Asking For?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3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NTT DATA  |  Confidential  |  Seatrium SAP Pegasus Migration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327A"/>
                </a:solidFill>
              </a:defRPr>
            </a:pPr>
            <a:r>
              <a:t>1.  Copy Pegasus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6420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</a:defRPr>
            </a:pPr>
            <a:r>
              <a:t>All OEP data and attachments to be copied from SAP RISE to Seatrium Cloud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3911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327A"/>
                </a:solidFill>
              </a:defRPr>
            </a:pPr>
            <a:r>
              <a:t>2.  New SAP Server 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317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</a:defRPr>
            </a:pPr>
            <a:r>
              <a:t>New server in Seatrium Cloud with latest Windows version &amp; service pack</a:t>
            </a:r>
            <a:br/>
            <a:r>
              <a:t>     hosting SAP Application, S/4HANA Database, and GRC module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0662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327A"/>
                </a:solidFill>
              </a:defRPr>
            </a:pPr>
            <a:r>
              <a:t>3.  Display-Only Access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9923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</a:defRPr>
            </a:pPr>
            <a:r>
              <a:t>Users access via Seatrium WAN with display access only – no transactional processing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7413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327A"/>
                </a:solidFill>
              </a:defRPr>
            </a:pPr>
            <a:r>
              <a:t>4.  GRC Access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666744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</a:defRPr>
            </a:pPr>
            <a:r>
              <a:t>GRC module to enable users to raise requests for display access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04164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327A"/>
                </a:solidFill>
              </a:defRPr>
            </a:pPr>
            <a:r>
              <a:t>5.  Auto User Termination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334256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</a:defRPr>
            </a:pPr>
            <a:r>
              <a:t>Automatic termination of SAP user IDs based on Active Directory &amp; Workday</a:t>
            </a:r>
            <a:br/>
            <a:r>
              <a:t>     using existing batch job processing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7091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327A"/>
                </a:solidFill>
              </a:defRPr>
            </a:pPr>
            <a:r>
              <a:t>6.  Archival Best Practices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00176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</a:defRPr>
            </a:pPr>
            <a:r>
              <a:t>NTT DATA to propose best practice approach for data archival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37667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327A"/>
                </a:solidFill>
              </a:defRPr>
            </a:pPr>
            <a:r>
              <a:t>7.  OpenText Cleanup Support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6692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</a:defRPr>
            </a:pPr>
            <a:r>
              <a:t>Support OpenText consultants in deleting SEP and OEP attachments</a:t>
            </a:r>
            <a:br/>
            <a:r>
              <a:t>     in both Seatrium Cloud and SAP RISE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Migration Approach – Option 1 (Proposed)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3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NTT DATA  |  Confidential  |  Seatrium SAP Pegasus Migration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029200" cy="256032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007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/>
          <a:lstStyle/>
          <a:p>
            <a:pPr algn="ctr">
              <a:spcAft>
                <a:spcPts val="600"/>
              </a:spcAft>
              <a:defRPr sz="1600" b="1">
                <a:solidFill>
                  <a:srgbClr val="00327A"/>
                </a:solidFill>
              </a:defRPr>
            </a:pPr>
            <a:r>
              <a:t>FROM: SAP RISE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 Pegasus (OEP) system – multiple HA servers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 SAP Application Server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 S/4HANA Database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 GRC (Access Control Management)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 OpenText Archive Center (shared OEP/SEP)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 Contract period: 2018 – Oct 2026</a:t>
            </a:r>
          </a:p>
        </p:txBody>
      </p:sp>
      <p:sp>
        <p:nvSpPr>
          <p:cNvPr id="5" name="Right Arrow 4"/>
          <p:cNvSpPr/>
          <p:nvPr/>
        </p:nvSpPr>
        <p:spPr>
          <a:xfrm>
            <a:off x="5943600" y="2377440"/>
            <a:ext cx="640080" cy="457200"/>
          </a:xfrm>
          <a:prstGeom prst="rightArrow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0" y="1463040"/>
            <a:ext cx="4572000" cy="2560320"/>
          </a:xfrm>
          <a:prstGeom prst="roundRect">
            <a:avLst/>
          </a:prstGeom>
          <a:solidFill>
            <a:srgbClr val="E8F4FD"/>
          </a:solidFill>
          <a:ln w="19050">
            <a:solidFill>
              <a:srgbClr val="007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/>
          <a:lstStyle/>
          <a:p>
            <a:pPr algn="ctr">
              <a:spcAft>
                <a:spcPts val="600"/>
              </a:spcAft>
              <a:defRPr sz="1600" b="1">
                <a:solidFill>
                  <a:srgbClr val="00327A"/>
                </a:solidFill>
              </a:defRPr>
            </a:pPr>
            <a:r>
              <a:t>TO: Seatrium Cloud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 Single server setup (App + DB + GRC)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 Latest Windows version &amp; service pack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 Local copy of OEP attachments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 Display-only access via Seatrium WAN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 Auto user ID termination (AD + Workday)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 Cutover target: 30 Oct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389120"/>
            <a:ext cx="10698480" cy="164592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007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/>
          <a:lstStyle/>
          <a:p>
            <a:pPr algn="ctr">
              <a:spcAft>
                <a:spcPts val="600"/>
              </a:spcAft>
              <a:defRPr sz="1600" b="1">
                <a:solidFill>
                  <a:srgbClr val="00327A"/>
                </a:solidFill>
              </a:defRPr>
            </a:pPr>
            <a:r>
              <a:t>Archive Center Handling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 Archive Center is shared between OEP (Pegasus) and SEP (Optimus) – careful separation needed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 Data reduction from 18TB to 16TB targeted by 30 Aug 2026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 NTT DATA to support OpenText consultants in deletion of SEP and OEP attachments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 Retention policies: Audit records 5–7 years, SOT records 10 years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Key Considerations &amp; Risks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3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NTT DATA  |  Confidential  |  Seatrium SAP Pegasus Migration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029200" cy="22860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007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/>
          <a:lstStyle/>
          <a:p>
            <a:pPr algn="ctr">
              <a:spcAft>
                <a:spcPts val="600"/>
              </a:spcAft>
              <a:defRPr sz="1600" b="1">
                <a:solidFill>
                  <a:srgbClr val="00327A"/>
                </a:solidFill>
              </a:defRPr>
            </a:pPr>
            <a:r>
              <a:t>Technical Considerations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 SAP RISE → on-prem migration (non-standard path)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 S/4HANA DB export/import or system copy approach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 GRC module configuration &amp; role migration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 OpenText Archive Center data separation (OEP vs SEP)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 Network connectivity: Seatrium WAN for user access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463040"/>
            <a:ext cx="5029200" cy="22860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007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/>
          <a:lstStyle/>
          <a:p>
            <a:pPr algn="ctr">
              <a:spcAft>
                <a:spcPts val="600"/>
              </a:spcAft>
              <a:defRPr sz="1600" b="1">
                <a:solidFill>
                  <a:srgbClr val="00327A"/>
                </a:solidFill>
              </a:defRPr>
            </a:pPr>
            <a:r>
              <a:t>Data &amp; Compliance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 18TB archive → 16TB reduction before migration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 Audit retention: 5–7 years required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 SOT retention: 10 years required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 Display-only access – no data modification post-migration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 User ID lifecycle tied to AD &amp; Workday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14800"/>
            <a:ext cx="5029200" cy="201168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007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/>
          <a:lstStyle/>
          <a:p>
            <a:pPr algn="ctr">
              <a:spcAft>
                <a:spcPts val="600"/>
              </a:spcAft>
              <a:defRPr sz="1600" b="1">
                <a:solidFill>
                  <a:srgbClr val="00327A"/>
                </a:solidFill>
              </a:defRPr>
            </a:pPr>
            <a:r>
              <a:t>Timeline Risks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 SAP RISE contract ends Oct 2026 – hard deadline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 Archive reduction must complete by Aug 2026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 OpenText consultant coordination dependency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 Server provisioning &amp; OS patching lead times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4114800"/>
            <a:ext cx="5029200" cy="201168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007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/>
          <a:lstStyle/>
          <a:p>
            <a:pPr algn="ctr">
              <a:spcAft>
                <a:spcPts val="600"/>
              </a:spcAft>
              <a:defRPr sz="1600" b="1">
                <a:solidFill>
                  <a:srgbClr val="00327A"/>
                </a:solidFill>
              </a:defRPr>
            </a:pPr>
            <a:r>
              <a:t>Scope Clarity Needed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 Single server vs HA – reduced from multi-server in RISE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 Exact scope of GRC module functionality to retain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 OpenText integration architecture in Seatrium Cloud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 Batch job migration for user ID auto-termination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NTT DATA – Scope of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3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NTT DATA  |  Confidential  |  Seatrium SAP Pegasus Migration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508760"/>
            <a:ext cx="411480" cy="411480"/>
          </a:xfrm>
          <a:prstGeom prst="ellipse">
            <a:avLst/>
          </a:prstGeom>
          <a:solidFill>
            <a:srgbClr val="003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463040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327A"/>
                </a:solidFill>
              </a:defRPr>
            </a:pPr>
            <a:r>
              <a:t>SAP System Migration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Export Pegasus from SAP RISE, provision new server in Seatrium Cloud,</a:t>
            </a:r>
            <a:br/>
            <a:r>
              <a:t>import SAP App + S/4HANA DB + GRC, validate display-only access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697480"/>
            <a:ext cx="411480" cy="411480"/>
          </a:xfrm>
          <a:prstGeom prst="ellipse">
            <a:avLst/>
          </a:prstGeom>
          <a:solidFill>
            <a:srgbClr val="003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51760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327A"/>
                </a:solidFill>
              </a:defRPr>
            </a:pPr>
            <a:r>
              <a:t>Archive Center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Support OpenText consultants in data separation and deletion,</a:t>
            </a:r>
            <a:br/>
            <a:r>
              <a:t>ensure local copy of attachments accessible from Seatrium Cloud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3886200"/>
            <a:ext cx="411480" cy="411480"/>
          </a:xfrm>
          <a:prstGeom prst="ellipse">
            <a:avLst/>
          </a:prstGeom>
          <a:solidFill>
            <a:srgbClr val="003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840480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327A"/>
                </a:solidFill>
              </a:defRPr>
            </a:pPr>
            <a:r>
              <a:t>Access Management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Configure GRC for display-access request workflow,</a:t>
            </a:r>
            <a:br/>
            <a:r>
              <a:t>implement auto-termination of user IDs via AD/Workday batch jobs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5074920"/>
            <a:ext cx="411480" cy="411480"/>
          </a:xfrm>
          <a:prstGeom prst="ellipse">
            <a:avLst/>
          </a:prstGeom>
          <a:solidFill>
            <a:srgbClr val="003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029200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327A"/>
                </a:solidFill>
              </a:defRPr>
            </a:pPr>
            <a:r>
              <a:t>Best Practices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Propose archival best practices for SAP data retention,</a:t>
            </a:r>
            <a:br/>
            <a:r>
              <a:t>ensure compliance with audit (5–7 yr) and SOT (10 yr) requirements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3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NTT DATA  |  Confidential  |  Seatrium SAP Pegasus Migration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22860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007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/>
          <a:lstStyle/>
          <a:p>
            <a:pPr algn="ctr">
              <a:spcAft>
                <a:spcPts val="600"/>
              </a:spcAft>
              <a:defRPr sz="1600" b="1">
                <a:solidFill>
                  <a:srgbClr val="00327A"/>
                </a:solidFill>
              </a:defRPr>
            </a:pPr>
            <a:r>
              <a:t>Immediate Actions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 Confirm scope and detailed requirements with Seatrium team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 Assess current Pegasus system size (DB, application, attachments)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 Define target architecture for Seatrium Cloud (server specs, OS, network)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 Align with OpenText consultants on archive separation plan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 Establish project timeline working back from Oct 2026 deadline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023360"/>
            <a:ext cx="5029200" cy="210312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007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/>
          <a:lstStyle/>
          <a:p>
            <a:pPr algn="ctr">
              <a:spcAft>
                <a:spcPts val="600"/>
              </a:spcAft>
              <a:defRPr sz="1600" b="1">
                <a:solidFill>
                  <a:srgbClr val="00327A"/>
                </a:solidFill>
              </a:defRPr>
            </a:pPr>
            <a:r>
              <a:t>Key Milestones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 Aug 2026: Archive reduction 18TB → 16TB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 Oct 2026: SAP RISE contract end / cutover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 Post-migration: Validate display access &amp; GRC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 Ongoing: User ID auto-termination monitoring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4023360"/>
            <a:ext cx="5029200" cy="2103120"/>
          </a:xfrm>
          <a:prstGeom prst="roundRect">
            <a:avLst/>
          </a:prstGeom>
          <a:solidFill>
            <a:srgbClr val="E8F4FD"/>
          </a:solidFill>
          <a:ln w="19050">
            <a:solidFill>
              <a:srgbClr val="007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/>
          <a:lstStyle/>
          <a:p>
            <a:pPr algn="ctr">
              <a:spcAft>
                <a:spcPts val="600"/>
              </a:spcAft>
              <a:defRPr sz="1600" b="1">
                <a:solidFill>
                  <a:srgbClr val="00327A"/>
                </a:solidFill>
              </a:defRPr>
            </a:pPr>
            <a:r>
              <a:t>NTT DATA Team Actions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 Draft detailed migration plan &amp; approach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 Prepare effort estimate &amp; resource plan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 Schedule technical discovery workshop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 Identify archival best practice recommendations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